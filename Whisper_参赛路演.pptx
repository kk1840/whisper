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 10 秒：Whisper 是一个一直在听、认得出人、会替你记事，并在合适的时机把事情推到你眼前（手机、灵动岛、眼镜）的私人记忆助手。</a:t>
            </a:r>
          </a:p>
          <a:p>
            <a:r>
              <a:t>今天演示的是手机端应用 + Even G2 带屏智能眼镜的组合。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目录页，正式比赛时可删。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停顿两秒让评委想一想。</a:t>
            </a:r>
          </a:p>
          <a:p>
            <a:r>
              <a:t>人一天听到大量对话，真正有后续价值的只有几句：答应的事、约好的时间、对方透露的忌口和近况。</a:t>
            </a:r>
          </a:p>
          <a:p>
            <a:r>
              <a:t>这些内容既没人记，也没人整理。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三类痛点：答应的事忘了（待办）、对方说过的忘了（事实）、现有工具太重（需要主动操作）。</a:t>
            </a:r>
          </a:p>
          <a:p>
            <a:r>
              <a:t>重点是最后一点：所有现有方案都要求用户“主动做点什么”，而主动恰恰是最不可靠的环节。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这是产品的核心理念：被动记录（一直在听）、自动整理（AI 提炼）、场景触发（熟人再次开口时提醒）、出现在视野里（眼镜）。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一句话定义产品。三个出口：手机界面、灵动岛实况通知、Even G2 眼镜。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听得懂：Silero VAD 断句 → 流式 Zipformer 实时字幕 → Paraformer-zh 整句识别 → CT-Transformer 标点。</a:t>
            </a:r>
          </a:p>
          <a:p>
            <a:r>
              <a:t>认得出：3D-Speaker ERes2NetV2 声纹向量 + 阈值比对；陌生人自动建档、可命名、可关联合并。</a:t>
            </a:r>
          </a:p>
          <a:p>
            <a:r>
              <a:t>记得住：StepFun 大模型，输出结构化 JSON（待办：时间/地点/人物/事件；事实：近况/偏好/信息）。</a:t>
            </a:r>
          </a:p>
          <a:p>
            <a:r>
              <a:t>提醒得巧：ConversationManager 以 5 分钟为会话窗口，新会话开始时触发提醒。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用一个具体故事串起全部能力：认人 → 提炼待办/事实 → 隔天再开口时在眼镜上提醒 → 完成后自动勾掉。</a:t>
            </a:r>
          </a:p>
          <a:p>
            <a:r>
              <a:t>强调“你什么都不用做”：没有打开 App、没有按录音键、没有写备忘录。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这张图按应用里 FactsRenderer 的排版规则复刻：标题“姓名 · 待办 N · 事实 N”，分割线，待办用方框、事实用圆点，放不下的用“…还有 N 条”收尾。</a:t>
            </a:r>
          </a:p>
          <a:p>
            <a:r>
              <a:t>眼镜画面在 60 秒后自动关闭，回到眼镜自己的仪表盘。</a:t>
            </a:r>
          </a:p>
          <a:p>
            <a:r>
              <a:t>演示时可以用配对页里的“发送测试图片”先验证链路。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眼镜解决的是“提醒出现在哪里”的问题：不打断对话、私密、零操作。</a:t>
            </a:r>
          </a:p>
          <a:p>
            <a:r>
              <a:t>手机端提醒（全屏卡片 / 灵动岛）仍然保留，眼镜是叠加的出口。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主界面全屏：上 40% CardStackView 卡片堆（可拖、可甩、循环），下 60% 实时转写（按用户着色）。</a:t>
            </a:r>
          </a:p>
          <a:p>
            <a:r>
              <a:t>左上角 AI 状态标签可点击（等于“让 AI 立即识别”）；右下角「更多」底部面板：设置在上、操作在下、清空聊天放最后。</a:t>
            </a:r>
          </a:p>
          <a:p>
            <a:r>
              <a:t>首次进入会先询问是否录入机主声纹。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sherpa-onnx 1.13.8 承载全部语音模型。</a:t>
            </a:r>
          </a:p>
          <a:p>
            <a:r>
              <a:t>流式 Zipformer 只用于界面上边说边出的实时字幕；最终结果以 Paraformer 为准，再加标点、过滤。</a:t>
            </a:r>
          </a:p>
          <a:p>
            <a:r>
              <a:t>短句（&lt;1.5 s）声纹不可靠，5 秒内沿用上一位说话人。</a:t>
            </a:r>
          </a:p>
          <a:p>
            <a:r>
              <a:t>改名对话框回放录音时会屏蔽麦克风输入，避免扬声器余音被当成新句子。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机主录入：VoiceEnrollActivity 朗读固定短文，ReadingTracker 做模糊对齐（允许错字、漏字、数字/同音字差异）。</a:t>
            </a:r>
          </a:p>
          <a:p>
            <a:r>
              <a:t>识别：SpeakerEmbeddingManager 检索；阈值可在「更多 → 声纹识别阈值」里调。</a:t>
            </a:r>
          </a:p>
          <a:p>
            <a:r>
              <a:t>陌生人自动建档为“陌生人N”，编号复用最小空位；可命名、改颜色、关联（UserMerger 合并发言、事项、声纹）。</a:t>
            </a:r>
          </a:p>
          <a:p>
            <a:r>
              <a:t>自适应：匹配分数高于阈值 + 0.15 且时长 ≥ 3 s 才更新，样本权重上限 30，保证能缓慢适应。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提醒时机是产品的关键：只在“隔够时间再开口”时提醒一次，不会每句话都打扰。</a:t>
            </a:r>
          </a:p>
          <a:p>
            <a:r>
              <a:t>机主本人不触发提醒，只有非机主的熟人会。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StepFun step-5-preview（Step Plan 通道），JSON 输出，temperature 0.2。</a:t>
            </a:r>
          </a:p>
          <a:p>
            <a:r>
              <a:t>输入：熟人姓名 + 已有待办/事实（含 id）+ 带时间戳、按说话人标注的转写。</a:t>
            </a:r>
          </a:p>
          <a:p>
            <a:r>
              <a:t>输出：new_todos、new_facts、completed_todo_ids、outdated_fact_ids。</a:t>
            </a:r>
          </a:p>
          <a:p>
            <a:r>
              <a:t>模型偶尔只回空对象或单条对象，客户端会重问一次 / 自动包装。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ExtractionWorker：队列在数据库里（pending_extraction 表），线程池关闭后任务不丢。</a:t>
            </a:r>
          </a:p>
          <a:p>
            <a:r>
              <a:t>RETRY_DELAYS = 5, 10, 20, 40, 60, 120, 300 秒；4xx 最多 3 次。</a:t>
            </a:r>
          </a:p>
          <a:p>
            <a:r>
              <a:t>ScreenshotWorker 同样的退避策略。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ScreenshotWatcher 监听 /sdcard/Pictures/Screenshots（MediaStore），is_pending 阶段先提示“检测到截图”。</a:t>
            </a:r>
          </a:p>
          <a:p>
            <a:r>
              <a:t>ChatLayoutText 把 OCR 结果整理成带 [左]/[右]/[中] 标记的文本。</a:t>
            </a:r>
          </a:p>
          <a:p>
            <a:r>
              <a:t>NameMatcher 做昵称归一化与相似度（去空格、零宽字符、表情等），ChatAliasActivity 让机主指定、新建或忽略。</a:t>
            </a:r>
          </a:p>
          <a:p>
            <a:r>
              <a:t>本应用自己的截图不处理。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LiveNotifier 基于 SystemUI 实况通知（com.android.systemui.LIVE_NOTIFICATION_SERVICE）。</a:t>
            </a:r>
          </a:p>
          <a:p>
            <a:r>
              <a:t>三个通知渠道：录音状态（高优先级、不响铃）、提醒（振动）、截图进度（不响铃）。</a:t>
            </a:r>
          </a:p>
          <a:p>
            <a:r>
              <a:t>标题行只放主体（应用名 / 人名），状态和详情放第二行，避开摄像头挖孔。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onConversationStarted：界面可见 → ReminderOverlay（悬浮窗）；不可见或悬浮窗弹不出来 → 灵动岛中卡；眼镜已连接 → 额外 GlassesManager.show。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五层：感知（端侧）→ 理解（端侧）→ 提炼（云端大模型）→ 记忆（本机 Room）→ 呈现（手机 / 灵动岛 / 眼镜）。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体积按仓库 device-models 目录实际文件统计（流式模型含 encoder/decoder/joiner/tokens）。</a:t>
            </a:r>
          </a:p>
          <a:p>
            <a:r>
              <a:t>scripts/push-models.ps1 一键推送到 /system/etc/whisper/models（需要 userdebug + adb root）。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RecordingService 是前台服务（microphone | connectedDevice），START_STICKY。</a:t>
            </a:r>
          </a:p>
          <a:p>
            <a:r>
              <a:t>线程池关闭后的投递静默丢弃，不让 RejectedExecutionException 打崩进程；队列在数据库里，下次启动接着处理。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G2Connection：ble 线程跑状态机（扫描、连接、GATT 映射、重连退避、心跳），work 线程跑阻塞流程（鉴权、推图、关页）。</a:t>
            </a:r>
          </a:p>
          <a:p>
            <a:r>
              <a:t>Android 要求 GATT 写串行化，所有写经 performWrite 排队；一条多片消息整体持锁，不让心跳插进分片中间。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协议细节：单包 AA 21 seq len 01 01 svcHi svcLo payload crc；多片帧共用一个 seq，固件按 seq 重组。</a:t>
            </a:r>
          </a:p>
          <a:p>
            <a:r>
              <a:t>EvenHub（sid 0xE0，flag 0x20）只能发给右镜腿；鉴权和文本心跳发两条镜腿。</a:t>
            </a:r>
          </a:p>
          <a:p>
            <a:r>
              <a:t>magic 1..120 滚动；session id 2..250；结果码偶数成功、奇数失败。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GlassesPairingActivity：总开关、连接状态（左右镜腿分别显示）、扫描结果列表（可手动指定左右）、测试、断开、忘记。</a:t>
            </a:r>
          </a:p>
          <a:p>
            <a:r>
              <a:t>页面下方是五段完整的「配对步骤与注意事项」文案，比赛前照着做一遍。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隐私是评委一定会问的问题，主动讲。</a:t>
            </a:r>
          </a:p>
          <a:p>
            <a:r>
              <a:t>全天录音的合规：建议在落地时加入明示告知、对方知情等机制（路线图）。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差异化的核心不是“能录音转写”，而是：认得出是谁 + 在该提醒的时候提醒 + 提醒出现在眼前。</a:t>
            </a:r>
          </a:p>
          <a:p>
            <a:r>
              <a:t>对比表是概括性的，正式比赛前请核对各类产品的最新能力，避免被评委挑战。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四类人群：高频见人的职业（销售、医生、教师）、需要认知辅助的长辈、以及泛用户。</a:t>
            </a:r>
          </a:p>
          <a:p>
            <a:r>
              <a:t>如比赛要求市场数据，请在此页补充来源可靠的数字。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商业化为设想，若比赛不要求可删除。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“已完成”对应仓库中已实现的功能；“下一步”是基于现有代码可自然延伸的方向（EvenHub 事件解析已经写好，眼镜交互只差接 UI 逻辑）。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眼镜触发的两种方式：真实触发（熟人隔 5 分钟再开口）或配对页“发送测试图片”。</a:t>
            </a:r>
          </a:p>
          <a:p>
            <a:r>
              <a:t>现场嘈杂时可以把手机靠近说话人；声纹阈值默认 0.50。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主动把风险讲出来，比被评委问出来好。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可作为总结页或穿插使用。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按实际团队填写；不需要可删。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结束语。可以邀请评委现场戴上眼镜体验一次推送。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45775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000" b="0" i="0">
                <a:solidFill>
                  <a:srgbClr val="6E6E73"/>
                </a:solidFill>
                <a:latin typeface="Segoe UI"/>
                <a:ea typeface="微软雅黑"/>
              </a:rPr>
              <a:t>01</a:t>
            </a:r>
          </a:p>
        </p:txBody>
      </p:sp>
      <p:sp>
        <p:nvSpPr>
          <p:cNvPr id="3" name="Oval 2"/>
          <p:cNvSpPr/>
          <p:nvPr/>
        </p:nvSpPr>
        <p:spPr>
          <a:xfrm>
            <a:off x="5349020" y="502919"/>
            <a:ext cx="6858000" cy="4754880"/>
          </a:xfrm>
          <a:prstGeom prst="ellipse">
            <a:avLst/>
          </a:prstGeom>
          <a:gradFill rotWithShape="1">
            <a:gsLst>
              <a:gs pos="0">
                <a:srgbClr val="3D5AFE"/>
              </a:gs>
              <a:gs pos="100000">
                <a:srgbClr val="A259FF"/>
              </a:gs>
            </a:gsLst>
            <a:lin scaled="0" ang="18900000"/>
          </a:gradFill>
          <a:ln>
            <a:noFill/>
          </a:ln>
          <a:effectLst/>
          <a:effectLst>
            <a:softEdge rad="11430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349020" y="502919"/>
            <a:ext cx="6858000" cy="4754880"/>
          </a:xfrm>
          <a:prstGeom prst="ellipse">
            <a:avLst/>
          </a:prstGeom>
          <a:solidFill>
            <a:srgbClr val="3D5AFE">
              <a:alpha val="38000"/>
            </a:srgbClr>
          </a:solidFill>
          <a:ln>
            <a:noFill/>
          </a:ln>
          <a:effectLst/>
          <a:effectLst>
            <a:softEdge rad="11430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74519"/>
            <a:ext cx="10728655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600" b="0" i="0">
                <a:solidFill>
                  <a:srgbClr val="F5F5F7"/>
                </a:solidFill>
                <a:latin typeface="Segoe UI Light"/>
                <a:ea typeface="微软雅黑 Light"/>
              </a:rPr>
              <a:t>Whisper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429000"/>
            <a:ext cx="1072865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400" b="0" i="0">
                <a:solidFill>
                  <a:srgbClr val="F5F5F7"/>
                </a:solidFill>
                <a:latin typeface="Segoe UI Light"/>
                <a:ea typeface="微软雅黑 Light"/>
              </a:rPr>
              <a:t>听见每一次对话，记住每一个人。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206240"/>
            <a:ext cx="1072865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800" b="0" i="0">
                <a:solidFill>
                  <a:srgbClr val="A1A1A6"/>
                </a:solidFill>
                <a:latin typeface="Segoe UI"/>
                <a:ea typeface="微软雅黑"/>
              </a:rPr>
              <a:t>全天候对话记忆助手  ×  Even G2 智能眼镜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4892040"/>
            <a:ext cx="1463040" cy="45720"/>
          </a:xfrm>
          <a:prstGeom prst="rect">
            <a:avLst/>
          </a:prstGeom>
          <a:gradFill rotWithShape="1">
            <a:gsLst>
              <a:gs pos="0">
                <a:srgbClr val="3D5AFE"/>
              </a:gs>
              <a:gs pos="100000">
                <a:srgbClr val="A259FF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71500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0" i="0">
                <a:solidFill>
                  <a:srgbClr val="6E6E73"/>
                </a:solidFill>
                <a:latin typeface="Segoe UI"/>
                <a:ea typeface="微软雅黑"/>
              </a:rPr>
              <a:t>参赛路演  · 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98932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0" i="0">
                <a:solidFill>
                  <a:srgbClr val="6E6E73"/>
                </a:solidFill>
                <a:latin typeface="Segoe UI"/>
                <a:ea typeface="微软雅黑"/>
              </a:rPr>
              <a:t>团队名称 / 汇报人（待填）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45775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000" b="0" i="0">
                <a:solidFill>
                  <a:srgbClr val="6E6E73"/>
                </a:solidFill>
                <a:latin typeface="Segoe UI"/>
                <a:ea typeface="微软雅黑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4000" b="1" i="0">
                <a:solidFill>
                  <a:srgbClr val="F5F5F7"/>
                </a:solidFill>
                <a:latin typeface="Segoe UI Semibold"/>
                <a:ea typeface="微软雅黑"/>
              </a:rPr>
              <a:t>今天讲什么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3383280" cy="1920240"/>
          </a:xfrm>
          <a:prstGeom prst="roundRect">
            <a:avLst>
              <a:gd name="adj" fmla="val 10476"/>
            </a:avLst>
          </a:prstGeom>
          <a:solidFill>
            <a:srgbClr val="1C1C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057400"/>
            <a:ext cx="914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1" i="0">
                <a:solidFill>
                  <a:srgbClr val="3D5AFE"/>
                </a:solidFill>
                <a:latin typeface="Segoe UI Semibold"/>
                <a:ea typeface="微软雅黑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468880"/>
            <a:ext cx="2834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200" b="1" i="0">
                <a:solidFill>
                  <a:srgbClr val="F5F5F7"/>
                </a:solidFill>
                <a:latin typeface="Segoe UI Semibold"/>
                <a:ea typeface="微软雅黑"/>
              </a:rPr>
              <a:t>问题与洞察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971800"/>
            <a:ext cx="28346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0" i="0">
                <a:solidFill>
                  <a:srgbClr val="A1A1A6"/>
                </a:solidFill>
                <a:latin typeface="Segoe UI"/>
                <a:ea typeface="微软雅黑"/>
              </a:rPr>
              <a:t>为什么“记住别人”这么难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828800"/>
            <a:ext cx="3383280" cy="1920240"/>
          </a:xfrm>
          <a:prstGeom prst="roundRect">
            <a:avLst>
              <a:gd name="adj" fmla="val 10476"/>
            </a:avLst>
          </a:prstGeom>
          <a:solidFill>
            <a:srgbClr val="1C1C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3440" y="2057400"/>
            <a:ext cx="914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1" i="0">
                <a:solidFill>
                  <a:srgbClr val="3D5AFE"/>
                </a:solidFill>
                <a:latin typeface="Segoe UI Semibold"/>
                <a:ea typeface="微软雅黑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2468880"/>
            <a:ext cx="2834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200" b="1" i="0">
                <a:solidFill>
                  <a:srgbClr val="F5F5F7"/>
                </a:solidFill>
                <a:latin typeface="Segoe UI Semibold"/>
                <a:ea typeface="微软雅黑"/>
              </a:rPr>
              <a:t>产品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971800"/>
            <a:ext cx="28346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0" i="0">
                <a:solidFill>
                  <a:srgbClr val="A1A1A6"/>
                </a:solidFill>
                <a:latin typeface="Segoe UI"/>
                <a:ea typeface="微软雅黑"/>
              </a:rPr>
              <a:t>Whisper 做了什么、怎么用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828800"/>
            <a:ext cx="3383280" cy="1920240"/>
          </a:xfrm>
          <a:prstGeom prst="roundRect">
            <a:avLst>
              <a:gd name="adj" fmla="val 10476"/>
            </a:avLst>
          </a:prstGeom>
          <a:solidFill>
            <a:srgbClr val="1C1C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2057400"/>
            <a:ext cx="914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1" i="0">
                <a:solidFill>
                  <a:srgbClr val="3D5AFE"/>
                </a:solidFill>
                <a:latin typeface="Segoe UI Semibold"/>
                <a:ea typeface="微软雅黑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2468880"/>
            <a:ext cx="2834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200" b="1" i="0">
                <a:solidFill>
                  <a:srgbClr val="F5F5F7"/>
                </a:solidFill>
                <a:latin typeface="Segoe UI Semibold"/>
                <a:ea typeface="微软雅黑"/>
              </a:rPr>
              <a:t>眼镜体验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2971800"/>
            <a:ext cx="28346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0" i="0">
                <a:solidFill>
                  <a:srgbClr val="A1A1A6"/>
                </a:solidFill>
                <a:latin typeface="Segoe UI"/>
                <a:ea typeface="微软雅黑"/>
              </a:rPr>
              <a:t>为什么提醒要出现在眼前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023360"/>
            <a:ext cx="3383280" cy="1920240"/>
          </a:xfrm>
          <a:prstGeom prst="roundRect">
            <a:avLst>
              <a:gd name="adj" fmla="val 10476"/>
            </a:avLst>
          </a:prstGeom>
          <a:solidFill>
            <a:srgbClr val="1C1C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4251960"/>
            <a:ext cx="914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1" i="0">
                <a:solidFill>
                  <a:srgbClr val="3D5AFE"/>
                </a:solidFill>
                <a:latin typeface="Segoe UI Semibold"/>
                <a:ea typeface="微软雅黑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4663440"/>
            <a:ext cx="2834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200" b="1" i="0">
                <a:solidFill>
                  <a:srgbClr val="F5F5F7"/>
                </a:solidFill>
                <a:latin typeface="Segoe UI Semibold"/>
                <a:ea typeface="微软雅黑"/>
              </a:rPr>
              <a:t>技术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5166360"/>
            <a:ext cx="28346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0" i="0">
                <a:solidFill>
                  <a:srgbClr val="A1A1A6"/>
                </a:solidFill>
                <a:latin typeface="Segoe UI"/>
                <a:ea typeface="微软雅黑"/>
              </a:rPr>
              <a:t>端侧语音、声纹、大模型、截图、BLE 协议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89120" y="4023360"/>
            <a:ext cx="3383280" cy="1920240"/>
          </a:xfrm>
          <a:prstGeom prst="roundRect">
            <a:avLst>
              <a:gd name="adj" fmla="val 10476"/>
            </a:avLst>
          </a:prstGeom>
          <a:solidFill>
            <a:srgbClr val="1C1C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63440" y="4251960"/>
            <a:ext cx="914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1" i="0">
                <a:solidFill>
                  <a:srgbClr val="3D5AFE"/>
                </a:solidFill>
                <a:latin typeface="Segoe UI Semibold"/>
                <a:ea typeface="微软雅黑"/>
              </a:rPr>
              <a:t>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63440" y="4663440"/>
            <a:ext cx="2834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200" b="1" i="0">
                <a:solidFill>
                  <a:srgbClr val="F5F5F7"/>
                </a:solidFill>
                <a:latin typeface="Segoe UI Semibold"/>
                <a:ea typeface="微软雅黑"/>
              </a:rPr>
              <a:t>隐私与可靠性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63440" y="5166360"/>
            <a:ext cx="28346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0" i="0">
                <a:solidFill>
                  <a:srgbClr val="A1A1A6"/>
                </a:solidFill>
                <a:latin typeface="Segoe UI"/>
                <a:ea typeface="微软雅黑"/>
              </a:rPr>
              <a:t>声音不出手机，网络差也不丢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46720" y="4023360"/>
            <a:ext cx="3383280" cy="1920240"/>
          </a:xfrm>
          <a:prstGeom prst="roundRect">
            <a:avLst>
              <a:gd name="adj" fmla="val 10476"/>
            </a:avLst>
          </a:prstGeom>
          <a:solidFill>
            <a:srgbClr val="1C1C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21040" y="4251960"/>
            <a:ext cx="914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1" i="0">
                <a:solidFill>
                  <a:srgbClr val="3D5AFE"/>
                </a:solidFill>
                <a:latin typeface="Segoe UI Semibold"/>
                <a:ea typeface="微软雅黑"/>
              </a:rPr>
              <a:t>06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21040" y="4663440"/>
            <a:ext cx="2834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200" b="1" i="0">
                <a:solidFill>
                  <a:srgbClr val="F5F5F7"/>
                </a:solidFill>
                <a:latin typeface="Segoe UI Semibold"/>
                <a:ea typeface="微软雅黑"/>
              </a:rPr>
              <a:t>市场与路线图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1040" y="5166360"/>
            <a:ext cx="28346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0" i="0">
                <a:solidFill>
                  <a:srgbClr val="A1A1A6"/>
                </a:solidFill>
                <a:latin typeface="Segoe UI"/>
                <a:ea typeface="微软雅黑"/>
              </a:rPr>
              <a:t>给谁用、怎么走、现场怎么演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45775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000" b="0" i="0">
                <a:solidFill>
                  <a:srgbClr val="6E6E73"/>
                </a:solidFill>
                <a:latin typeface="Segoe UI"/>
                <a:ea typeface="微软雅黑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10728655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6400" b="0" i="0">
                <a:solidFill>
                  <a:srgbClr val="F5F5F7"/>
                </a:solidFill>
                <a:latin typeface="Segoe UI Light"/>
                <a:ea typeface="微软雅黑 Light"/>
              </a:rPr>
              <a:t>上次见面，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063240"/>
            <a:ext cx="10728655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6400" b="0" i="0">
                <a:solidFill>
                  <a:srgbClr val="F5F5F7"/>
                </a:solidFill>
                <a:latin typeface="Segoe UI Light"/>
                <a:ea typeface="微软雅黑 Light"/>
              </a:rPr>
              <a:t>他跟你说了什么？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4663440"/>
            <a:ext cx="1072865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000" b="0" i="0">
                <a:solidFill>
                  <a:srgbClr val="A1A1A6"/>
                </a:solidFill>
                <a:latin typeface="Segoe UI"/>
                <a:ea typeface="微软雅黑"/>
              </a:rPr>
              <a:t>我们每天听到上万句话。真正该记住的那几句，往往三天后就忘了。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45775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000" b="0" i="0">
                <a:solidFill>
                  <a:srgbClr val="86868B"/>
                </a:solidFill>
                <a:latin typeface="Segoe UI"/>
                <a:ea typeface="微软雅黑"/>
              </a:rP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4000" b="1" i="0">
                <a:solidFill>
                  <a:srgbClr val="1D1D1F"/>
                </a:solidFill>
                <a:latin typeface="Segoe UI Semibold"/>
                <a:ea typeface="微软雅黑"/>
              </a:rPr>
              <a:t>记忆，是社交里最贵的成本。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3383280" cy="3291840"/>
          </a:xfrm>
          <a:prstGeom prst="roundRect">
            <a:avLst>
              <a:gd name="adj" fmla="val 6111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51560" y="2331720"/>
            <a:ext cx="457200" cy="457200"/>
          </a:xfrm>
          <a:prstGeom prst="ellipse">
            <a:avLst/>
          </a:prstGeom>
          <a:solidFill>
            <a:srgbClr val="E539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3017520"/>
            <a:ext cx="2743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200" b="1" i="0">
                <a:solidFill>
                  <a:srgbClr val="1D1D1F"/>
                </a:solidFill>
                <a:latin typeface="Segoe UI Semibold"/>
                <a:ea typeface="微软雅黑"/>
              </a:rPr>
              <a:t>答应的事，忘了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3657600"/>
            <a:ext cx="27432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 i="0">
                <a:solidFill>
                  <a:srgbClr val="6E6E73"/>
                </a:solidFill>
                <a:latin typeface="Segoe UI"/>
                <a:ea typeface="微软雅黑"/>
              </a:rPr>
              <a:t>口头约定没有落进日程。下次见面对方问起，才想起来。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2011680"/>
            <a:ext cx="3383280" cy="3291840"/>
          </a:xfrm>
          <a:prstGeom prst="roundRect">
            <a:avLst>
              <a:gd name="adj" fmla="val 6111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709159" y="2331720"/>
            <a:ext cx="457200" cy="457200"/>
          </a:xfrm>
          <a:prstGeom prst="ellipse">
            <a:avLst/>
          </a:prstGeom>
          <a:solidFill>
            <a:srgbClr val="F57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09159" y="3017520"/>
            <a:ext cx="2743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200" b="1" i="0">
                <a:solidFill>
                  <a:srgbClr val="1D1D1F"/>
                </a:solidFill>
                <a:latin typeface="Segoe UI Semibold"/>
                <a:ea typeface="微软雅黑"/>
              </a:rPr>
              <a:t>对方说过的，忘了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9159" y="3657600"/>
            <a:ext cx="27432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 i="0">
                <a:solidFill>
                  <a:srgbClr val="6E6E73"/>
                </a:solidFill>
                <a:latin typeface="Segoe UI"/>
                <a:ea typeface="微软雅黑"/>
              </a:rPr>
              <a:t>忌口、近况、家人、生日……信息散落在闲谈和聊天记录里，没有一个地方能看全。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2011680"/>
            <a:ext cx="3383280" cy="3291840"/>
          </a:xfrm>
          <a:prstGeom prst="roundRect">
            <a:avLst>
              <a:gd name="adj" fmla="val 6111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366760" y="2331720"/>
            <a:ext cx="457200" cy="457200"/>
          </a:xfrm>
          <a:prstGeom prst="ellipse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66760" y="3017520"/>
            <a:ext cx="2743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200" b="1" i="0">
                <a:solidFill>
                  <a:srgbClr val="1D1D1F"/>
                </a:solidFill>
                <a:latin typeface="Segoe UI Semibold"/>
                <a:ea typeface="微软雅黑"/>
              </a:rPr>
              <a:t>记录，太重了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60" y="3657600"/>
            <a:ext cx="27432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 i="0">
                <a:solidFill>
                  <a:srgbClr val="6E6E73"/>
                </a:solidFill>
                <a:latin typeface="Segoe UI"/>
                <a:ea typeface="微软雅黑"/>
              </a:rPr>
              <a:t>录音笔、备忘录、会议纪要 App 都要主动打开、主动整理。没有人坚持得了。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669280"/>
            <a:ext cx="1072865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600" b="0" i="0">
                <a:solidFill>
                  <a:srgbClr val="6E6E73"/>
                </a:solidFill>
                <a:latin typeface="Segoe UI"/>
                <a:ea typeface="微软雅黑"/>
              </a:rPr>
              <a:t>三个痛点指向同一个事实：记忆依赖人主动去做，而人恰恰做不到。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45775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000" b="0" i="0">
                <a:solidFill>
                  <a:srgbClr val="6E6E73"/>
                </a:solidFill>
                <a:latin typeface="Segoe UI"/>
                <a:ea typeface="微软雅黑"/>
              </a:rP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728655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6000" b="0" i="0">
                <a:solidFill>
                  <a:srgbClr val="F5F5F7"/>
                </a:solidFill>
                <a:latin typeface="Segoe UI Light"/>
                <a:ea typeface="微软雅黑 Light"/>
              </a:rPr>
              <a:t>最好的笔记，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926080"/>
            <a:ext cx="10728655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6000" b="0" i="0">
                <a:solidFill>
                  <a:srgbClr val="F5F5F7"/>
                </a:solidFill>
                <a:latin typeface="Segoe UI Light"/>
                <a:ea typeface="微软雅黑 Light"/>
              </a:rPr>
              <a:t>是你从不需要打开的笔记。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4526280"/>
            <a:ext cx="1072865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000" b="0" i="0">
                <a:solidFill>
                  <a:srgbClr val="A1A1A6"/>
                </a:solidFill>
                <a:latin typeface="Segoe UI"/>
                <a:ea typeface="微软雅黑"/>
              </a:rPr>
              <a:t>记忆应该被动发生、自动整理，并在你需要的那一刻，出现在眼前。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45775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000" b="0" i="0">
                <a:solidFill>
                  <a:srgbClr val="6E6E73"/>
                </a:solidFill>
                <a:latin typeface="Segoe UI"/>
                <a:ea typeface="微软雅黑"/>
              </a:rPr>
              <a:t>06</a:t>
            </a:r>
          </a:p>
        </p:txBody>
      </p:sp>
      <p:sp>
        <p:nvSpPr>
          <p:cNvPr id="3" name="Oval 2"/>
          <p:cNvSpPr/>
          <p:nvPr/>
        </p:nvSpPr>
        <p:spPr>
          <a:xfrm>
            <a:off x="1981047" y="1028700"/>
            <a:ext cx="8229600" cy="4114800"/>
          </a:xfrm>
          <a:prstGeom prst="ellipse">
            <a:avLst/>
          </a:prstGeom>
          <a:gradFill rotWithShape="1">
            <a:gsLst>
              <a:gs pos="0">
                <a:srgbClr val="3D5AFE"/>
              </a:gs>
              <a:gs pos="100000">
                <a:srgbClr val="00C7BE"/>
              </a:gs>
            </a:gsLst>
            <a:lin scaled="0" ang="18900000"/>
          </a:gradFill>
          <a:ln>
            <a:noFill/>
          </a:ln>
          <a:effectLst/>
          <a:effectLst>
            <a:softEdge rad="12700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981047" y="1028700"/>
            <a:ext cx="8229600" cy="4114800"/>
          </a:xfrm>
          <a:prstGeom prst="ellipse">
            <a:avLst/>
          </a:prstGeom>
          <a:solidFill>
            <a:srgbClr val="3D5AFE">
              <a:alpha val="30000"/>
            </a:srgbClr>
          </a:solidFill>
          <a:ln>
            <a:noFill/>
          </a:ln>
          <a:effectLst/>
          <a:effectLst>
            <a:softEdge rad="12700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10728655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6600" b="1" i="0">
                <a:solidFill>
                  <a:srgbClr val="F5F5F7"/>
                </a:solidFill>
                <a:latin typeface="Segoe UI Semibold"/>
                <a:ea typeface="微软雅黑"/>
              </a:rPr>
              <a:t>Introducing Whisper.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3154680"/>
            <a:ext cx="889985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sz="2000" b="0" i="0">
                <a:solidFill>
                  <a:srgbClr val="A1A1A6"/>
                </a:solidFill>
                <a:latin typeface="Segoe UI"/>
                <a:ea typeface="微软雅黑"/>
              </a:rPr>
              <a:t>一个一直在听、认得出人、会替你记事，并在合适的时机提醒你的私人记忆助手。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432407" y="4480560"/>
            <a:ext cx="2926080" cy="1188720"/>
          </a:xfrm>
          <a:prstGeom prst="roundRect">
            <a:avLst>
              <a:gd name="adj" fmla="val 16923"/>
            </a:avLst>
          </a:prstGeom>
          <a:solidFill>
            <a:srgbClr val="1C1C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32407" y="4645152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2000" b="1" i="0">
                <a:solidFill>
                  <a:srgbClr val="F5F5F7"/>
                </a:solidFill>
                <a:latin typeface="Segoe UI Semibold"/>
                <a:ea typeface="微软雅黑"/>
              </a:rPr>
              <a:t>手机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32407" y="5120640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300" b="0" i="0">
                <a:solidFill>
                  <a:srgbClr val="A1A1A6"/>
                </a:solidFill>
                <a:latin typeface="Segoe UI"/>
                <a:ea typeface="微软雅黑"/>
              </a:rPr>
              <a:t>卡片 + 实时转写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32807" y="4480560"/>
            <a:ext cx="2926080" cy="1188720"/>
          </a:xfrm>
          <a:prstGeom prst="roundRect">
            <a:avLst>
              <a:gd name="adj" fmla="val 16923"/>
            </a:avLst>
          </a:prstGeom>
          <a:solidFill>
            <a:srgbClr val="1C1C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32807" y="4645152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2000" b="1" i="0">
                <a:solidFill>
                  <a:srgbClr val="F5F5F7"/>
                </a:solidFill>
                <a:latin typeface="Segoe UI Semibold"/>
                <a:ea typeface="微软雅黑"/>
              </a:rPr>
              <a:t>灵动岛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32807" y="5120640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300" b="0" i="0">
                <a:solidFill>
                  <a:srgbClr val="A1A1A6"/>
                </a:solidFill>
                <a:latin typeface="Segoe UI"/>
                <a:ea typeface="微软雅黑"/>
              </a:rPr>
              <a:t>系统级实况通知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33207" y="4480560"/>
            <a:ext cx="2926080" cy="1188720"/>
          </a:xfrm>
          <a:prstGeom prst="roundRect">
            <a:avLst>
              <a:gd name="adj" fmla="val 16923"/>
            </a:avLst>
          </a:prstGeom>
          <a:solidFill>
            <a:srgbClr val="1C1C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33207" y="4645152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2000" b="1" i="0">
                <a:solidFill>
                  <a:srgbClr val="F5F5F7"/>
                </a:solidFill>
                <a:latin typeface="Segoe UI Semibold"/>
                <a:ea typeface="微软雅黑"/>
              </a:rPr>
              <a:t>Even G2 眼镜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33207" y="5120640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300" b="0" i="0">
                <a:solidFill>
                  <a:srgbClr val="A1A1A6"/>
                </a:solidFill>
                <a:latin typeface="Segoe UI"/>
                <a:ea typeface="微软雅黑"/>
              </a:rPr>
              <a:t>抬眼即见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45775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000" b="0" i="0">
                <a:solidFill>
                  <a:srgbClr val="86868B"/>
                </a:solidFill>
                <a:latin typeface="Segoe UI"/>
                <a:ea typeface="微软雅黑"/>
              </a:rPr>
              <a:t>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4000" b="1" i="0">
                <a:solidFill>
                  <a:srgbClr val="1D1D1F"/>
                </a:solidFill>
                <a:latin typeface="Segoe UI Semibold"/>
                <a:ea typeface="微软雅黑"/>
              </a:rPr>
              <a:t>四件事，它都替你做了。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5257800" cy="1828800"/>
          </a:xfrm>
          <a:prstGeom prst="roundRect">
            <a:avLst>
              <a:gd name="adj" fmla="val 11000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51560" y="2194560"/>
            <a:ext cx="73152" cy="1097280"/>
          </a:xfrm>
          <a:prstGeom prst="roundRect">
            <a:avLst>
              <a:gd name="adj" fmla="val 50000"/>
            </a:avLst>
          </a:prstGeom>
          <a:solidFill>
            <a:srgbClr val="3D5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25880" y="2148840"/>
            <a:ext cx="4389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600" b="1" i="0">
                <a:solidFill>
                  <a:srgbClr val="1D1D1F"/>
                </a:solidFill>
                <a:latin typeface="Segoe UI Semibold"/>
                <a:ea typeface="微软雅黑"/>
              </a:rPr>
              <a:t>听得懂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2724912"/>
            <a:ext cx="43891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 i="0">
                <a:solidFill>
                  <a:srgbClr val="6E6E73"/>
                </a:solidFill>
                <a:latin typeface="Segoe UI"/>
                <a:ea typeface="微软雅黑"/>
              </a:rPr>
              <a:t>端侧双引擎语音识别。边说边出字，整句再精修、加标点，全程不联网。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828800"/>
            <a:ext cx="5257800" cy="1828800"/>
          </a:xfrm>
          <a:prstGeom prst="roundRect">
            <a:avLst>
              <a:gd name="adj" fmla="val 11000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92240" y="2194560"/>
            <a:ext cx="73152" cy="1097280"/>
          </a:xfrm>
          <a:prstGeom prst="roundRect">
            <a:avLst>
              <a:gd name="adj" fmla="val 50000"/>
            </a:avLst>
          </a:prstGeom>
          <a:solidFill>
            <a:srgbClr val="A25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66560" y="2148840"/>
            <a:ext cx="4389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600" b="1" i="0">
                <a:solidFill>
                  <a:srgbClr val="1D1D1F"/>
                </a:solidFill>
                <a:latin typeface="Segoe UI Semibold"/>
                <a:ea typeface="微软雅黑"/>
              </a:rPr>
              <a:t>认得出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0" y="2724912"/>
            <a:ext cx="43891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 i="0">
                <a:solidFill>
                  <a:srgbClr val="6E6E73"/>
                </a:solidFill>
                <a:latin typeface="Segoe UI"/>
                <a:ea typeface="微软雅黑"/>
              </a:rPr>
              <a:t>端侧声纹识别。自动区分你和身边的每个人，没见过的声音自动建档为“陌生人 N”。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840480"/>
            <a:ext cx="5257800" cy="1828800"/>
          </a:xfrm>
          <a:prstGeom prst="roundRect">
            <a:avLst>
              <a:gd name="adj" fmla="val 11000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51560" y="4206240"/>
            <a:ext cx="73152" cy="1097280"/>
          </a:xfrm>
          <a:prstGeom prst="roundRect">
            <a:avLst>
              <a:gd name="adj" fmla="val 50000"/>
            </a:avLst>
          </a:prstGeom>
          <a:solidFill>
            <a:srgbClr val="00C7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25880" y="4160520"/>
            <a:ext cx="4389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600" b="1" i="0">
                <a:solidFill>
                  <a:srgbClr val="1D1D1F"/>
                </a:solidFill>
                <a:latin typeface="Segoe UI Semibold"/>
                <a:ea typeface="微软雅黑"/>
              </a:rPr>
              <a:t>记得住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4736592"/>
            <a:ext cx="43891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 i="0">
                <a:solidFill>
                  <a:srgbClr val="6E6E73"/>
                </a:solidFill>
                <a:latin typeface="Segoe UI"/>
                <a:ea typeface="微软雅黑"/>
              </a:rPr>
              <a:t>大模型从对话和聊天截图里提炼待办与事实，自动去重、自动完成、自动过期。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3840480"/>
            <a:ext cx="5257800" cy="1828800"/>
          </a:xfrm>
          <a:prstGeom prst="roundRect">
            <a:avLst>
              <a:gd name="adj" fmla="val 11000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492240" y="4206240"/>
            <a:ext cx="73152" cy="1097280"/>
          </a:xfrm>
          <a:prstGeom prst="roundRect">
            <a:avLst>
              <a:gd name="adj" fmla="val 50000"/>
            </a:avLst>
          </a:prstGeom>
          <a:solidFill>
            <a:srgbClr val="F57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66560" y="4160520"/>
            <a:ext cx="4389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600" b="1" i="0">
                <a:solidFill>
                  <a:srgbClr val="1D1D1F"/>
                </a:solidFill>
                <a:latin typeface="Segoe UI Semibold"/>
                <a:ea typeface="微软雅黑"/>
              </a:rPr>
              <a:t>提醒得巧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66560" y="4736592"/>
            <a:ext cx="43891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 i="0">
                <a:solidFill>
                  <a:srgbClr val="6E6E73"/>
                </a:solidFill>
                <a:latin typeface="Segoe UI"/>
                <a:ea typeface="微软雅黑"/>
              </a:rPr>
              <a:t>熟人隔 5 分钟再开口时，TA 的待办与事实同时出现在手机、灵动岛和眼镜上。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45775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000" b="0" i="0">
                <a:solidFill>
                  <a:srgbClr val="6E6E73"/>
                </a:solidFill>
                <a:latin typeface="Segoe UI"/>
                <a:ea typeface="微软雅黑"/>
              </a:rPr>
              <a:t>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4000" b="1" i="0">
                <a:solidFill>
                  <a:srgbClr val="F5F5F7"/>
                </a:solidFill>
                <a:latin typeface="Segoe UI Semibold"/>
                <a:ea typeface="微软雅黑"/>
              </a:rPr>
              <a:t>一个真实的一周。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53312"/>
            <a:ext cx="1072865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0" i="0">
                <a:solidFill>
                  <a:srgbClr val="A1A1A6"/>
                </a:solidFill>
                <a:latin typeface="Segoe UI"/>
                <a:ea typeface="微软雅黑"/>
              </a:rPr>
              <a:t>你什么都不用做。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240280" y="2194560"/>
            <a:ext cx="0" cy="3749040"/>
          </a:xfrm>
          <a:prstGeom prst="line">
            <a:avLst/>
          </a:prstGeom>
          <a:ln w="12700">
            <a:solidFill>
              <a:srgbClr val="6E6E73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31520" y="2011680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0" i="0">
                <a:solidFill>
                  <a:srgbClr val="A1A1A6"/>
                </a:solidFill>
                <a:latin typeface="Segoe UI"/>
                <a:ea typeface="微软雅黑"/>
              </a:rPr>
              <a:t>周一 10:02</a:t>
            </a:r>
          </a:p>
        </p:txBody>
      </p:sp>
      <p:sp>
        <p:nvSpPr>
          <p:cNvPr id="7" name="Oval 6"/>
          <p:cNvSpPr/>
          <p:nvPr/>
        </p:nvSpPr>
        <p:spPr>
          <a:xfrm>
            <a:off x="2148840" y="2103120"/>
            <a:ext cx="182880" cy="182880"/>
          </a:xfrm>
          <a:prstGeom prst="ellipse">
            <a:avLst/>
          </a:prstGeom>
          <a:solidFill>
            <a:srgbClr val="FB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560320" y="1984248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1" i="0">
                <a:solidFill>
                  <a:srgbClr val="FB8C00"/>
                </a:solidFill>
                <a:latin typeface="Segoe UI Semibold"/>
                <a:ea typeface="微软雅黑"/>
              </a:rPr>
              <a:t>李四  </a:t>
            </a:r>
            <a:r>
              <a:rPr sz="1500" b="0" i="0">
                <a:solidFill>
                  <a:srgbClr val="F5F5F7"/>
                </a:solidFill>
                <a:latin typeface="Segoe UI"/>
                <a:ea typeface="微软雅黑"/>
              </a:rPr>
              <a:t>“下周三下午三点来公司开会，记得带合同。”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60320" y="2395728"/>
            <a:ext cx="8961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0" i="0">
                <a:solidFill>
                  <a:srgbClr val="A1A1A6"/>
                </a:solidFill>
                <a:latin typeface="Segoe UI"/>
                <a:ea typeface="微软雅黑"/>
              </a:rPr>
              <a:t>Whisper 认出是李四，1 分钟内提炼成待办：下周三 15:00 · 公司会议室 A · 带合同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063240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0" i="0">
                <a:solidFill>
                  <a:srgbClr val="A1A1A6"/>
                </a:solidFill>
                <a:latin typeface="Segoe UI"/>
                <a:ea typeface="微软雅黑"/>
              </a:rPr>
              <a:t>周一 10:03</a:t>
            </a:r>
          </a:p>
        </p:txBody>
      </p:sp>
      <p:sp>
        <p:nvSpPr>
          <p:cNvPr id="11" name="Oval 10"/>
          <p:cNvSpPr/>
          <p:nvPr/>
        </p:nvSpPr>
        <p:spPr>
          <a:xfrm>
            <a:off x="2148840" y="3154680"/>
            <a:ext cx="182880" cy="182880"/>
          </a:xfrm>
          <a:prstGeom prst="ellipse">
            <a:avLst/>
          </a:prstGeom>
          <a:solidFill>
            <a:srgbClr val="FB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3035808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1" i="0">
                <a:solidFill>
                  <a:srgbClr val="FB8C00"/>
                </a:solidFill>
                <a:latin typeface="Segoe UI Semibold"/>
                <a:ea typeface="微软雅黑"/>
              </a:rPr>
              <a:t>李四  </a:t>
            </a:r>
            <a:r>
              <a:rPr sz="1500" b="0" i="0">
                <a:solidFill>
                  <a:srgbClr val="F5F5F7"/>
                </a:solidFill>
                <a:latin typeface="Segoe UI"/>
                <a:ea typeface="微软雅黑"/>
              </a:rPr>
              <a:t>“我最近胃不太舒服，别约火锅了。”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60320" y="3447288"/>
            <a:ext cx="8961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0" i="0">
                <a:solidFill>
                  <a:srgbClr val="A1A1A6"/>
                </a:solidFill>
                <a:latin typeface="Segoe UI"/>
                <a:ea typeface="微软雅黑"/>
              </a:rPr>
              <a:t>记为事实：最近胃不太舒服，暂时不吃火锅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114800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0" i="0">
                <a:solidFill>
                  <a:srgbClr val="A1A1A6"/>
                </a:solidFill>
                <a:latin typeface="Segoe UI"/>
                <a:ea typeface="微软雅黑"/>
              </a:rPr>
              <a:t>周三 14:52</a:t>
            </a:r>
          </a:p>
        </p:txBody>
      </p:sp>
      <p:sp>
        <p:nvSpPr>
          <p:cNvPr id="15" name="Oval 14"/>
          <p:cNvSpPr/>
          <p:nvPr/>
        </p:nvSpPr>
        <p:spPr>
          <a:xfrm>
            <a:off x="2148840" y="4206240"/>
            <a:ext cx="182880" cy="182880"/>
          </a:xfrm>
          <a:prstGeom prst="ellipse">
            <a:avLst/>
          </a:prstGeom>
          <a:solidFill>
            <a:srgbClr val="FB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60320" y="4087368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1" i="0">
                <a:solidFill>
                  <a:srgbClr val="FB8C00"/>
                </a:solidFill>
                <a:latin typeface="Segoe UI Semibold"/>
                <a:ea typeface="微软雅黑"/>
              </a:rPr>
              <a:t>李四  </a:t>
            </a:r>
            <a:r>
              <a:rPr sz="1500" b="0" i="0">
                <a:solidFill>
                  <a:srgbClr val="F5F5F7"/>
                </a:solidFill>
                <a:latin typeface="Segoe UI"/>
                <a:ea typeface="微软雅黑"/>
              </a:rPr>
              <a:t>李四走进会议室，开口说了第一句话。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60320" y="4498848"/>
            <a:ext cx="8961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0" i="0">
                <a:solidFill>
                  <a:srgbClr val="A1A1A6"/>
                </a:solidFill>
                <a:latin typeface="Segoe UI"/>
                <a:ea typeface="微软雅黑"/>
              </a:rPr>
              <a:t>距上次开口超过 5 分钟 → 眼镜浮现：李四 · 待办 2 · 事实 3；手机与灵动岛同步提醒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166360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0" i="0">
                <a:solidFill>
                  <a:srgbClr val="A1A1A6"/>
                </a:solidFill>
                <a:latin typeface="Segoe UI"/>
                <a:ea typeface="微软雅黑"/>
              </a:rPr>
              <a:t>周三 15:40</a:t>
            </a:r>
          </a:p>
        </p:txBody>
      </p:sp>
      <p:sp>
        <p:nvSpPr>
          <p:cNvPr id="19" name="Oval 18"/>
          <p:cNvSpPr/>
          <p:nvPr/>
        </p:nvSpPr>
        <p:spPr>
          <a:xfrm>
            <a:off x="2148840" y="5257800"/>
            <a:ext cx="182880" cy="182880"/>
          </a:xfrm>
          <a:prstGeom prst="ellipse">
            <a:avLst/>
          </a:prstGeom>
          <a:solidFill>
            <a:srgbClr val="3D5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560320" y="5138928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1" i="0">
                <a:solidFill>
                  <a:srgbClr val="3D5AFE"/>
                </a:solidFill>
                <a:latin typeface="Segoe UI Semibold"/>
                <a:ea typeface="微软雅黑"/>
              </a:rPr>
              <a:t>你  </a:t>
            </a:r>
            <a:r>
              <a:rPr sz="1500" b="0" i="0">
                <a:solidFill>
                  <a:srgbClr val="F5F5F7"/>
                </a:solidFill>
                <a:latin typeface="Segoe UI"/>
                <a:ea typeface="微软雅黑"/>
              </a:rPr>
              <a:t>“合同我带来了，咱们别点火锅，去旁边那家粤菜。”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60320" y="5550408"/>
            <a:ext cx="8961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0" i="0">
                <a:solidFill>
                  <a:srgbClr val="A1A1A6"/>
                </a:solidFill>
                <a:latin typeface="Segoe UI"/>
                <a:ea typeface="微软雅黑"/>
              </a:rPr>
              <a:t>会议后对话交给 AI：待办“带合同”自动勾掉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45775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000" b="0" i="0">
                <a:solidFill>
                  <a:srgbClr val="6E6E73"/>
                </a:solidFill>
                <a:latin typeface="Segoe UI"/>
                <a:ea typeface="微软雅黑"/>
              </a:rPr>
              <a:t>09</a:t>
            </a:r>
          </a:p>
        </p:txBody>
      </p:sp>
      <p:sp>
        <p:nvSpPr>
          <p:cNvPr id="3" name="Oval 2"/>
          <p:cNvSpPr/>
          <p:nvPr/>
        </p:nvSpPr>
        <p:spPr>
          <a:xfrm>
            <a:off x="1295247" y="1920240"/>
            <a:ext cx="9601200" cy="4206240"/>
          </a:xfrm>
          <a:prstGeom prst="ellipse">
            <a:avLst/>
          </a:prstGeom>
          <a:gradFill rotWithShape="1">
            <a:gsLst>
              <a:gs pos="0">
                <a:srgbClr val="3D5AFE"/>
              </a:gs>
              <a:gs pos="100000">
                <a:srgbClr val="7CFF9B"/>
              </a:gs>
            </a:gsLst>
            <a:lin scaled="0" ang="18900000"/>
          </a:gradFill>
          <a:ln>
            <a:noFill/>
          </a:ln>
          <a:effectLst/>
          <a:effectLst>
            <a:softEdge rad="13970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295247" y="1920240"/>
            <a:ext cx="9601200" cy="4206240"/>
          </a:xfrm>
          <a:prstGeom prst="ellipse">
            <a:avLst/>
          </a:prstGeom>
          <a:solidFill>
            <a:srgbClr val="3D5AFE">
              <a:alpha val="22000"/>
            </a:srgbClr>
          </a:solidFill>
          <a:ln>
            <a:noFill/>
          </a:ln>
          <a:effectLst/>
          <a:effectLst>
            <a:softEdge rad="13970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1072865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5200" b="1" i="0">
                <a:solidFill>
                  <a:srgbClr val="F5F5F7"/>
                </a:solidFill>
                <a:latin typeface="Segoe UI Semibold"/>
                <a:ea typeface="微软雅黑"/>
              </a:rPr>
              <a:t>抬眼即见。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1072865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500" b="0" i="0">
                <a:solidFill>
                  <a:srgbClr val="A1A1A6"/>
                </a:solidFill>
                <a:latin typeface="Segoe UI"/>
                <a:ea typeface="微软雅黑"/>
              </a:rPr>
              <a:t>Even G2  ·  576 × 288 单色波导显示  ·  佩戴者视角（示意）</a:t>
            </a:r>
          </a:p>
        </p:txBody>
      </p:sp>
      <p:pic>
        <p:nvPicPr>
          <p:cNvPr id="7" name="Picture 6" descr="lens_m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3927" y="2057400"/>
            <a:ext cx="7863840" cy="39319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6172200"/>
            <a:ext cx="1072865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50" b="0" i="0">
                <a:solidFill>
                  <a:srgbClr val="6E6E73"/>
                </a:solidFill>
                <a:latin typeface="Segoe UI"/>
                <a:ea typeface="微软雅黑"/>
              </a:rPr>
              <a:t>黑底发光文字，由手机用系统字体渲染成图片推送，不依赖眼镜固件是否带中文字库。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45775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000" b="0" i="0">
                <a:solidFill>
                  <a:srgbClr val="6E6E73"/>
                </a:solidFill>
                <a:latin typeface="Segoe UI"/>
                <a:ea typeface="微软雅黑"/>
              </a:rPr>
              <a:t>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4000" b="1" i="0">
                <a:solidFill>
                  <a:srgbClr val="F5F5F7"/>
                </a:solidFill>
                <a:latin typeface="Segoe UI Semibold"/>
                <a:ea typeface="微软雅黑"/>
              </a:rPr>
              <a:t>为什么是眼镜。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920240"/>
            <a:ext cx="3383280" cy="3108960"/>
          </a:xfrm>
          <a:prstGeom prst="roundRect">
            <a:avLst>
              <a:gd name="adj" fmla="val 6470"/>
            </a:avLst>
          </a:prstGeom>
          <a:solidFill>
            <a:srgbClr val="1C1C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234440" y="2331720"/>
            <a:ext cx="365760" cy="226771"/>
          </a:xfrm>
          <a:prstGeom prst="roundRect">
            <a:avLst>
              <a:gd name="adj" fmla="val 35000"/>
            </a:avLst>
          </a:prstGeom>
          <a:noFill/>
          <a:ln w="25400">
            <a:solidFill>
              <a:srgbClr val="3D5A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783080" y="2331720"/>
            <a:ext cx="365760" cy="226771"/>
          </a:xfrm>
          <a:prstGeom prst="roundRect">
            <a:avLst>
              <a:gd name="adj" fmla="val 35000"/>
            </a:avLst>
          </a:prstGeom>
          <a:noFill/>
          <a:ln w="25400">
            <a:solidFill>
              <a:srgbClr val="3D5A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1600200" y="2411089"/>
            <a:ext cx="182880" cy="0"/>
          </a:xfrm>
          <a:prstGeom prst="line">
            <a:avLst/>
          </a:prstGeom>
          <a:ln w="25400">
            <a:solidFill>
              <a:srgbClr val="3D5AF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161288" y="2377074"/>
            <a:ext cx="73152" cy="22677"/>
          </a:xfrm>
          <a:prstGeom prst="line">
            <a:avLst/>
          </a:prstGeom>
          <a:ln w="25400">
            <a:solidFill>
              <a:srgbClr val="3D5AF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2148840" y="2377074"/>
            <a:ext cx="73152" cy="22677"/>
          </a:xfrm>
          <a:prstGeom prst="line">
            <a:avLst/>
          </a:prstGeom>
          <a:ln w="25400">
            <a:solidFill>
              <a:srgbClr val="3D5AF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051560" y="3063240"/>
            <a:ext cx="2743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400" b="1" i="0">
                <a:solidFill>
                  <a:srgbClr val="F5F5F7"/>
                </a:solidFill>
                <a:latin typeface="Segoe UI Semibold"/>
                <a:ea typeface="微软雅黑"/>
              </a:rPr>
              <a:t>不打断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3657600"/>
            <a:ext cx="27432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 i="0">
                <a:solidFill>
                  <a:srgbClr val="A1A1A6"/>
                </a:solidFill>
                <a:latin typeface="Segoe UI"/>
                <a:ea typeface="微软雅黑"/>
              </a:rPr>
              <a:t>不用掏手机、不用低头。对话继续，提醒在视野边缘出现。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920240"/>
            <a:ext cx="3383280" cy="3108960"/>
          </a:xfrm>
          <a:prstGeom prst="roundRect">
            <a:avLst>
              <a:gd name="adj" fmla="val 6470"/>
            </a:avLst>
          </a:prstGeom>
          <a:solidFill>
            <a:srgbClr val="1C1C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892040" y="2331720"/>
            <a:ext cx="365760" cy="226771"/>
          </a:xfrm>
          <a:prstGeom prst="roundRect">
            <a:avLst>
              <a:gd name="adj" fmla="val 35000"/>
            </a:avLst>
          </a:prstGeom>
          <a:noFill/>
          <a:ln w="25400">
            <a:solidFill>
              <a:srgbClr val="7CFF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440679" y="2331720"/>
            <a:ext cx="365760" cy="226771"/>
          </a:xfrm>
          <a:prstGeom prst="roundRect">
            <a:avLst>
              <a:gd name="adj" fmla="val 35000"/>
            </a:avLst>
          </a:prstGeom>
          <a:noFill/>
          <a:ln w="25400">
            <a:solidFill>
              <a:srgbClr val="7CFF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" name="Connector 14"/>
          <p:cNvCxnSpPr/>
          <p:nvPr/>
        </p:nvCxnSpPr>
        <p:spPr>
          <a:xfrm>
            <a:off x="5257800" y="2411089"/>
            <a:ext cx="182879" cy="0"/>
          </a:xfrm>
          <a:prstGeom prst="line">
            <a:avLst/>
          </a:prstGeom>
          <a:ln w="25400">
            <a:solidFill>
              <a:srgbClr val="7CFF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4818888" y="2377074"/>
            <a:ext cx="73152" cy="22677"/>
          </a:xfrm>
          <a:prstGeom prst="line">
            <a:avLst/>
          </a:prstGeom>
          <a:ln w="25400">
            <a:solidFill>
              <a:srgbClr val="7CFF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5806440" y="2377074"/>
            <a:ext cx="73152" cy="22677"/>
          </a:xfrm>
          <a:prstGeom prst="line">
            <a:avLst/>
          </a:prstGeom>
          <a:ln w="25400">
            <a:solidFill>
              <a:srgbClr val="7CFF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4709159" y="3063240"/>
            <a:ext cx="2743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400" b="1" i="0">
                <a:solidFill>
                  <a:srgbClr val="F5F5F7"/>
                </a:solidFill>
                <a:latin typeface="Segoe UI Semibold"/>
                <a:ea typeface="微软雅黑"/>
              </a:rPr>
              <a:t>只有你看见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09159" y="3657600"/>
            <a:ext cx="27432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 i="0">
                <a:solidFill>
                  <a:srgbClr val="A1A1A6"/>
                </a:solidFill>
                <a:latin typeface="Segoe UI"/>
                <a:ea typeface="微软雅黑"/>
              </a:rPr>
              <a:t>提醒私密地出现在你的镜片里，对方毫无察觉。这是手机屏幕做不到的。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46720" y="1920240"/>
            <a:ext cx="3383280" cy="3108960"/>
          </a:xfrm>
          <a:prstGeom prst="roundRect">
            <a:avLst>
              <a:gd name="adj" fmla="val 6470"/>
            </a:avLst>
          </a:prstGeom>
          <a:solidFill>
            <a:srgbClr val="1C1C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549640" y="2331720"/>
            <a:ext cx="365760" cy="226771"/>
          </a:xfrm>
          <a:prstGeom prst="roundRect">
            <a:avLst>
              <a:gd name="adj" fmla="val 35000"/>
            </a:avLst>
          </a:prstGeom>
          <a:noFill/>
          <a:ln w="25400">
            <a:solidFill>
              <a:srgbClr val="3D5A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098280" y="2331720"/>
            <a:ext cx="365760" cy="226771"/>
          </a:xfrm>
          <a:prstGeom prst="roundRect">
            <a:avLst>
              <a:gd name="adj" fmla="val 35000"/>
            </a:avLst>
          </a:prstGeom>
          <a:noFill/>
          <a:ln w="25400">
            <a:solidFill>
              <a:srgbClr val="3D5A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>
            <a:off x="8915400" y="2411089"/>
            <a:ext cx="182880" cy="0"/>
          </a:xfrm>
          <a:prstGeom prst="line">
            <a:avLst/>
          </a:prstGeom>
          <a:ln w="25400">
            <a:solidFill>
              <a:srgbClr val="3D5AF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8476488" y="2377074"/>
            <a:ext cx="73152" cy="22677"/>
          </a:xfrm>
          <a:prstGeom prst="line">
            <a:avLst/>
          </a:prstGeom>
          <a:ln w="25400">
            <a:solidFill>
              <a:srgbClr val="3D5AF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9464040" y="2377074"/>
            <a:ext cx="73152" cy="22677"/>
          </a:xfrm>
          <a:prstGeom prst="line">
            <a:avLst/>
          </a:prstGeom>
          <a:ln w="25400">
            <a:solidFill>
              <a:srgbClr val="3D5AF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8366760" y="3063240"/>
            <a:ext cx="2743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400" b="1" i="0">
                <a:solidFill>
                  <a:srgbClr val="F5F5F7"/>
                </a:solidFill>
                <a:latin typeface="Segoe UI Semibold"/>
                <a:ea typeface="微软雅黑"/>
              </a:rPr>
              <a:t>零操作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66760" y="3657600"/>
            <a:ext cx="27432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 i="0">
                <a:solidFill>
                  <a:srgbClr val="A1A1A6"/>
                </a:solidFill>
                <a:latin typeface="Segoe UI"/>
                <a:ea typeface="微软雅黑"/>
              </a:rPr>
              <a:t>认出熟人开口就推送，60 秒后自动消失。整屏推送约 5～10 秒，不需要任何点击。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5440680"/>
            <a:ext cx="1072865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0" i="0">
                <a:solidFill>
                  <a:srgbClr val="A1A1A6"/>
                </a:solidFill>
                <a:latin typeface="Segoe UI"/>
                <a:ea typeface="微软雅黑"/>
              </a:rPr>
              <a:t>手机上的提醒照常显示，眼镜是额外的一层——信息在你最需要的位置出现。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45775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000" b="0" i="0">
                <a:solidFill>
                  <a:srgbClr val="86868B"/>
                </a:solidFill>
                <a:latin typeface="Segoe UI"/>
                <a:ea typeface="微软雅黑"/>
              </a:rPr>
              <a:t>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4000" b="1" i="0">
                <a:solidFill>
                  <a:srgbClr val="1D1D1F"/>
                </a:solidFill>
                <a:latin typeface="Segoe UI Semibold"/>
                <a:ea typeface="微软雅黑"/>
              </a:rPr>
              <a:t>一屏之内。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53312"/>
            <a:ext cx="1072865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0" i="0">
                <a:solidFill>
                  <a:srgbClr val="6E6E73"/>
                </a:solidFill>
                <a:latin typeface="Segoe UI"/>
                <a:ea typeface="微软雅黑"/>
              </a:rPr>
              <a:t>上 40% 是卡片堆，下 60% 是实时转写。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05840" y="1783080"/>
            <a:ext cx="2331720" cy="4943246"/>
          </a:xfrm>
          <a:prstGeom prst="roundRect">
            <a:avLst>
              <a:gd name="adj" fmla="val 16470"/>
            </a:avLst>
          </a:prstGeom>
          <a:solidFill>
            <a:srgbClr val="0A0A0A"/>
          </a:solidFill>
          <a:ln w="15240">
            <a:solidFill>
              <a:srgbClr val="3A3A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7280" y="1874519"/>
            <a:ext cx="2148839" cy="4760366"/>
          </a:xfrm>
          <a:prstGeom prst="roundRect">
            <a:avLst>
              <a:gd name="adj" fmla="val 14468"/>
            </a:avLst>
          </a:prstGeom>
          <a:solidFill>
            <a:srgbClr val="EE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107692" y="1984248"/>
            <a:ext cx="128016" cy="128016"/>
          </a:xfrm>
          <a:prstGeom prst="ellipse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261872" y="2258568"/>
            <a:ext cx="868680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80744" y="2368296"/>
            <a:ext cx="109728" cy="109728"/>
          </a:xfrm>
          <a:prstGeom prst="ellipse">
            <a:avLst/>
          </a:prstGeom>
          <a:solidFill>
            <a:srgbClr val="43A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36192" y="2258568"/>
            <a:ext cx="59435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00" b="0" i="0">
                <a:solidFill>
                  <a:srgbClr val="1D1D1F"/>
                </a:solidFill>
                <a:latin typeface="Segoe UI"/>
                <a:ea typeface="微软雅黑"/>
              </a:rPr>
              <a:t>AI 就绪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874519" y="2258568"/>
            <a:ext cx="1207008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901952" y="2286000"/>
            <a:ext cx="566928" cy="274320"/>
          </a:xfrm>
          <a:prstGeom prst="roundRect">
            <a:avLst>
              <a:gd name="adj" fmla="val 50000"/>
            </a:avLst>
          </a:prstGeom>
          <a:solidFill>
            <a:srgbClr val="3D5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901952" y="2286000"/>
            <a:ext cx="566928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Segoe UI Semibold"/>
                <a:ea typeface="微软雅黑"/>
              </a:rPr>
              <a:t>待办 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68879" y="2286000"/>
            <a:ext cx="603504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800" b="0" i="0">
                <a:solidFill>
                  <a:srgbClr val="6E6E73"/>
                </a:solidFill>
                <a:latin typeface="Segoe UI"/>
                <a:ea typeface="微软雅黑"/>
              </a:rPr>
              <a:t>事实 5</a:t>
            </a:r>
          </a:p>
        </p:txBody>
      </p:sp>
      <p:sp>
        <p:nvSpPr>
          <p:cNvPr id="15" name="Rounded Rectangle 14"/>
          <p:cNvSpPr/>
          <p:nvPr/>
        </p:nvSpPr>
        <p:spPr>
          <a:xfrm rot="300000">
            <a:off x="1618488" y="2980944"/>
            <a:ext cx="1325879" cy="1600200"/>
          </a:xfrm>
          <a:prstGeom prst="roundRect">
            <a:avLst>
              <a:gd name="adj" fmla="val 12413"/>
            </a:avLst>
          </a:prstGeom>
          <a:solidFill>
            <a:srgbClr val="43A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 rot="21360000">
            <a:off x="1417320" y="2907791"/>
            <a:ext cx="1325879" cy="1600200"/>
          </a:xfrm>
          <a:prstGeom prst="roundRect">
            <a:avLst>
              <a:gd name="adj" fmla="val 12413"/>
            </a:avLst>
          </a:prstGeom>
          <a:solidFill>
            <a:srgbClr val="FB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508760" y="2834639"/>
            <a:ext cx="1325879" cy="1600200"/>
          </a:xfrm>
          <a:prstGeom prst="roundRect">
            <a:avLst>
              <a:gd name="adj" fmla="val 12413"/>
            </a:avLst>
          </a:prstGeom>
          <a:solidFill>
            <a:srgbClr val="3D5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691640" y="2962656"/>
            <a:ext cx="96011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Segoe UI Semibold"/>
                <a:ea typeface="微软雅黑"/>
              </a:rPr>
              <a:t>李四</a:t>
            </a:r>
            <a:r>
              <a:rPr sz="900" b="0" i="0">
                <a:solidFill>
                  <a:srgbClr val="FFFFFF"/>
                </a:solidFill>
                <a:latin typeface="Segoe UI"/>
                <a:ea typeface="微软雅黑"/>
              </a:rPr>
              <a:t>  ·  待办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91640" y="3291839"/>
            <a:ext cx="96011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 Semibold"/>
                <a:ea typeface="微软雅黑"/>
              </a:rPr>
              <a:t>下周三下午三点来公司开会，带合同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91640" y="3840479"/>
            <a:ext cx="96011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50" b="0" i="0">
                <a:solidFill>
                  <a:srgbClr val="FFFFFF"/>
                </a:solidFill>
                <a:latin typeface="Segoe UI"/>
                <a:ea typeface="微软雅黑"/>
              </a:rPr>
              <a:t>时间　下周三 15:00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50" b="0" i="0">
                <a:solidFill>
                  <a:srgbClr val="FFFFFF"/>
                </a:solidFill>
                <a:latin typeface="Segoe UI"/>
                <a:ea typeface="微软雅黑"/>
              </a:rPr>
              <a:t>地点　公司会议室 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08760" y="4636007"/>
            <a:ext cx="132587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700" b="0" i="0">
                <a:solidFill>
                  <a:srgbClr val="86868B"/>
                </a:solidFill>
                <a:latin typeface="Segoe UI"/>
                <a:ea typeface="微软雅黑"/>
              </a:rPr>
              <a:t>1 / 3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97280" y="4111892"/>
            <a:ext cx="2148839" cy="2522994"/>
          </a:xfrm>
          <a:prstGeom prst="roundRect">
            <a:avLst>
              <a:gd name="adj" fmla="val 14468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097280" y="4111892"/>
            <a:ext cx="2148839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298448" y="4221620"/>
            <a:ext cx="174650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00" b="0" i="0">
                <a:solidFill>
                  <a:srgbClr val="86868B"/>
                </a:solidFill>
                <a:latin typeface="Segoe UI"/>
                <a:ea typeface="微软雅黑"/>
              </a:rPr>
              <a:t>实时转写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98448" y="4523372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750" b="1" i="0">
                <a:solidFill>
                  <a:srgbClr val="FB8C00"/>
                </a:solidFill>
                <a:latin typeface="Segoe UI Semibold"/>
                <a:ea typeface="微软雅黑"/>
              </a:rPr>
              <a:t>李四</a:t>
            </a:r>
            <a:r>
              <a:rPr sz="650" b="0" i="0">
                <a:solidFill>
                  <a:srgbClr val="86868B"/>
                </a:solidFill>
                <a:latin typeface="Segoe UI"/>
                <a:ea typeface="微软雅黑"/>
              </a:rPr>
              <a:t>  10:02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679191" y="4541660"/>
            <a:ext cx="411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650" b="1" i="0">
                <a:solidFill>
                  <a:srgbClr val="43A047"/>
                </a:solidFill>
                <a:latin typeface="Segoe UI Semibold"/>
                <a:ea typeface="微软雅黑"/>
              </a:rPr>
              <a:t>AI✓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98448" y="4742828"/>
            <a:ext cx="1746503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00" b="0" i="0">
                <a:solidFill>
                  <a:srgbClr val="1D1D1F"/>
                </a:solidFill>
                <a:latin typeface="Segoe UI"/>
                <a:ea typeface="微软雅黑"/>
              </a:rPr>
              <a:t>下周三下午三点来公司开会，记得带合同。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98448" y="5090300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750" b="1" i="0">
                <a:solidFill>
                  <a:srgbClr val="3D5AFE"/>
                </a:solidFill>
                <a:latin typeface="Segoe UI Semibold"/>
                <a:ea typeface="微软雅黑"/>
              </a:rPr>
              <a:t>我</a:t>
            </a:r>
            <a:r>
              <a:rPr sz="650" b="0" i="0">
                <a:solidFill>
                  <a:srgbClr val="86868B"/>
                </a:solidFill>
                <a:latin typeface="Segoe UI"/>
                <a:ea typeface="微软雅黑"/>
              </a:rPr>
              <a:t>  10:02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679191" y="5108588"/>
            <a:ext cx="411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650" b="1" i="0">
                <a:solidFill>
                  <a:srgbClr val="43A047"/>
                </a:solidFill>
                <a:latin typeface="Segoe UI Semibold"/>
                <a:ea typeface="微软雅黑"/>
              </a:rPr>
              <a:t>AI✓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98448" y="5309756"/>
            <a:ext cx="1746503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00" b="0" i="0">
                <a:solidFill>
                  <a:srgbClr val="1D1D1F"/>
                </a:solidFill>
                <a:latin typeface="Segoe UI"/>
                <a:ea typeface="微软雅黑"/>
              </a:rPr>
              <a:t>好的，我带上。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98448" y="5657228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750" b="1" i="0">
                <a:solidFill>
                  <a:srgbClr val="FB8C00"/>
                </a:solidFill>
                <a:latin typeface="Segoe UI Semibold"/>
                <a:ea typeface="微软雅黑"/>
              </a:rPr>
              <a:t>李四</a:t>
            </a:r>
            <a:r>
              <a:rPr sz="650" b="0" i="0">
                <a:solidFill>
                  <a:srgbClr val="86868B"/>
                </a:solidFill>
                <a:latin typeface="Segoe UI"/>
                <a:ea typeface="微软雅黑"/>
              </a:rPr>
              <a:t>  10:03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679191" y="5675516"/>
            <a:ext cx="411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650" b="1" i="0">
                <a:solidFill>
                  <a:srgbClr val="43A047"/>
                </a:solidFill>
                <a:latin typeface="Segoe UI Semibold"/>
                <a:ea typeface="微软雅黑"/>
              </a:rPr>
              <a:t>AI✓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98448" y="5876684"/>
            <a:ext cx="1746503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00" b="0" i="0">
                <a:solidFill>
                  <a:srgbClr val="1D1D1F"/>
                </a:solidFill>
                <a:latin typeface="Segoe UI"/>
                <a:ea typeface="微软雅黑"/>
              </a:rPr>
              <a:t>我最近胃不太舒服，别约火锅了。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98448" y="6224156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750" b="1" i="0">
                <a:solidFill>
                  <a:srgbClr val="8E24AA"/>
                </a:solidFill>
                <a:latin typeface="Segoe UI Semibold"/>
                <a:ea typeface="微软雅黑"/>
              </a:rPr>
              <a:t>陌生人1</a:t>
            </a:r>
            <a:r>
              <a:rPr sz="650" b="0" i="0">
                <a:solidFill>
                  <a:srgbClr val="86868B"/>
                </a:solidFill>
                <a:latin typeface="Segoe UI"/>
                <a:ea typeface="微软雅黑"/>
              </a:rPr>
              <a:t>  10:05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79191" y="6242444"/>
            <a:ext cx="411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650" b="1" i="0">
                <a:solidFill>
                  <a:srgbClr val="86868B"/>
                </a:solidFill>
                <a:latin typeface="Segoe UI Semibold"/>
                <a:ea typeface="微软雅黑"/>
              </a:rPr>
              <a:t>AI…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298448" y="6443612"/>
            <a:ext cx="1746503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00" b="0" i="0">
                <a:solidFill>
                  <a:srgbClr val="1D1D1F"/>
                </a:solidFill>
                <a:latin typeface="Segoe UI"/>
                <a:ea typeface="微软雅黑"/>
              </a:rPr>
              <a:t>你们会议室订好了吗？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298448" y="5674766"/>
            <a:ext cx="174650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00" b="0" i="1">
                <a:solidFill>
                  <a:srgbClr val="9E9E9E"/>
                </a:solidFill>
                <a:latin typeface="Segoe UI"/>
                <a:ea typeface="微软雅黑"/>
              </a:rPr>
              <a:t>那我先去订一下会议…</a:t>
            </a:r>
          </a:p>
        </p:txBody>
      </p:sp>
      <p:sp>
        <p:nvSpPr>
          <p:cNvPr id="38" name="Oval 37"/>
          <p:cNvSpPr/>
          <p:nvPr/>
        </p:nvSpPr>
        <p:spPr>
          <a:xfrm>
            <a:off x="1915667" y="5949086"/>
            <a:ext cx="512064" cy="512064"/>
          </a:xfrm>
          <a:prstGeom prst="ellipse">
            <a:avLst/>
          </a:prstGeom>
          <a:solidFill>
            <a:srgbClr val="E539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2116836" y="6067958"/>
            <a:ext cx="45720" cy="274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2189988" y="6067958"/>
            <a:ext cx="45720" cy="274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377439" y="6031382"/>
            <a:ext cx="73152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800" b="0" i="0">
                <a:solidFill>
                  <a:srgbClr val="6E6E73"/>
                </a:solidFill>
                <a:latin typeface="Segoe UI"/>
                <a:ea typeface="微软雅黑"/>
              </a:rPr>
              <a:t>更多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023360" y="1920240"/>
            <a:ext cx="7772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000" b="1" i="0">
                <a:solidFill>
                  <a:srgbClr val="1D1D1F"/>
                </a:solidFill>
                <a:latin typeface="Segoe UI Semibold"/>
                <a:ea typeface="微软雅黑"/>
              </a:rPr>
              <a:t>待办 / 事实卡片堆</a:t>
            </a:r>
          </a:p>
        </p:txBody>
      </p:sp>
      <p:sp>
        <p:nvSpPr>
          <p:cNvPr id="43" name="Oval 42"/>
          <p:cNvSpPr/>
          <p:nvPr/>
        </p:nvSpPr>
        <p:spPr>
          <a:xfrm>
            <a:off x="4023360" y="2496312"/>
            <a:ext cx="73152" cy="73152"/>
          </a:xfrm>
          <a:prstGeom prst="ellipse">
            <a:avLst/>
          </a:prstGeom>
          <a:solidFill>
            <a:srgbClr val="3D5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224528" y="2377440"/>
            <a:ext cx="7571231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 i="0">
                <a:solidFill>
                  <a:srgbClr val="1D1D1F"/>
                </a:solidFill>
                <a:latin typeface="Segoe UI"/>
                <a:ea typeface="微软雅黑"/>
              </a:rPr>
              <a:t>不规则错位叠放，按住即拖、甩出滑到最底、循环浏览；顶部一键切换待办 / 事实</a:t>
            </a:r>
          </a:p>
        </p:txBody>
      </p:sp>
      <p:sp>
        <p:nvSpPr>
          <p:cNvPr id="45" name="Oval 44"/>
          <p:cNvSpPr/>
          <p:nvPr/>
        </p:nvSpPr>
        <p:spPr>
          <a:xfrm>
            <a:off x="4023360" y="2862072"/>
            <a:ext cx="73152" cy="73152"/>
          </a:xfrm>
          <a:prstGeom prst="ellipse">
            <a:avLst/>
          </a:prstGeom>
          <a:solidFill>
            <a:srgbClr val="3D5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224528" y="2743200"/>
            <a:ext cx="7571231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 i="0">
                <a:solidFill>
                  <a:srgbClr val="1D1D1F"/>
                </a:solidFill>
                <a:latin typeface="Segoe UI"/>
                <a:ea typeface="微软雅黑"/>
              </a:rPr>
              <a:t>每张卡：时间、地点、人物、事情；来自哪位熟人一目了然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023360" y="3291840"/>
            <a:ext cx="7772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000" b="1" i="0">
                <a:solidFill>
                  <a:srgbClr val="1D1D1F"/>
                </a:solidFill>
                <a:latin typeface="Segoe UI Semibold"/>
                <a:ea typeface="微软雅黑"/>
              </a:rPr>
              <a:t>实时转写</a:t>
            </a:r>
          </a:p>
        </p:txBody>
      </p:sp>
      <p:sp>
        <p:nvSpPr>
          <p:cNvPr id="48" name="Oval 47"/>
          <p:cNvSpPr/>
          <p:nvPr/>
        </p:nvSpPr>
        <p:spPr>
          <a:xfrm>
            <a:off x="4023360" y="3867911"/>
            <a:ext cx="73152" cy="73152"/>
          </a:xfrm>
          <a:prstGeom prst="ellipse">
            <a:avLst/>
          </a:prstGeom>
          <a:solidFill>
            <a:srgbClr val="3D5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224528" y="3749039"/>
            <a:ext cx="7571231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 i="0">
                <a:solidFill>
                  <a:srgbClr val="1D1D1F"/>
                </a:solidFill>
                <a:latin typeface="Segoe UI"/>
                <a:ea typeface="微软雅黑"/>
              </a:rPr>
              <a:t>按说话人着色；灰色“陌生人”表示没认出；右侧 AI✓ / AI… 标记提炼状态</a:t>
            </a:r>
          </a:p>
        </p:txBody>
      </p:sp>
      <p:sp>
        <p:nvSpPr>
          <p:cNvPr id="50" name="Oval 49"/>
          <p:cNvSpPr/>
          <p:nvPr/>
        </p:nvSpPr>
        <p:spPr>
          <a:xfrm>
            <a:off x="4023360" y="4233672"/>
            <a:ext cx="73152" cy="73152"/>
          </a:xfrm>
          <a:prstGeom prst="ellipse">
            <a:avLst/>
          </a:prstGeom>
          <a:solidFill>
            <a:srgbClr val="3D5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224528" y="4114800"/>
            <a:ext cx="7571231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 i="0">
                <a:solidFill>
                  <a:srgbClr val="1D1D1F"/>
                </a:solidFill>
                <a:latin typeface="Segoe UI"/>
                <a:ea typeface="微软雅黑"/>
              </a:rPr>
              <a:t>点一句话查看这个人的事项（陌生人则命名），长按改这句话的归属</a:t>
            </a:r>
          </a:p>
        </p:txBody>
      </p:sp>
      <p:sp>
        <p:nvSpPr>
          <p:cNvPr id="52" name="Oval 51"/>
          <p:cNvSpPr/>
          <p:nvPr/>
        </p:nvSpPr>
        <p:spPr>
          <a:xfrm>
            <a:off x="4023360" y="4599431"/>
            <a:ext cx="73152" cy="73152"/>
          </a:xfrm>
          <a:prstGeom prst="ellipse">
            <a:avLst/>
          </a:prstGeom>
          <a:solidFill>
            <a:srgbClr val="3D5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224528" y="4480559"/>
            <a:ext cx="7571231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 i="0">
                <a:solidFill>
                  <a:srgbClr val="1D1D1F"/>
                </a:solidFill>
                <a:latin typeface="Segoe UI"/>
                <a:ea typeface="微软雅黑"/>
              </a:rPr>
              <a:t>底部灰色一行是边说边出的实时字幕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023360" y="5029200"/>
            <a:ext cx="7772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000" b="1" i="0">
                <a:solidFill>
                  <a:srgbClr val="1D1D1F"/>
                </a:solidFill>
                <a:latin typeface="Segoe UI Semibold"/>
                <a:ea typeface="微软雅黑"/>
              </a:rPr>
              <a:t>左上 AI 状态  ·  右下「更多」</a:t>
            </a:r>
          </a:p>
        </p:txBody>
      </p:sp>
      <p:sp>
        <p:nvSpPr>
          <p:cNvPr id="55" name="Oval 54"/>
          <p:cNvSpPr/>
          <p:nvPr/>
        </p:nvSpPr>
        <p:spPr>
          <a:xfrm>
            <a:off x="4023360" y="5605272"/>
            <a:ext cx="73152" cy="73152"/>
          </a:xfrm>
          <a:prstGeom prst="ellipse">
            <a:avLst/>
          </a:prstGeom>
          <a:solidFill>
            <a:srgbClr val="3D5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224528" y="5486400"/>
            <a:ext cx="7571231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 i="0">
                <a:solidFill>
                  <a:srgbClr val="1D1D1F"/>
                </a:solidFill>
                <a:latin typeface="Segoe UI"/>
                <a:ea typeface="微软雅黑"/>
              </a:rPr>
              <a:t>点 AI 状态立即把未识别内容交给 AI；「更多」里有实时字幕、截图识别、声纹阈值、眼镜、用户管理、声纹录入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45775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000" b="0" i="0">
                <a:solidFill>
                  <a:srgbClr val="6E6E73"/>
                </a:solidFill>
                <a:latin typeface="Segoe UI"/>
                <a:ea typeface="微软雅黑"/>
              </a:rPr>
              <a:t>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4000" b="1" i="0">
                <a:solidFill>
                  <a:srgbClr val="F5F5F7"/>
                </a:solidFill>
                <a:latin typeface="Segoe UI Semibold"/>
                <a:ea typeface="微软雅黑"/>
              </a:rPr>
              <a:t>两套引擎，一个目的。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53312"/>
            <a:ext cx="1072865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0" i="0">
                <a:solidFill>
                  <a:srgbClr val="A1A1A6"/>
                </a:solidFill>
                <a:latin typeface="Segoe UI"/>
                <a:ea typeface="微软雅黑"/>
              </a:rPr>
              <a:t>边说边出字，整句再精修。全部在手机上完成。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1911644" cy="1737360"/>
          </a:xfrm>
          <a:prstGeom prst="roundRect">
            <a:avLst>
              <a:gd name="adj" fmla="val 9473"/>
            </a:avLst>
          </a:prstGeom>
          <a:solidFill>
            <a:srgbClr val="1C1C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157984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1" i="0">
                <a:solidFill>
                  <a:srgbClr val="3D5AFE"/>
                </a:solidFill>
                <a:latin typeface="Segoe UI Semibold"/>
                <a:ea typeface="微软雅黑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395728"/>
            <a:ext cx="154588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1" i="0">
                <a:solidFill>
                  <a:srgbClr val="F5F5F7"/>
                </a:solidFill>
                <a:latin typeface="Segoe UI Semibold"/>
                <a:ea typeface="微软雅黑"/>
              </a:rPr>
              <a:t>麦克风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761488"/>
            <a:ext cx="1545884" cy="9143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 i="0">
                <a:solidFill>
                  <a:srgbClr val="A1A1A6"/>
                </a:solidFill>
                <a:latin typeface="Segoe UI"/>
                <a:ea typeface="微软雅黑"/>
              </a:rPr>
              <a:t>16 kHz 单声道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 i="0">
                <a:solidFill>
                  <a:srgbClr val="A1A1A6"/>
                </a:solidFill>
                <a:latin typeface="Segoe UI"/>
                <a:ea typeface="微软雅黑"/>
              </a:rPr>
              <a:t>VOICE_RECOGNITION 音源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 i="0">
                <a:solidFill>
                  <a:srgbClr val="A1A1A6"/>
                </a:solidFill>
                <a:latin typeface="Segoe UI"/>
                <a:ea typeface="微软雅黑"/>
              </a:rPr>
              <a:t>每 100 ms 一帧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688884" y="2880360"/>
            <a:ext cx="201168" cy="0"/>
          </a:xfrm>
          <a:prstGeom prst="line">
            <a:avLst/>
          </a:prstGeom>
          <a:ln w="15240">
            <a:solidFill>
              <a:srgbClr val="6E6E7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935772" y="2011680"/>
            <a:ext cx="1911644" cy="1737360"/>
          </a:xfrm>
          <a:prstGeom prst="roundRect">
            <a:avLst>
              <a:gd name="adj" fmla="val 9473"/>
            </a:avLst>
          </a:prstGeom>
          <a:solidFill>
            <a:srgbClr val="1C1C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118652" y="2157984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1" i="0">
                <a:solidFill>
                  <a:srgbClr val="3D5AFE"/>
                </a:solidFill>
                <a:latin typeface="Segoe UI Semibold"/>
                <a:ea typeface="微软雅黑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18652" y="2395728"/>
            <a:ext cx="154588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1" i="0">
                <a:solidFill>
                  <a:srgbClr val="F5F5F7"/>
                </a:solidFill>
                <a:latin typeface="Segoe UI Semibold"/>
                <a:ea typeface="微软雅黑"/>
              </a:rPr>
              <a:t>Silero VAD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18652" y="2761488"/>
            <a:ext cx="1545884" cy="9143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 i="0">
                <a:solidFill>
                  <a:srgbClr val="A1A1A6"/>
                </a:solidFill>
                <a:latin typeface="Segoe UI"/>
                <a:ea typeface="微软雅黑"/>
              </a:rPr>
              <a:t>按句切分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 i="0">
                <a:solidFill>
                  <a:srgbClr val="A1A1A6"/>
                </a:solidFill>
                <a:latin typeface="Segoe UI"/>
                <a:ea typeface="微软雅黑"/>
              </a:rPr>
              <a:t>0.25～20 s 一句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 i="0">
                <a:solidFill>
                  <a:srgbClr val="A1A1A6"/>
                </a:solidFill>
                <a:latin typeface="Segoe UI"/>
                <a:ea typeface="微软雅黑"/>
              </a:rPr>
              <a:t>静音 0.5 s 断句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893137" y="2880360"/>
            <a:ext cx="201168" cy="0"/>
          </a:xfrm>
          <a:prstGeom prst="line">
            <a:avLst/>
          </a:prstGeom>
          <a:ln w="15240">
            <a:solidFill>
              <a:srgbClr val="6E6E7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5140025" y="2011680"/>
            <a:ext cx="1911644" cy="1737360"/>
          </a:xfrm>
          <a:prstGeom prst="roundRect">
            <a:avLst>
              <a:gd name="adj" fmla="val 9473"/>
            </a:avLst>
          </a:prstGeom>
          <a:solidFill>
            <a:srgbClr val="1C1C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22905" y="2157984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1" i="0">
                <a:solidFill>
                  <a:srgbClr val="3D5AFE"/>
                </a:solidFill>
                <a:latin typeface="Segoe UI Semibold"/>
                <a:ea typeface="微软雅黑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22905" y="2395728"/>
            <a:ext cx="154588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1" i="0">
                <a:solidFill>
                  <a:srgbClr val="F5F5F7"/>
                </a:solidFill>
                <a:latin typeface="Segoe UI Semibold"/>
                <a:ea typeface="微软雅黑"/>
              </a:rPr>
              <a:t>流式 Zipformer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22905" y="2761488"/>
            <a:ext cx="1545884" cy="9143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 i="0">
                <a:solidFill>
                  <a:srgbClr val="A1A1A6"/>
                </a:solidFill>
                <a:latin typeface="Segoe UI"/>
                <a:ea typeface="微软雅黑"/>
              </a:rPr>
              <a:t>Transducer 实时字幕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 i="0">
                <a:solidFill>
                  <a:srgbClr val="A1A1A6"/>
                </a:solidFill>
                <a:latin typeface="Segoe UI"/>
                <a:ea typeface="微软雅黑"/>
              </a:rPr>
              <a:t>边说边出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 i="0">
                <a:solidFill>
                  <a:srgbClr val="A1A1A6"/>
                </a:solidFill>
                <a:latin typeface="Segoe UI"/>
                <a:ea typeface="微软雅黑"/>
              </a:rPr>
              <a:t>噪声残留 2 s 自动清除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097389" y="2880360"/>
            <a:ext cx="201168" cy="0"/>
          </a:xfrm>
          <a:prstGeom prst="line">
            <a:avLst/>
          </a:prstGeom>
          <a:ln w="15240">
            <a:solidFill>
              <a:srgbClr val="6E6E7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7344277" y="2011680"/>
            <a:ext cx="1911644" cy="1737360"/>
          </a:xfrm>
          <a:prstGeom prst="roundRect">
            <a:avLst>
              <a:gd name="adj" fmla="val 9473"/>
            </a:avLst>
          </a:prstGeom>
          <a:solidFill>
            <a:srgbClr val="1C1C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527157" y="2157984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1" i="0">
                <a:solidFill>
                  <a:srgbClr val="3D5AFE"/>
                </a:solidFill>
                <a:latin typeface="Segoe UI Semibold"/>
                <a:ea typeface="微软雅黑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27157" y="2395728"/>
            <a:ext cx="154588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1" i="0">
                <a:solidFill>
                  <a:srgbClr val="F5F5F7"/>
                </a:solidFill>
                <a:latin typeface="Segoe UI Semibold"/>
                <a:ea typeface="微软雅黑"/>
              </a:rPr>
              <a:t>Paraformer-zh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27157" y="2761488"/>
            <a:ext cx="1545884" cy="9143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 i="0">
                <a:solidFill>
                  <a:srgbClr val="A1A1A6"/>
                </a:solidFill>
                <a:latin typeface="Segoe UI"/>
                <a:ea typeface="微软雅黑"/>
              </a:rPr>
              <a:t>整句最终识别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 i="0">
                <a:solidFill>
                  <a:srgbClr val="A1A1A6"/>
                </a:solidFill>
                <a:latin typeface="Segoe UI"/>
                <a:ea typeface="微软雅黑"/>
              </a:rPr>
              <a:t>int8 · CPU 2 线程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 i="0">
                <a:solidFill>
                  <a:srgbClr val="A1A1A6"/>
                </a:solidFill>
                <a:latin typeface="Segoe UI"/>
                <a:ea typeface="微软雅黑"/>
              </a:rPr>
              <a:t>以此为准入库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9301642" y="2880360"/>
            <a:ext cx="201168" cy="0"/>
          </a:xfrm>
          <a:prstGeom prst="line">
            <a:avLst/>
          </a:prstGeom>
          <a:ln w="15240">
            <a:solidFill>
              <a:srgbClr val="6E6E7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9548530" y="2011680"/>
            <a:ext cx="1911644" cy="1737360"/>
          </a:xfrm>
          <a:prstGeom prst="roundRect">
            <a:avLst>
              <a:gd name="adj" fmla="val 9473"/>
            </a:avLst>
          </a:prstGeom>
          <a:solidFill>
            <a:srgbClr val="1C1C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731410" y="2157984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1" i="0">
                <a:solidFill>
                  <a:srgbClr val="3D5AFE"/>
                </a:solidFill>
                <a:latin typeface="Segoe UI Semibold"/>
                <a:ea typeface="微软雅黑"/>
              </a:rP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31410" y="2395728"/>
            <a:ext cx="154588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1" i="0">
                <a:solidFill>
                  <a:srgbClr val="F5F5F7"/>
                </a:solidFill>
                <a:latin typeface="Segoe UI Semibold"/>
                <a:ea typeface="微软雅黑"/>
              </a:rPr>
              <a:t>CT-Transformer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31410" y="2761488"/>
            <a:ext cx="1545884" cy="9143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 i="0">
                <a:solidFill>
                  <a:srgbClr val="A1A1A6"/>
                </a:solidFill>
                <a:latin typeface="Segoe UI"/>
                <a:ea typeface="微软雅黑"/>
              </a:rPr>
              <a:t>标点恢复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 i="0">
                <a:solidFill>
                  <a:srgbClr val="A1A1A6"/>
                </a:solidFill>
                <a:latin typeface="Segoe UI"/>
                <a:ea typeface="微软雅黑"/>
              </a:rPr>
              <a:t>过滤为中文 + 数字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 i="0">
                <a:solidFill>
                  <a:srgbClr val="A1A1A6"/>
                </a:solidFill>
                <a:latin typeface="Segoe UI"/>
                <a:ea typeface="微软雅黑"/>
              </a:rPr>
              <a:t>空句直接丢弃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4343400"/>
            <a:ext cx="25603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4000" b="0" i="0">
                <a:solidFill>
                  <a:srgbClr val="F5F5F7"/>
                </a:solidFill>
                <a:latin typeface="Segoe UI Light"/>
                <a:ea typeface="微软雅黑 Light"/>
              </a:rPr>
              <a:t>100%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5074920"/>
            <a:ext cx="2560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0" i="0">
                <a:solidFill>
                  <a:srgbClr val="A1A1A6"/>
                </a:solidFill>
                <a:latin typeface="Segoe UI"/>
                <a:ea typeface="微软雅黑"/>
              </a:rPr>
              <a:t>端侧推理，音频不出手机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29000" y="4343400"/>
            <a:ext cx="25603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4000" b="0" i="0">
                <a:solidFill>
                  <a:srgbClr val="F5F5F7"/>
                </a:solidFill>
                <a:latin typeface="Segoe UI Light"/>
                <a:ea typeface="微软雅黑 Light"/>
              </a:rPr>
              <a:t>int8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429000" y="5074920"/>
            <a:ext cx="2560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0" i="0">
                <a:solidFill>
                  <a:srgbClr val="A1A1A6"/>
                </a:solidFill>
                <a:latin typeface="Segoe UI"/>
                <a:ea typeface="微软雅黑"/>
              </a:rPr>
              <a:t>量化模型，CPU 即可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26480" y="4343400"/>
            <a:ext cx="25603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4000" b="0" i="0">
                <a:solidFill>
                  <a:srgbClr val="F5F5F7"/>
                </a:solidFill>
                <a:latin typeface="Segoe UI Light"/>
                <a:ea typeface="微软雅黑 Light"/>
              </a:rPr>
              <a:t>2 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26480" y="5074920"/>
            <a:ext cx="2560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0" i="0">
                <a:solidFill>
                  <a:srgbClr val="A1A1A6"/>
                </a:solidFill>
                <a:latin typeface="Segoe UI"/>
                <a:ea typeface="微软雅黑"/>
              </a:rPr>
              <a:t>无人声自动清字幕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823960" y="4343400"/>
            <a:ext cx="25603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4000" b="0" i="0">
                <a:solidFill>
                  <a:srgbClr val="F5F5F7"/>
                </a:solidFill>
                <a:latin typeface="Segoe UI Light"/>
                <a:ea typeface="微软雅黑 Light"/>
              </a:rPr>
              <a:t>30 天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823960" y="5074920"/>
            <a:ext cx="2560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0" i="0">
                <a:solidFill>
                  <a:srgbClr val="A1A1A6"/>
                </a:solidFill>
                <a:latin typeface="Segoe UI"/>
                <a:ea typeface="微软雅黑"/>
              </a:rPr>
              <a:t>转写自动清理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45775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000" b="0" i="0">
                <a:solidFill>
                  <a:srgbClr val="86868B"/>
                </a:solidFill>
                <a:latin typeface="Segoe UI"/>
                <a:ea typeface="微软雅黑"/>
              </a:rPr>
              <a:t>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4000" b="1" i="0">
                <a:solidFill>
                  <a:srgbClr val="1D1D1F"/>
                </a:solidFill>
                <a:latin typeface="Segoe UI Semibold"/>
                <a:ea typeface="微软雅黑"/>
              </a:rPr>
              <a:t>它认得出是谁在说话。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53312"/>
            <a:ext cx="1072865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0" i="0">
                <a:solidFill>
                  <a:srgbClr val="6E6E73"/>
                </a:solidFill>
                <a:latin typeface="Segoe UI"/>
                <a:ea typeface="微软雅黑"/>
              </a:rPr>
              <a:t>端侧声纹识别，一次录入，越用越准。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1911644" cy="1737360"/>
          </a:xfrm>
          <a:prstGeom prst="roundRect">
            <a:avLst>
              <a:gd name="adj" fmla="val 9473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157984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1" i="0">
                <a:solidFill>
                  <a:srgbClr val="3D5AFE"/>
                </a:solidFill>
                <a:latin typeface="Segoe UI Semibold"/>
                <a:ea typeface="微软雅黑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395728"/>
            <a:ext cx="154588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1" i="0">
                <a:solidFill>
                  <a:srgbClr val="1D1D1F"/>
                </a:solidFill>
                <a:latin typeface="Segoe UI Semibold"/>
                <a:ea typeface="微软雅黑"/>
              </a:rPr>
              <a:t>录入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761488"/>
            <a:ext cx="1545884" cy="9143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 i="0">
                <a:solidFill>
                  <a:srgbClr val="6E6E73"/>
                </a:solidFill>
                <a:latin typeface="Segoe UI"/>
                <a:ea typeface="微软雅黑"/>
              </a:rPr>
              <a:t>朗读一段约 80 字的短文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 i="0">
                <a:solidFill>
                  <a:srgbClr val="6E6E73"/>
                </a:solidFill>
                <a:latin typeface="Segoe UI"/>
                <a:ea typeface="微软雅黑"/>
              </a:rPr>
              <a:t>跟读实时高亮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 i="0">
                <a:solidFill>
                  <a:srgbClr val="6E6E73"/>
                </a:solidFill>
                <a:latin typeface="Segoe UI"/>
                <a:ea typeface="微软雅黑"/>
              </a:rPr>
              <a:t>容忍错字、漏字、同音字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688884" y="2880360"/>
            <a:ext cx="201168" cy="0"/>
          </a:xfrm>
          <a:prstGeom prst="line">
            <a:avLst/>
          </a:prstGeom>
          <a:ln w="15240">
            <a:solidFill>
              <a:srgbClr val="C7C7C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935772" y="2011680"/>
            <a:ext cx="1911644" cy="1737360"/>
          </a:xfrm>
          <a:prstGeom prst="roundRect">
            <a:avLst>
              <a:gd name="adj" fmla="val 9473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118652" y="2157984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1" i="0">
                <a:solidFill>
                  <a:srgbClr val="3D5AFE"/>
                </a:solidFill>
                <a:latin typeface="Segoe UI Semibold"/>
                <a:ea typeface="微软雅黑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18652" y="2395728"/>
            <a:ext cx="154588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1" i="0">
                <a:solidFill>
                  <a:srgbClr val="1D1D1F"/>
                </a:solidFill>
                <a:latin typeface="Segoe UI Semibold"/>
                <a:ea typeface="微软雅黑"/>
              </a:rPr>
              <a:t>提取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18652" y="2761488"/>
            <a:ext cx="1545884" cy="9143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 i="0">
                <a:solidFill>
                  <a:srgbClr val="6E6E73"/>
                </a:solidFill>
                <a:latin typeface="Segoe UI"/>
                <a:ea typeface="微软雅黑"/>
              </a:rPr>
              <a:t>3D-Speaker ERes2NetV2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 i="0">
                <a:solidFill>
                  <a:srgbClr val="6E6E73"/>
                </a:solidFill>
                <a:latin typeface="Segoe UI"/>
                <a:ea typeface="微软雅黑"/>
              </a:rPr>
              <a:t>≥ 1.5 s 的句子才提取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 i="0">
                <a:solidFill>
                  <a:srgbClr val="6E6E73"/>
                </a:solidFill>
                <a:latin typeface="Segoe UI"/>
                <a:ea typeface="微软雅黑"/>
              </a:rPr>
              <a:t>向量归一化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893137" y="2880360"/>
            <a:ext cx="201168" cy="0"/>
          </a:xfrm>
          <a:prstGeom prst="line">
            <a:avLst/>
          </a:prstGeom>
          <a:ln w="15240">
            <a:solidFill>
              <a:srgbClr val="C7C7C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5140025" y="2011680"/>
            <a:ext cx="1911644" cy="1737360"/>
          </a:xfrm>
          <a:prstGeom prst="roundRect">
            <a:avLst>
              <a:gd name="adj" fmla="val 9473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22905" y="2157984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1" i="0">
                <a:solidFill>
                  <a:srgbClr val="3D5AFE"/>
                </a:solidFill>
                <a:latin typeface="Segoe UI Semibold"/>
                <a:ea typeface="微软雅黑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22905" y="2395728"/>
            <a:ext cx="154588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1" i="0">
                <a:solidFill>
                  <a:srgbClr val="1D1D1F"/>
                </a:solidFill>
                <a:latin typeface="Segoe UI Semibold"/>
                <a:ea typeface="微软雅黑"/>
              </a:rPr>
              <a:t>比对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22905" y="2761488"/>
            <a:ext cx="1545884" cy="9143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 i="0">
                <a:solidFill>
                  <a:srgbClr val="6E6E73"/>
                </a:solidFill>
                <a:latin typeface="Segoe UI"/>
                <a:ea typeface="微软雅黑"/>
              </a:rPr>
              <a:t>余弦相似度检索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 i="0">
                <a:solidFill>
                  <a:srgbClr val="6E6E73"/>
                </a:solidFill>
                <a:latin typeface="Segoe UI"/>
                <a:ea typeface="微软雅黑"/>
              </a:rPr>
              <a:t>阈值默认 0.50，可调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 i="0">
                <a:solidFill>
                  <a:srgbClr val="6E6E73"/>
                </a:solidFill>
                <a:latin typeface="Segoe UI"/>
                <a:ea typeface="微软雅黑"/>
              </a:rPr>
              <a:t>宽松 ↔ 严格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097389" y="2880360"/>
            <a:ext cx="201168" cy="0"/>
          </a:xfrm>
          <a:prstGeom prst="line">
            <a:avLst/>
          </a:prstGeom>
          <a:ln w="15240">
            <a:solidFill>
              <a:srgbClr val="C7C7C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7344277" y="2011680"/>
            <a:ext cx="1911644" cy="1737360"/>
          </a:xfrm>
          <a:prstGeom prst="roundRect">
            <a:avLst>
              <a:gd name="adj" fmla="val 9473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527157" y="2157984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1" i="0">
                <a:solidFill>
                  <a:srgbClr val="3D5AFE"/>
                </a:solidFill>
                <a:latin typeface="Segoe UI Semibold"/>
                <a:ea typeface="微软雅黑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27157" y="2395728"/>
            <a:ext cx="154588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1" i="0">
                <a:solidFill>
                  <a:srgbClr val="1D1D1F"/>
                </a:solidFill>
                <a:latin typeface="Segoe UI Semibold"/>
                <a:ea typeface="微软雅黑"/>
              </a:rPr>
              <a:t>建档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27157" y="2761488"/>
            <a:ext cx="1545884" cy="9143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 i="0">
                <a:solidFill>
                  <a:srgbClr val="6E6E73"/>
                </a:solidFill>
                <a:latin typeface="Segoe UI"/>
                <a:ea typeface="微软雅黑"/>
              </a:rPr>
              <a:t>没匹配上 → “陌生人 N”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 i="0">
                <a:solidFill>
                  <a:srgbClr val="6E6E73"/>
                </a:solidFill>
                <a:latin typeface="Segoe UI"/>
                <a:ea typeface="微软雅黑"/>
              </a:rPr>
              <a:t>自动建档、保留 15 s 声音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 i="0">
                <a:solidFill>
                  <a:srgbClr val="6E6E73"/>
                </a:solidFill>
                <a:latin typeface="Segoe UI"/>
                <a:ea typeface="微软雅黑"/>
              </a:rPr>
              <a:t>可命名 / 关联 / 合并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9301642" y="2880360"/>
            <a:ext cx="201168" cy="0"/>
          </a:xfrm>
          <a:prstGeom prst="line">
            <a:avLst/>
          </a:prstGeom>
          <a:ln w="15240">
            <a:solidFill>
              <a:srgbClr val="C7C7C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9548530" y="2011680"/>
            <a:ext cx="1911644" cy="1737360"/>
          </a:xfrm>
          <a:prstGeom prst="roundRect">
            <a:avLst>
              <a:gd name="adj" fmla="val 9473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731410" y="2157984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1" i="0">
                <a:solidFill>
                  <a:srgbClr val="3D5AFE"/>
                </a:solidFill>
                <a:latin typeface="Segoe UI Semibold"/>
                <a:ea typeface="微软雅黑"/>
              </a:rP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31410" y="2395728"/>
            <a:ext cx="154588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1" i="0">
                <a:solidFill>
                  <a:srgbClr val="1D1D1F"/>
                </a:solidFill>
                <a:latin typeface="Segoe UI Semibold"/>
                <a:ea typeface="微软雅黑"/>
              </a:rPr>
              <a:t>自适应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31410" y="2761488"/>
            <a:ext cx="1545884" cy="9143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 i="0">
                <a:solidFill>
                  <a:srgbClr val="6E6E73"/>
                </a:solidFill>
                <a:latin typeface="Segoe UI"/>
                <a:ea typeface="微软雅黑"/>
              </a:rPr>
              <a:t>≥ 3 s 且高置信度的句子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 i="0">
                <a:solidFill>
                  <a:srgbClr val="6E6E73"/>
                </a:solidFill>
                <a:latin typeface="Segoe UI"/>
                <a:ea typeface="微软雅黑"/>
              </a:rPr>
              <a:t>滚动更新声纹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 i="0">
                <a:solidFill>
                  <a:srgbClr val="6E6E73"/>
                </a:solidFill>
                <a:latin typeface="Segoe UI"/>
                <a:ea typeface="微软雅黑"/>
              </a:rPr>
              <a:t>每人最多 6 条额外声纹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4206240"/>
            <a:ext cx="1072865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000" b="1" i="0">
                <a:solidFill>
                  <a:srgbClr val="1D1D1F"/>
                </a:solidFill>
                <a:latin typeface="Segoe UI Semibold"/>
                <a:ea typeface="微软雅黑"/>
              </a:rPr>
              <a:t>陌生人出现时</a:t>
            </a:r>
          </a:p>
        </p:txBody>
      </p:sp>
      <p:sp>
        <p:nvSpPr>
          <p:cNvPr id="30" name="Oval 29"/>
          <p:cNvSpPr/>
          <p:nvPr/>
        </p:nvSpPr>
        <p:spPr>
          <a:xfrm>
            <a:off x="731520" y="4782312"/>
            <a:ext cx="73152" cy="73152"/>
          </a:xfrm>
          <a:prstGeom prst="ellipse">
            <a:avLst/>
          </a:prstGeom>
          <a:solidFill>
            <a:srgbClr val="3D5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32688" y="4663440"/>
            <a:ext cx="10527487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 i="0">
                <a:solidFill>
                  <a:srgbClr val="1D1D1F"/>
                </a:solidFill>
                <a:latin typeface="Segoe UI"/>
                <a:ea typeface="微软雅黑"/>
              </a:rPr>
              <a:t>在应用里：直接弹出命名窗口，可播放这个人最近的声音帮助辨认，填名字、选颜色或关联到已有的人</a:t>
            </a:r>
          </a:p>
        </p:txBody>
      </p:sp>
      <p:sp>
        <p:nvSpPr>
          <p:cNvPr id="32" name="Oval 31"/>
          <p:cNvSpPr/>
          <p:nvPr/>
        </p:nvSpPr>
        <p:spPr>
          <a:xfrm>
            <a:off x="731520" y="5166359"/>
            <a:ext cx="73152" cy="73152"/>
          </a:xfrm>
          <a:prstGeom prst="ellipse">
            <a:avLst/>
          </a:prstGeom>
          <a:solidFill>
            <a:srgbClr val="3D5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32688" y="5047488"/>
            <a:ext cx="10527487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 i="0">
                <a:solidFill>
                  <a:srgbClr val="1D1D1F"/>
                </a:solidFill>
                <a:latin typeface="Segoe UI"/>
                <a:ea typeface="微软雅黑"/>
              </a:rPr>
              <a:t>不在应用里：灵动岛弹出“以后再说 / 命名”双按钮卡片，回到主界面时再提示</a:t>
            </a:r>
          </a:p>
        </p:txBody>
      </p:sp>
      <p:sp>
        <p:nvSpPr>
          <p:cNvPr id="34" name="Oval 33"/>
          <p:cNvSpPr/>
          <p:nvPr/>
        </p:nvSpPr>
        <p:spPr>
          <a:xfrm>
            <a:off x="731520" y="5550407"/>
            <a:ext cx="73152" cy="73152"/>
          </a:xfrm>
          <a:prstGeom prst="ellipse">
            <a:avLst/>
          </a:prstGeom>
          <a:solidFill>
            <a:srgbClr val="3D5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32688" y="5431536"/>
            <a:ext cx="10527487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 i="0">
                <a:solidFill>
                  <a:srgbClr val="1D1D1F"/>
                </a:solidFill>
                <a:latin typeface="Segoe UI"/>
                <a:ea typeface="微软雅黑"/>
              </a:rPr>
              <a:t>关联到已有的人后，声纹作为额外声纹保留——同一个人压低声音、感冒时也能认出来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45775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000" b="0" i="0">
                <a:solidFill>
                  <a:srgbClr val="6E6E73"/>
                </a:solidFill>
                <a:latin typeface="Segoe UI"/>
                <a:ea typeface="微软雅黑"/>
              </a:rPr>
              <a:t>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4000" b="1" i="0">
                <a:solidFill>
                  <a:srgbClr val="F5F5F7"/>
                </a:solidFill>
                <a:latin typeface="Segoe UI Semibold"/>
                <a:ea typeface="微软雅黑"/>
              </a:rPr>
              <a:t>不是每句话都提醒，只在该提醒的时候。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53312"/>
            <a:ext cx="1072865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0" i="0">
                <a:solidFill>
                  <a:srgbClr val="A1A1A6"/>
                </a:solidFill>
                <a:latin typeface="Segoe UI"/>
                <a:ea typeface="微软雅黑"/>
              </a:rPr>
              <a:t>ConversationManager：以人为单位的会话窗口。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65960"/>
            <a:ext cx="10728655" cy="676656"/>
          </a:xfrm>
          <a:prstGeom prst="roundRect">
            <a:avLst>
              <a:gd name="adj" fmla="val 21621"/>
            </a:avLst>
          </a:prstGeom>
          <a:solidFill>
            <a:srgbClr val="1C1C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965960"/>
            <a:ext cx="1920240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000" b="1" i="0">
                <a:solidFill>
                  <a:srgbClr val="3D5AFE"/>
                </a:solidFill>
                <a:latin typeface="Segoe UI Semibold"/>
                <a:ea typeface="微软雅黑"/>
              </a:rPr>
              <a:t>&gt; 5 分钟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17520" y="1965960"/>
            <a:ext cx="4572000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 i="0">
                <a:solidFill>
                  <a:srgbClr val="F5F5F7"/>
                </a:solidFill>
                <a:latin typeface="Segoe UI"/>
                <a:ea typeface="微软雅黑"/>
              </a:rPr>
              <a:t>某位熟人距上次开口超过 5 分钟再说话，视为新会话开始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0" y="1965960"/>
            <a:ext cx="3657600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0" i="0">
                <a:solidFill>
                  <a:srgbClr val="A1A1A6"/>
                </a:solidFill>
                <a:latin typeface="Segoe UI"/>
                <a:ea typeface="微软雅黑"/>
              </a:rPr>
              <a:t>触发提醒：手机 / 灵动岛 / 眼镜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752344"/>
            <a:ext cx="10728655" cy="676656"/>
          </a:xfrm>
          <a:prstGeom prst="roundRect">
            <a:avLst>
              <a:gd name="adj" fmla="val 21621"/>
            </a:avLst>
          </a:prstGeom>
          <a:solidFill>
            <a:srgbClr val="1C1C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752344"/>
            <a:ext cx="1920240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000" b="1" i="0">
                <a:solidFill>
                  <a:srgbClr val="F5F5F7"/>
                </a:solidFill>
                <a:latin typeface="Segoe UI Semibold"/>
                <a:ea typeface="微软雅黑"/>
              </a:rPr>
              <a:t>每 1 分钟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0" y="2752344"/>
            <a:ext cx="4572000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 i="0">
                <a:solidFill>
                  <a:srgbClr val="F5F5F7"/>
                </a:solidFill>
                <a:latin typeface="Segoe UI"/>
                <a:ea typeface="微软雅黑"/>
              </a:rPr>
              <a:t>会话进行中定时 checkpoint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0" y="2752344"/>
            <a:ext cx="3657600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0" i="0">
                <a:solidFill>
                  <a:srgbClr val="A1A1A6"/>
                </a:solidFill>
                <a:latin typeface="Segoe UI"/>
                <a:ea typeface="微软雅黑"/>
              </a:rPr>
              <a:t>已说的部分先交给 AI，会话继续，不重复提醒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538728"/>
            <a:ext cx="10728655" cy="676656"/>
          </a:xfrm>
          <a:prstGeom prst="roundRect">
            <a:avLst>
              <a:gd name="adj" fmla="val 21621"/>
            </a:avLst>
          </a:prstGeom>
          <a:solidFill>
            <a:srgbClr val="1C1C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3538728"/>
            <a:ext cx="1920240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000" b="1" i="0">
                <a:solidFill>
                  <a:srgbClr val="F5F5F7"/>
                </a:solidFill>
                <a:latin typeface="Segoe UI Semibold"/>
                <a:ea typeface="微软雅黑"/>
              </a:rPr>
              <a:t>− 30 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17520" y="3538728"/>
            <a:ext cx="4572000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 i="0">
                <a:solidFill>
                  <a:srgbClr val="F5F5F7"/>
                </a:solidFill>
                <a:latin typeface="Segoe UI"/>
                <a:ea typeface="微软雅黑"/>
              </a:rPr>
              <a:t>提取时向前多带 30 秒上下文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3538728"/>
            <a:ext cx="3657600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0" i="0">
                <a:solidFill>
                  <a:srgbClr val="A1A1A6"/>
                </a:solidFill>
                <a:latin typeface="Segoe UI"/>
                <a:ea typeface="微软雅黑"/>
              </a:rPr>
              <a:t>覆盖对方开口前你说的那句话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325112"/>
            <a:ext cx="10728655" cy="676656"/>
          </a:xfrm>
          <a:prstGeom prst="roundRect">
            <a:avLst>
              <a:gd name="adj" fmla="val 21621"/>
            </a:avLst>
          </a:prstGeom>
          <a:solidFill>
            <a:srgbClr val="1C1C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4325112"/>
            <a:ext cx="1920240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000" b="1" i="0">
                <a:solidFill>
                  <a:srgbClr val="F5F5F7"/>
                </a:solidFill>
                <a:latin typeface="Segoe UI Semibold"/>
                <a:ea typeface="微软雅黑"/>
              </a:rPr>
              <a:t>5 分钟静默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17520" y="4325112"/>
            <a:ext cx="4572000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 i="0">
                <a:solidFill>
                  <a:srgbClr val="F5F5F7"/>
                </a:solidFill>
                <a:latin typeface="Segoe UI"/>
                <a:ea typeface="微软雅黑"/>
              </a:rPr>
              <a:t>没再听到这个人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80960" y="4325112"/>
            <a:ext cx="3657600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0" i="0">
                <a:solidFill>
                  <a:srgbClr val="A1A1A6"/>
                </a:solidFill>
                <a:latin typeface="Segoe UI"/>
                <a:ea typeface="微软雅黑"/>
              </a:rPr>
              <a:t>会话结束，整段交给 AI 提炼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5111496"/>
            <a:ext cx="10728655" cy="676656"/>
          </a:xfrm>
          <a:prstGeom prst="roundRect">
            <a:avLst>
              <a:gd name="adj" fmla="val 21621"/>
            </a:avLst>
          </a:prstGeom>
          <a:solidFill>
            <a:srgbClr val="1C1C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5111496"/>
            <a:ext cx="1920240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000" b="1" i="0">
                <a:solidFill>
                  <a:srgbClr val="F5F5F7"/>
                </a:solidFill>
                <a:latin typeface="Segoe UI Semibold"/>
                <a:ea typeface="微软雅黑"/>
              </a:rPr>
              <a:t>重启恢复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17520" y="5111496"/>
            <a:ext cx="4572000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 i="0">
                <a:solidFill>
                  <a:srgbClr val="F5F5F7"/>
                </a:solidFill>
                <a:latin typeface="Segoe UI"/>
                <a:ea typeface="微软雅黑"/>
              </a:rPr>
              <a:t>服务重启后恢复 5 分钟内说过话的人的会话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80960" y="5111496"/>
            <a:ext cx="3657600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0" i="0">
                <a:solidFill>
                  <a:srgbClr val="A1A1A6"/>
                </a:solidFill>
                <a:latin typeface="Segoe UI"/>
                <a:ea typeface="微软雅黑"/>
              </a:rPr>
              <a:t>刚重启不会把还在聊的人当成隔了很久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45775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000" b="0" i="0">
                <a:solidFill>
                  <a:srgbClr val="86868B"/>
                </a:solidFill>
                <a:latin typeface="Segoe UI"/>
                <a:ea typeface="微软雅黑"/>
              </a:rPr>
              <a:t>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4000" b="1" i="0">
                <a:solidFill>
                  <a:srgbClr val="1D1D1F"/>
                </a:solidFill>
                <a:latin typeface="Segoe UI Semibold"/>
                <a:ea typeface="微软雅黑"/>
              </a:rPr>
              <a:t>把对话，变成结构化的记忆。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53312"/>
            <a:ext cx="1072865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0" i="0">
                <a:solidFill>
                  <a:srgbClr val="6E6E73"/>
                </a:solidFill>
                <a:latin typeface="Segoe UI"/>
                <a:ea typeface="微软雅黑"/>
              </a:rPr>
              <a:t>大模型只做一件事：找出有后续价值的内容。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65960"/>
            <a:ext cx="5257800" cy="3017520"/>
          </a:xfrm>
          <a:prstGeom prst="roundRect">
            <a:avLst>
              <a:gd name="adj" fmla="val 6666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219456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400" b="1" i="0">
                <a:solidFill>
                  <a:srgbClr val="1D1D1F"/>
                </a:solidFill>
                <a:latin typeface="Segoe UI Semibold"/>
                <a:ea typeface="微软雅黑"/>
              </a:rPr>
              <a:t>待办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69748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0" i="0">
                <a:solidFill>
                  <a:srgbClr val="6E6E73"/>
                </a:solidFill>
                <a:latin typeface="Segoe UI"/>
                <a:ea typeface="微软雅黑"/>
              </a:rPr>
              <a:t>机主或对方答应要做的事、双方的约定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3154680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1" i="0">
                <a:solidFill>
                  <a:srgbClr val="3D5AFE"/>
                </a:solidFill>
                <a:latin typeface="Segoe UI Semibold"/>
                <a:ea typeface="微软雅黑"/>
              </a:rPr>
              <a:t>time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94560" y="3154680"/>
            <a:ext cx="3474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0" i="0">
                <a:solidFill>
                  <a:srgbClr val="1D1D1F"/>
                </a:solidFill>
                <a:latin typeface="Segoe UI"/>
                <a:ea typeface="微软雅黑"/>
              </a:rPr>
              <a:t>时间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3538728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1" i="0">
                <a:solidFill>
                  <a:srgbClr val="3D5AFE"/>
                </a:solidFill>
                <a:latin typeface="Segoe UI Semibold"/>
                <a:ea typeface="微软雅黑"/>
              </a:rPr>
              <a:t>location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4560" y="3538728"/>
            <a:ext cx="3474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0" i="0">
                <a:solidFill>
                  <a:srgbClr val="1D1D1F"/>
                </a:solidFill>
                <a:latin typeface="Segoe UI"/>
                <a:ea typeface="微软雅黑"/>
              </a:rPr>
              <a:t>地点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3922776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1" i="0">
                <a:solidFill>
                  <a:srgbClr val="3D5AFE"/>
                </a:solidFill>
                <a:latin typeface="Segoe UI Semibold"/>
                <a:ea typeface="微软雅黑"/>
              </a:rPr>
              <a:t>people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94560" y="3922776"/>
            <a:ext cx="3474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0" i="0">
                <a:solidFill>
                  <a:srgbClr val="1D1D1F"/>
                </a:solidFill>
                <a:latin typeface="Segoe UI"/>
                <a:ea typeface="微软雅黑"/>
              </a:rPr>
              <a:t>人物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4306824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1" i="0">
                <a:solidFill>
                  <a:srgbClr val="3D5AFE"/>
                </a:solidFill>
                <a:latin typeface="Segoe UI Semibold"/>
                <a:ea typeface="微软雅黑"/>
              </a:rPr>
              <a:t>event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4560" y="4306824"/>
            <a:ext cx="3474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0" i="0">
                <a:solidFill>
                  <a:srgbClr val="1D1D1F"/>
                </a:solidFill>
                <a:latin typeface="Segoe UI"/>
                <a:ea typeface="微软雅黑"/>
              </a:rPr>
              <a:t>要做的事，≤ 40 字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51560" y="4572000"/>
            <a:ext cx="530352" cy="329184"/>
          </a:xfrm>
          <a:prstGeom prst="roundRect">
            <a:avLst>
              <a:gd name="adj" fmla="val 50000"/>
            </a:avLst>
          </a:prstGeom>
          <a:solidFill>
            <a:srgbClr val="E8E8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170431" y="4681728"/>
            <a:ext cx="109728" cy="109728"/>
          </a:xfrm>
          <a:prstGeom prst="ellipse">
            <a:avLst/>
          </a:prstGeom>
          <a:solidFill>
            <a:srgbClr val="3D5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25880" y="4572000"/>
            <a:ext cx="256032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 i="0">
                <a:solidFill>
                  <a:srgbClr val="1D1D1F"/>
                </a:solidFill>
                <a:latin typeface="Segoe UI"/>
                <a:ea typeface="微软雅黑"/>
              </a:rPr>
              <a:t>待办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011680" y="4572000"/>
            <a:ext cx="530352" cy="329184"/>
          </a:xfrm>
          <a:prstGeom prst="roundRect">
            <a:avLst>
              <a:gd name="adj" fmla="val 50000"/>
            </a:avLst>
          </a:prstGeom>
          <a:solidFill>
            <a:srgbClr val="E8E8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130552" y="4681728"/>
            <a:ext cx="109728" cy="109728"/>
          </a:xfrm>
          <a:prstGeom prst="ellipse">
            <a:avLst/>
          </a:prstGeom>
          <a:solidFill>
            <a:srgbClr val="A25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286000" y="4572000"/>
            <a:ext cx="256032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 i="0">
                <a:solidFill>
                  <a:srgbClr val="1D1D1F"/>
                </a:solidFill>
                <a:latin typeface="Segoe UI"/>
                <a:ea typeface="微软雅黑"/>
              </a:rPr>
              <a:t>约定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72200" y="1965960"/>
            <a:ext cx="5257800" cy="3017520"/>
          </a:xfrm>
          <a:prstGeom prst="roundRect">
            <a:avLst>
              <a:gd name="adj" fmla="val 6666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219456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400" b="1" i="0">
                <a:solidFill>
                  <a:srgbClr val="1D1D1F"/>
                </a:solidFill>
                <a:latin typeface="Segoe UI Semibold"/>
                <a:ea typeface="微软雅黑"/>
              </a:rPr>
              <a:t>事实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269748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0" i="0">
                <a:solidFill>
                  <a:srgbClr val="6E6E73"/>
                </a:solidFill>
                <a:latin typeface="Segoe UI"/>
                <a:ea typeface="微软雅黑"/>
              </a:rPr>
              <a:t>对话里透露的、关于这位熟人的事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3154680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1" i="0">
                <a:solidFill>
                  <a:srgbClr val="00C7BE"/>
                </a:solidFill>
                <a:latin typeface="Segoe UI Semibold"/>
                <a:ea typeface="微软雅黑"/>
              </a:rPr>
              <a:t>近况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35240" y="3154680"/>
            <a:ext cx="3474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0" i="0">
                <a:solidFill>
                  <a:srgbClr val="1D1D1F"/>
                </a:solidFill>
                <a:latin typeface="Segoe UI"/>
                <a:ea typeface="微软雅黑"/>
              </a:rPr>
              <a:t>身体状况、工作和家庭的变化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3538728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1" i="0">
                <a:solidFill>
                  <a:srgbClr val="00C7BE"/>
                </a:solidFill>
                <a:latin typeface="Segoe UI Semibold"/>
                <a:ea typeface="微软雅黑"/>
              </a:rPr>
              <a:t>偏好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35240" y="3538728"/>
            <a:ext cx="3474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0" i="0">
                <a:solidFill>
                  <a:srgbClr val="1D1D1F"/>
                </a:solidFill>
                <a:latin typeface="Segoe UI"/>
                <a:ea typeface="微软雅黑"/>
              </a:rPr>
              <a:t>喜好、忌口、习惯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0" y="3922776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1" i="0">
                <a:solidFill>
                  <a:srgbClr val="00C7BE"/>
                </a:solidFill>
                <a:latin typeface="Segoe UI Semibold"/>
                <a:ea typeface="微软雅黑"/>
              </a:rPr>
              <a:t>信息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35240" y="3922776"/>
            <a:ext cx="3474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0" i="0">
                <a:solidFill>
                  <a:srgbClr val="1D1D1F"/>
                </a:solidFill>
                <a:latin typeface="Segoe UI"/>
                <a:ea typeface="微软雅黑"/>
              </a:rPr>
              <a:t>生日、家人、职业等个人信息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92240" y="4306824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1" i="0">
                <a:solidFill>
                  <a:srgbClr val="00C7BE"/>
                </a:solidFill>
                <a:latin typeface="Segoe UI Semibold"/>
                <a:ea typeface="微软雅黑"/>
              </a:rPr>
              <a:t>content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35240" y="4306824"/>
            <a:ext cx="3474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0" i="0">
                <a:solidFill>
                  <a:srgbClr val="1D1D1F"/>
                </a:solidFill>
                <a:latin typeface="Segoe UI"/>
                <a:ea typeface="微软雅黑"/>
              </a:rPr>
              <a:t>一句能单独看懂的话，≤ 40 字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92240" y="4572000"/>
            <a:ext cx="3291840" cy="329184"/>
          </a:xfrm>
          <a:prstGeom prst="roundRect">
            <a:avLst>
              <a:gd name="adj" fmla="val 50000"/>
            </a:avLst>
          </a:prstGeom>
          <a:solidFill>
            <a:srgbClr val="E8E8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611112" y="4681728"/>
            <a:ext cx="109728" cy="109728"/>
          </a:xfrm>
          <a:prstGeom prst="ellipse">
            <a:avLst/>
          </a:prstGeom>
          <a:solidFill>
            <a:srgbClr val="F57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766559" y="4572000"/>
            <a:ext cx="301752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 i="0">
                <a:solidFill>
                  <a:srgbClr val="1D1D1F"/>
                </a:solidFill>
                <a:latin typeface="Segoe UI"/>
                <a:ea typeface="微软雅黑"/>
              </a:rPr>
              <a:t>不再成立 → 自动过期，再记新事实</a:t>
            </a:r>
          </a:p>
        </p:txBody>
      </p:sp>
      <p:sp>
        <p:nvSpPr>
          <p:cNvPr id="36" name="Oval 35"/>
          <p:cNvSpPr/>
          <p:nvPr/>
        </p:nvSpPr>
        <p:spPr>
          <a:xfrm>
            <a:off x="731520" y="5376672"/>
            <a:ext cx="73152" cy="73152"/>
          </a:xfrm>
          <a:prstGeom prst="ellipse">
            <a:avLst/>
          </a:prstGeom>
          <a:solidFill>
            <a:srgbClr val="3D5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32688" y="5257800"/>
            <a:ext cx="1052748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50" b="0" i="0">
                <a:solidFill>
                  <a:srgbClr val="1D1D1F"/>
                </a:solidFill>
                <a:latin typeface="Segoe UI"/>
                <a:ea typeface="微软雅黑"/>
              </a:rPr>
              <a:t>已完成或取消的待办、不再成立的事实，由模型返回 id 自动关闭；已有条目作为上下文送入，避免重复</a:t>
            </a:r>
          </a:p>
        </p:txBody>
      </p:sp>
      <p:sp>
        <p:nvSpPr>
          <p:cNvPr id="38" name="Oval 37"/>
          <p:cNvSpPr/>
          <p:nvPr/>
        </p:nvSpPr>
        <p:spPr>
          <a:xfrm>
            <a:off x="731520" y="5742432"/>
            <a:ext cx="73152" cy="73152"/>
          </a:xfrm>
          <a:prstGeom prst="ellipse">
            <a:avLst/>
          </a:prstGeom>
          <a:solidFill>
            <a:srgbClr val="3D5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32688" y="5623560"/>
            <a:ext cx="1052748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50" b="0" i="0">
                <a:solidFill>
                  <a:srgbClr val="1D1D1F"/>
                </a:solidFill>
                <a:latin typeface="Segoe UI"/>
                <a:ea typeface="微软雅黑"/>
              </a:rPr>
              <a:t>只记有后续价值的内容，寒暄不记；没有要做的事时不硬凑待办；转写错别字按语义理解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45775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000" b="0" i="0">
                <a:solidFill>
                  <a:srgbClr val="6E6E73"/>
                </a:solidFill>
                <a:latin typeface="Segoe UI"/>
                <a:ea typeface="微软雅黑"/>
              </a:rPr>
              <a:t>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4000" b="1" i="0">
                <a:solidFill>
                  <a:srgbClr val="F5F5F7"/>
                </a:solidFill>
                <a:latin typeface="Segoe UI Semibold"/>
                <a:ea typeface="微软雅黑"/>
              </a:rPr>
              <a:t>网络不好？排队就好。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53312"/>
            <a:ext cx="1072865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0" i="0">
                <a:solidFill>
                  <a:srgbClr val="A1A1A6"/>
                </a:solidFill>
                <a:latin typeface="Segoe UI"/>
                <a:ea typeface="微软雅黑"/>
              </a:rPr>
              <a:t>每一段对话都先落库，再逐条交给大模型。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1911644" cy="1737360"/>
          </a:xfrm>
          <a:prstGeom prst="roundRect">
            <a:avLst>
              <a:gd name="adj" fmla="val 9473"/>
            </a:avLst>
          </a:prstGeom>
          <a:solidFill>
            <a:srgbClr val="1C1C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157984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1" i="0">
                <a:solidFill>
                  <a:srgbClr val="3D5AFE"/>
                </a:solidFill>
                <a:latin typeface="Segoe UI Semibold"/>
                <a:ea typeface="微软雅黑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395728"/>
            <a:ext cx="154588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1" i="0">
                <a:solidFill>
                  <a:srgbClr val="F5F5F7"/>
                </a:solidFill>
                <a:latin typeface="Segoe UI Semibold"/>
                <a:ea typeface="微软雅黑"/>
              </a:rPr>
              <a:t>落库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761488"/>
            <a:ext cx="1545884" cy="9143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 i="0">
                <a:solidFill>
                  <a:srgbClr val="A1A1A6"/>
                </a:solidFill>
                <a:latin typeface="Segoe UI"/>
                <a:ea typeface="微软雅黑"/>
              </a:rPr>
              <a:t>待提取块写入数据库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 i="0">
                <a:solidFill>
                  <a:srgbClr val="A1A1A6"/>
                </a:solidFill>
                <a:latin typeface="Segoe UI"/>
                <a:ea typeface="微软雅黑"/>
              </a:rPr>
              <a:t>转写标记为 AI…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 i="0">
                <a:solidFill>
                  <a:srgbClr val="A1A1A6"/>
                </a:solidFill>
                <a:latin typeface="Segoe UI"/>
                <a:ea typeface="微软雅黑"/>
              </a:rPr>
              <a:t>不怕进程被杀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688884" y="2880360"/>
            <a:ext cx="201168" cy="0"/>
          </a:xfrm>
          <a:prstGeom prst="line">
            <a:avLst/>
          </a:prstGeom>
          <a:ln w="15240">
            <a:solidFill>
              <a:srgbClr val="6E6E7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935772" y="2011680"/>
            <a:ext cx="1911644" cy="1737360"/>
          </a:xfrm>
          <a:prstGeom prst="roundRect">
            <a:avLst>
              <a:gd name="adj" fmla="val 9473"/>
            </a:avLst>
          </a:prstGeom>
          <a:solidFill>
            <a:srgbClr val="1C1C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118652" y="2157984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1" i="0">
                <a:solidFill>
                  <a:srgbClr val="3D5AFE"/>
                </a:solidFill>
                <a:latin typeface="Segoe UI Semibold"/>
                <a:ea typeface="微软雅黑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18652" y="2395728"/>
            <a:ext cx="154588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1" i="0">
                <a:solidFill>
                  <a:srgbClr val="F5F5F7"/>
                </a:solidFill>
                <a:latin typeface="Segoe UI Semibold"/>
                <a:ea typeface="微软雅黑"/>
              </a:rPr>
              <a:t>逐条处理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18652" y="2761488"/>
            <a:ext cx="1545884" cy="9143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 i="0">
                <a:solidFill>
                  <a:srgbClr val="A1A1A6"/>
                </a:solidFill>
                <a:latin typeface="Segoe UI"/>
                <a:ea typeface="微软雅黑"/>
              </a:rPr>
              <a:t>单线程串行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 i="0">
                <a:solidFill>
                  <a:srgbClr val="A1A1A6"/>
                </a:solidFill>
                <a:latin typeface="Segoe UI"/>
                <a:ea typeface="微软雅黑"/>
              </a:rPr>
              <a:t>每批 10 条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 i="0">
                <a:solidFill>
                  <a:srgbClr val="A1A1A6"/>
                </a:solidFill>
                <a:latin typeface="Segoe UI"/>
                <a:ea typeface="微软雅黑"/>
              </a:rPr>
              <a:t>成功后标记 AI✓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893137" y="2880360"/>
            <a:ext cx="201168" cy="0"/>
          </a:xfrm>
          <a:prstGeom prst="line">
            <a:avLst/>
          </a:prstGeom>
          <a:ln w="15240">
            <a:solidFill>
              <a:srgbClr val="6E6E7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5140025" y="2011680"/>
            <a:ext cx="1911644" cy="1737360"/>
          </a:xfrm>
          <a:prstGeom prst="roundRect">
            <a:avLst>
              <a:gd name="adj" fmla="val 9473"/>
            </a:avLst>
          </a:prstGeom>
          <a:solidFill>
            <a:srgbClr val="1C1C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22905" y="2157984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1" i="0">
                <a:solidFill>
                  <a:srgbClr val="3D5AFE"/>
                </a:solidFill>
                <a:latin typeface="Segoe UI Semibold"/>
                <a:ea typeface="微软雅黑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22905" y="2395728"/>
            <a:ext cx="154588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1" i="0">
                <a:solidFill>
                  <a:srgbClr val="F5F5F7"/>
                </a:solidFill>
                <a:latin typeface="Segoe UI Semibold"/>
                <a:ea typeface="微软雅黑"/>
              </a:rPr>
              <a:t>网络问题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22905" y="2761488"/>
            <a:ext cx="1545884" cy="9143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 i="0">
                <a:solidFill>
                  <a:srgbClr val="A1A1A6"/>
                </a:solidFill>
                <a:latin typeface="Segoe UI"/>
                <a:ea typeface="微软雅黑"/>
              </a:rPr>
              <a:t>超时 / 限流 / 5xx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 i="0">
                <a:solidFill>
                  <a:srgbClr val="A1A1A6"/>
                </a:solidFill>
                <a:latin typeface="Segoe UI"/>
                <a:ea typeface="微软雅黑"/>
              </a:rPr>
              <a:t>指数退避重试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 i="0">
                <a:solidFill>
                  <a:srgbClr val="A1A1A6"/>
                </a:solidFill>
                <a:latin typeface="Segoe UI"/>
                <a:ea typeface="微软雅黑"/>
              </a:rPr>
              <a:t>5 → 10 → 20 → … → 300 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097389" y="2880360"/>
            <a:ext cx="201168" cy="0"/>
          </a:xfrm>
          <a:prstGeom prst="line">
            <a:avLst/>
          </a:prstGeom>
          <a:ln w="15240">
            <a:solidFill>
              <a:srgbClr val="6E6E7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7344277" y="2011680"/>
            <a:ext cx="1911644" cy="1737360"/>
          </a:xfrm>
          <a:prstGeom prst="roundRect">
            <a:avLst>
              <a:gd name="adj" fmla="val 9473"/>
            </a:avLst>
          </a:prstGeom>
          <a:solidFill>
            <a:srgbClr val="1C1C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527157" y="2157984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1" i="0">
                <a:solidFill>
                  <a:srgbClr val="3D5AFE"/>
                </a:solidFill>
                <a:latin typeface="Segoe UI Semibold"/>
                <a:ea typeface="微软雅黑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27157" y="2395728"/>
            <a:ext cx="154588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1" i="0">
                <a:solidFill>
                  <a:srgbClr val="F5F5F7"/>
                </a:solidFill>
                <a:latin typeface="Segoe UI Semibold"/>
                <a:ea typeface="微软雅黑"/>
              </a:rPr>
              <a:t>被拒绝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27157" y="2761488"/>
            <a:ext cx="1545884" cy="9143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 i="0">
                <a:solidFill>
                  <a:srgbClr val="A1A1A6"/>
                </a:solidFill>
                <a:latin typeface="Segoe UI"/>
                <a:ea typeface="微软雅黑"/>
              </a:rPr>
              <a:t>4xx / 无法解析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 i="0">
                <a:solidFill>
                  <a:srgbClr val="A1A1A6"/>
                </a:solidFill>
                <a:latin typeface="Segoe UI"/>
                <a:ea typeface="微软雅黑"/>
              </a:rPr>
              <a:t>最多尝试 3 次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 i="0">
                <a:solidFill>
                  <a:srgbClr val="A1A1A6"/>
                </a:solidFill>
                <a:latin typeface="Segoe UI"/>
                <a:ea typeface="微软雅黑"/>
              </a:rPr>
              <a:t>之后恢复为未识别，可手动再试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9301642" y="2880360"/>
            <a:ext cx="201168" cy="0"/>
          </a:xfrm>
          <a:prstGeom prst="line">
            <a:avLst/>
          </a:prstGeom>
          <a:ln w="15240">
            <a:solidFill>
              <a:srgbClr val="6E6E7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9548530" y="2011680"/>
            <a:ext cx="1911644" cy="1737360"/>
          </a:xfrm>
          <a:prstGeom prst="roundRect">
            <a:avLst>
              <a:gd name="adj" fmla="val 9473"/>
            </a:avLst>
          </a:prstGeom>
          <a:solidFill>
            <a:srgbClr val="1C1C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731410" y="2157984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1" i="0">
                <a:solidFill>
                  <a:srgbClr val="3D5AFE"/>
                </a:solidFill>
                <a:latin typeface="Segoe UI Semibold"/>
                <a:ea typeface="微软雅黑"/>
              </a:rP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31410" y="2395728"/>
            <a:ext cx="154588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1" i="0">
                <a:solidFill>
                  <a:srgbClr val="F5F5F7"/>
                </a:solidFill>
                <a:latin typeface="Segoe UI Semibold"/>
                <a:ea typeface="微软雅黑"/>
              </a:rPr>
              <a:t>网络恢复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31410" y="2761488"/>
            <a:ext cx="1545884" cy="9143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 i="0">
                <a:solidFill>
                  <a:srgbClr val="A1A1A6"/>
                </a:solidFill>
                <a:latin typeface="Segoe UI"/>
                <a:ea typeface="微软雅黑"/>
              </a:rPr>
              <a:t>监听默认网络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 i="0">
                <a:solidFill>
                  <a:srgbClr val="A1A1A6"/>
                </a:solidFill>
                <a:latin typeface="Segoe UI"/>
                <a:ea typeface="微软雅黑"/>
              </a:rPr>
              <a:t>联网立即继续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 i="0">
                <a:solidFill>
                  <a:srgbClr val="A1A1A6"/>
                </a:solidFill>
                <a:latin typeface="Segoe UI"/>
                <a:ea typeface="微软雅黑"/>
              </a:rPr>
              <a:t>灵动岛显示“AI 异常 / 重试中”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4206240"/>
            <a:ext cx="1072865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000" b="1" i="0">
                <a:solidFill>
                  <a:srgbClr val="F5F5F7"/>
                </a:solidFill>
                <a:latin typeface="Segoe UI Semibold"/>
                <a:ea typeface="微软雅黑"/>
              </a:rPr>
              <a:t>状态随时可见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31520" y="4754880"/>
            <a:ext cx="1234440" cy="329184"/>
          </a:xfrm>
          <a:prstGeom prst="roundRect">
            <a:avLst>
              <a:gd name="adj" fmla="val 50000"/>
            </a:avLst>
          </a:prstGeom>
          <a:solidFill>
            <a:srgbClr val="2C2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50392" y="4864608"/>
            <a:ext cx="109728" cy="109728"/>
          </a:xfrm>
          <a:prstGeom prst="ellipse">
            <a:avLst/>
          </a:prstGeom>
          <a:solidFill>
            <a:srgbClr val="43A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05840" y="4754880"/>
            <a:ext cx="96012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0" i="0">
                <a:solidFill>
                  <a:srgbClr val="F5F5F7"/>
                </a:solidFill>
                <a:latin typeface="Segoe UI"/>
                <a:ea typeface="微软雅黑"/>
              </a:rPr>
              <a:t>AI 就绪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148840" y="4754880"/>
            <a:ext cx="2633472" cy="329184"/>
          </a:xfrm>
          <a:prstGeom prst="roundRect">
            <a:avLst>
              <a:gd name="adj" fmla="val 50000"/>
            </a:avLst>
          </a:prstGeom>
          <a:solidFill>
            <a:srgbClr val="2C2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2267712" y="4864608"/>
            <a:ext cx="109728" cy="109728"/>
          </a:xfrm>
          <a:prstGeom prst="ellipse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423160" y="4754880"/>
            <a:ext cx="2359152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0" i="0">
                <a:solidFill>
                  <a:srgbClr val="F5F5F7"/>
                </a:solidFill>
                <a:latin typeface="Segoe UI"/>
                <a:ea typeface="微软雅黑"/>
              </a:rPr>
              <a:t>AI 识别中 · 剩 3 块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965192" y="4754880"/>
            <a:ext cx="4187952" cy="329184"/>
          </a:xfrm>
          <a:prstGeom prst="roundRect">
            <a:avLst>
              <a:gd name="adj" fmla="val 50000"/>
            </a:avLst>
          </a:prstGeom>
          <a:solidFill>
            <a:srgbClr val="2C2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5084064" y="4864608"/>
            <a:ext cx="109728" cy="109728"/>
          </a:xfrm>
          <a:prstGeom prst="ellipse">
            <a:avLst/>
          </a:prstGeom>
          <a:solidFill>
            <a:srgbClr val="F57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239512" y="4754880"/>
            <a:ext cx="3913632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0" i="0">
                <a:solidFill>
                  <a:srgbClr val="F5F5F7"/>
                </a:solidFill>
                <a:latin typeface="Segoe UI"/>
                <a:ea typeface="微软雅黑"/>
              </a:rPr>
              <a:t>AI 连不上，20 秒后重试 · 待识别 2 块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336024" y="4754880"/>
            <a:ext cx="3721608" cy="329184"/>
          </a:xfrm>
          <a:prstGeom prst="roundRect">
            <a:avLst>
              <a:gd name="adj" fmla="val 50000"/>
            </a:avLst>
          </a:prstGeom>
          <a:solidFill>
            <a:srgbClr val="2C2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9454896" y="4864608"/>
            <a:ext cx="109728" cy="109728"/>
          </a:xfrm>
          <a:prstGeom prst="ellipse">
            <a:avLst/>
          </a:prstGeom>
          <a:solidFill>
            <a:srgbClr val="6E6E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610344" y="4754880"/>
            <a:ext cx="3447288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0" i="0">
                <a:solidFill>
                  <a:srgbClr val="F5F5F7"/>
                </a:solidFill>
                <a:latin typeface="Segoe UI"/>
                <a:ea typeface="微软雅黑"/>
              </a:rPr>
              <a:t>无网络，联网后自动识别 · 待识别 2 块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3240512" y="4754880"/>
            <a:ext cx="2167128" cy="329184"/>
          </a:xfrm>
          <a:prstGeom prst="roundRect">
            <a:avLst>
              <a:gd name="adj" fmla="val 50000"/>
            </a:avLst>
          </a:prstGeom>
          <a:solidFill>
            <a:srgbClr val="2C2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13359384" y="4864608"/>
            <a:ext cx="109728" cy="109728"/>
          </a:xfrm>
          <a:prstGeom prst="ellipse">
            <a:avLst/>
          </a:prstGeom>
          <a:solidFill>
            <a:srgbClr val="E539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3514832" y="4754880"/>
            <a:ext cx="1892808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0" i="0">
                <a:solidFill>
                  <a:srgbClr val="F5F5F7"/>
                </a:solidFill>
                <a:latin typeface="Segoe UI"/>
                <a:ea typeface="微软雅黑"/>
              </a:rPr>
              <a:t>AI 出错：未配置密钥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31520" y="5349240"/>
            <a:ext cx="1072865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50" b="0" i="0">
                <a:solidFill>
                  <a:srgbClr val="A1A1A6"/>
                </a:solidFill>
                <a:latin typeface="Segoe UI"/>
                <a:ea typeface="微软雅黑"/>
              </a:rPr>
              <a:t>主界面左上角与灵动岛同步显示；连续失败两次以上才弹卡片，偶发失败不打扰。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45775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000" b="0" i="0">
                <a:solidFill>
                  <a:srgbClr val="86868B"/>
                </a:solidFill>
                <a:latin typeface="Segoe UI"/>
                <a:ea typeface="微软雅黑"/>
              </a:rPr>
              <a:t>17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4000" b="1" i="0">
                <a:solidFill>
                  <a:srgbClr val="1D1D1F"/>
                </a:solidFill>
                <a:latin typeface="Segoe UI Semibold"/>
                <a:ea typeface="微软雅黑"/>
              </a:rPr>
              <a:t>聊天截图，也是记忆。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53312"/>
            <a:ext cx="1072865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0" i="0">
                <a:solidFill>
                  <a:srgbClr val="6E6E73"/>
                </a:solidFill>
                <a:latin typeface="Segoe UI"/>
                <a:ea typeface="微软雅黑"/>
              </a:rPr>
              <a:t>截一张微信 / QQ / 飞书 / 钉钉的聊天界面，剩下的交给它。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1911644" cy="1737360"/>
          </a:xfrm>
          <a:prstGeom prst="roundRect">
            <a:avLst>
              <a:gd name="adj" fmla="val 9473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157984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1" i="0">
                <a:solidFill>
                  <a:srgbClr val="3D5AFE"/>
                </a:solidFill>
                <a:latin typeface="Segoe UI Semibold"/>
                <a:ea typeface="微软雅黑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395728"/>
            <a:ext cx="154588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1" i="0">
                <a:solidFill>
                  <a:srgbClr val="1D1D1F"/>
                </a:solidFill>
                <a:latin typeface="Segoe UI Semibold"/>
                <a:ea typeface="微软雅黑"/>
              </a:rPr>
              <a:t>截图监听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761488"/>
            <a:ext cx="1545884" cy="9143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 i="0">
                <a:solidFill>
                  <a:srgbClr val="6E6E73"/>
                </a:solidFill>
                <a:latin typeface="Segoe UI"/>
                <a:ea typeface="微软雅黑"/>
              </a:rPr>
              <a:t>MediaStore 变更通知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 i="0">
                <a:solidFill>
                  <a:srgbClr val="6E6E73"/>
                </a:solidFill>
                <a:latin typeface="Segoe UI"/>
                <a:ea typeface="微软雅黑"/>
              </a:rPr>
              <a:t>按 _id 递增只处理新截图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 i="0">
                <a:solidFill>
                  <a:srgbClr val="6E6E73"/>
                </a:solidFill>
                <a:latin typeface="Segoe UI"/>
                <a:ea typeface="微软雅黑"/>
              </a:rPr>
              <a:t>文件名识别来源应用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688884" y="2880360"/>
            <a:ext cx="201168" cy="0"/>
          </a:xfrm>
          <a:prstGeom prst="line">
            <a:avLst/>
          </a:prstGeom>
          <a:ln w="15240">
            <a:solidFill>
              <a:srgbClr val="C7C7C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935772" y="2011680"/>
            <a:ext cx="1911644" cy="1737360"/>
          </a:xfrm>
          <a:prstGeom prst="roundRect">
            <a:avLst>
              <a:gd name="adj" fmla="val 9473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118652" y="2157984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1" i="0">
                <a:solidFill>
                  <a:srgbClr val="3D5AFE"/>
                </a:solidFill>
                <a:latin typeface="Segoe UI Semibold"/>
                <a:ea typeface="微软雅黑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18652" y="2395728"/>
            <a:ext cx="154588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1" i="0">
                <a:solidFill>
                  <a:srgbClr val="1D1D1F"/>
                </a:solidFill>
                <a:latin typeface="Segoe UI Semibold"/>
                <a:ea typeface="微软雅黑"/>
              </a:rPr>
              <a:t>端侧 OCR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18652" y="2761488"/>
            <a:ext cx="1545884" cy="9143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 i="0">
                <a:solidFill>
                  <a:srgbClr val="6E6E73"/>
                </a:solidFill>
                <a:latin typeface="Segoe UI"/>
                <a:ea typeface="微软雅黑"/>
              </a:rPr>
              <a:t>PP-OCRv6 检测 + 识别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 i="0">
                <a:solidFill>
                  <a:srgbClr val="6E6E73"/>
                </a:solidFill>
                <a:latin typeface="Segoe UI"/>
                <a:ea typeface="微软雅黑"/>
              </a:rPr>
              <a:t>长截图纵向分段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 i="0">
                <a:solidFill>
                  <a:srgbClr val="6E6E73"/>
                </a:solidFill>
                <a:latin typeface="Segoe UI"/>
                <a:ea typeface="微软雅黑"/>
              </a:rPr>
              <a:t>输出 [左]/[右]/[中] 版式文本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893137" y="2880360"/>
            <a:ext cx="201168" cy="0"/>
          </a:xfrm>
          <a:prstGeom prst="line">
            <a:avLst/>
          </a:prstGeom>
          <a:ln w="15240">
            <a:solidFill>
              <a:srgbClr val="C7C7C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5140025" y="2011680"/>
            <a:ext cx="1911644" cy="1737360"/>
          </a:xfrm>
          <a:prstGeom prst="roundRect">
            <a:avLst>
              <a:gd name="adj" fmla="val 9473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22905" y="2157984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1" i="0">
                <a:solidFill>
                  <a:srgbClr val="3D5AFE"/>
                </a:solidFill>
                <a:latin typeface="Segoe UI Semibold"/>
                <a:ea typeface="微软雅黑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22905" y="2395728"/>
            <a:ext cx="154588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1" i="0">
                <a:solidFill>
                  <a:srgbClr val="1D1D1F"/>
                </a:solidFill>
                <a:latin typeface="Segoe UI Semibold"/>
                <a:ea typeface="微软雅黑"/>
              </a:rPr>
              <a:t>整理对话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22905" y="2761488"/>
            <a:ext cx="1545884" cy="9143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 i="0">
                <a:solidFill>
                  <a:srgbClr val="6E6E73"/>
                </a:solidFill>
                <a:latin typeface="Segoe UI"/>
                <a:ea typeface="微软雅黑"/>
              </a:rPr>
              <a:t>大模型按版式还原对话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 i="0">
                <a:solidFill>
                  <a:srgbClr val="6E6E73"/>
                </a:solidFill>
                <a:latin typeface="Segoe UI"/>
                <a:ea typeface="微软雅黑"/>
              </a:rPr>
              <a:t>右 = 机主，左 = 对方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 i="0">
                <a:solidFill>
                  <a:srgbClr val="6E6E73"/>
                </a:solidFill>
                <a:latin typeface="Segoe UI"/>
                <a:ea typeface="微软雅黑"/>
              </a:rPr>
              <a:t>去掉时间戳和系统提示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097389" y="2880360"/>
            <a:ext cx="201168" cy="0"/>
          </a:xfrm>
          <a:prstGeom prst="line">
            <a:avLst/>
          </a:prstGeom>
          <a:ln w="15240">
            <a:solidFill>
              <a:srgbClr val="C7C7C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7344277" y="2011680"/>
            <a:ext cx="1911644" cy="1737360"/>
          </a:xfrm>
          <a:prstGeom prst="roundRect">
            <a:avLst>
              <a:gd name="adj" fmla="val 9473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527157" y="2157984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1" i="0">
                <a:solidFill>
                  <a:srgbClr val="3D5AFE"/>
                </a:solidFill>
                <a:latin typeface="Segoe UI Semibold"/>
                <a:ea typeface="微软雅黑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27157" y="2395728"/>
            <a:ext cx="154588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1" i="0">
                <a:solidFill>
                  <a:srgbClr val="1D1D1F"/>
                </a:solidFill>
                <a:latin typeface="Segoe UI Semibold"/>
                <a:ea typeface="微软雅黑"/>
              </a:rPr>
              <a:t>昵称对应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27157" y="2761488"/>
            <a:ext cx="1545884" cy="9143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 i="0">
                <a:solidFill>
                  <a:srgbClr val="6E6E73"/>
                </a:solidFill>
                <a:latin typeface="Segoe UI"/>
                <a:ea typeface="微软雅黑"/>
              </a:rPr>
              <a:t>指定过的 → 自动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 i="0">
                <a:solidFill>
                  <a:srgbClr val="6E6E73"/>
                </a:solidFill>
                <a:latin typeface="Segoe UI"/>
                <a:ea typeface="微软雅黑"/>
              </a:rPr>
              <a:t>同名 → 自动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 i="0">
                <a:solidFill>
                  <a:srgbClr val="6E6E73"/>
                </a:solidFill>
                <a:latin typeface="Segoe UI"/>
                <a:ea typeface="微软雅黑"/>
              </a:rPr>
              <a:t>相似 → 预选推荐，其余询问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9301642" y="2880360"/>
            <a:ext cx="201168" cy="0"/>
          </a:xfrm>
          <a:prstGeom prst="line">
            <a:avLst/>
          </a:prstGeom>
          <a:ln w="15240">
            <a:solidFill>
              <a:srgbClr val="C7C7C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9548530" y="2011680"/>
            <a:ext cx="1911644" cy="1737360"/>
          </a:xfrm>
          <a:prstGeom prst="roundRect">
            <a:avLst>
              <a:gd name="adj" fmla="val 9473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731410" y="2157984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1" i="0">
                <a:solidFill>
                  <a:srgbClr val="3D5AFE"/>
                </a:solidFill>
                <a:latin typeface="Segoe UI Semibold"/>
                <a:ea typeface="微软雅黑"/>
              </a:rP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31410" y="2395728"/>
            <a:ext cx="154588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1" i="0">
                <a:solidFill>
                  <a:srgbClr val="1D1D1F"/>
                </a:solidFill>
                <a:latin typeface="Segoe UI Semibold"/>
                <a:ea typeface="微软雅黑"/>
              </a:rPr>
              <a:t>提炼事项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31410" y="2761488"/>
            <a:ext cx="1545884" cy="9143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 i="0">
                <a:solidFill>
                  <a:srgbClr val="6E6E73"/>
                </a:solidFill>
                <a:latin typeface="Segoe UI"/>
                <a:ea typeface="微软雅黑"/>
              </a:rPr>
              <a:t>按每个对应到的人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 i="0">
                <a:solidFill>
                  <a:srgbClr val="6E6E73"/>
                </a:solidFill>
                <a:latin typeface="Segoe UI"/>
                <a:ea typeface="微软雅黑"/>
              </a:rPr>
              <a:t>分别提取待办与事实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 i="0">
                <a:solidFill>
                  <a:srgbClr val="6E6E73"/>
                </a:solidFill>
                <a:latin typeface="Segoe UI"/>
                <a:ea typeface="微软雅黑"/>
              </a:rPr>
              <a:t>进度在灵动岛逐步显示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4206240"/>
            <a:ext cx="1072865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000" b="1" i="0">
                <a:solidFill>
                  <a:srgbClr val="1D1D1F"/>
                </a:solidFill>
                <a:latin typeface="Segoe UI Semibold"/>
                <a:ea typeface="微软雅黑"/>
              </a:rPr>
              <a:t>为什么要先做版式</a:t>
            </a:r>
          </a:p>
        </p:txBody>
      </p:sp>
      <p:sp>
        <p:nvSpPr>
          <p:cNvPr id="30" name="Oval 29"/>
          <p:cNvSpPr/>
          <p:nvPr/>
        </p:nvSpPr>
        <p:spPr>
          <a:xfrm>
            <a:off x="731520" y="4782312"/>
            <a:ext cx="73152" cy="73152"/>
          </a:xfrm>
          <a:prstGeom prst="ellipse">
            <a:avLst/>
          </a:prstGeom>
          <a:solidFill>
            <a:srgbClr val="3D5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32688" y="4663440"/>
            <a:ext cx="10527487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 i="0">
                <a:solidFill>
                  <a:srgbClr val="1D1D1F"/>
                </a:solidFill>
                <a:latin typeface="Segoe UI"/>
                <a:ea typeface="微软雅黑"/>
              </a:rPr>
              <a:t>OCR 丢掉了气泡的左右排版，而“谁说的”恰恰藏在排版里：靠右是自己，靠左是对方</a:t>
            </a:r>
          </a:p>
        </p:txBody>
      </p:sp>
      <p:sp>
        <p:nvSpPr>
          <p:cNvPr id="32" name="Oval 31"/>
          <p:cNvSpPr/>
          <p:nvPr/>
        </p:nvSpPr>
        <p:spPr>
          <a:xfrm>
            <a:off x="731520" y="5166359"/>
            <a:ext cx="73152" cy="73152"/>
          </a:xfrm>
          <a:prstGeom prst="ellipse">
            <a:avLst/>
          </a:prstGeom>
          <a:solidFill>
            <a:srgbClr val="3D5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32688" y="5047488"/>
            <a:ext cx="10527487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 i="0">
                <a:solidFill>
                  <a:srgbClr val="1D1D1F"/>
                </a:solidFill>
                <a:latin typeface="Segoe UI"/>
                <a:ea typeface="微软雅黑"/>
              </a:rPr>
              <a:t>以“一条消息”为单位判断左右，多行气泡最后一行短也不会被误判成居中；先从整张图学出左右对齐列再兜底</a:t>
            </a:r>
          </a:p>
        </p:txBody>
      </p:sp>
      <p:sp>
        <p:nvSpPr>
          <p:cNvPr id="34" name="Oval 33"/>
          <p:cNvSpPr/>
          <p:nvPr/>
        </p:nvSpPr>
        <p:spPr>
          <a:xfrm>
            <a:off x="731520" y="5550407"/>
            <a:ext cx="73152" cy="73152"/>
          </a:xfrm>
          <a:prstGeom prst="ellipse">
            <a:avLst/>
          </a:prstGeom>
          <a:solidFill>
            <a:srgbClr val="3D5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32688" y="5431536"/>
            <a:ext cx="10527487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 i="0">
                <a:solidFill>
                  <a:srgbClr val="1D1D1F"/>
                </a:solidFill>
                <a:latin typeface="Segoe UI"/>
                <a:ea typeface="微软雅黑"/>
              </a:rPr>
              <a:t>OCR 模型约 140 MB 内存，队列空闲 60 秒后自动释放，下次 0.3 秒重新加载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45775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000" b="0" i="0">
                <a:solidFill>
                  <a:srgbClr val="6E6E73"/>
                </a:solidFill>
                <a:latin typeface="Segoe UI"/>
                <a:ea typeface="微软雅黑"/>
              </a:rPr>
              <a:t>18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4000" b="1" i="0">
                <a:solidFill>
                  <a:srgbClr val="F5F5F7"/>
                </a:solidFill>
                <a:latin typeface="Segoe UI Semibold"/>
                <a:ea typeface="微软雅黑"/>
              </a:rPr>
              <a:t>系统级的实况通知。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53312"/>
            <a:ext cx="1072865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0" i="0">
                <a:solidFill>
                  <a:srgbClr val="A1A1A6"/>
                </a:solidFill>
                <a:latin typeface="Segoe UI"/>
                <a:ea typeface="微软雅黑"/>
              </a:rPr>
              <a:t>灵动岛不是弹窗，是常驻的状态与可操作的卡片。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20240"/>
            <a:ext cx="2743200" cy="566928"/>
          </a:xfrm>
          <a:prstGeom prst="roundRect">
            <a:avLst>
              <a:gd name="adj" fmla="val 50000"/>
            </a:avLst>
          </a:prstGeom>
          <a:solidFill>
            <a:srgbClr val="0B0B0C"/>
          </a:solidFill>
          <a:ln w="9525">
            <a:solidFill>
              <a:srgbClr val="2C2C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14400" y="2093976"/>
            <a:ext cx="219456" cy="219456"/>
          </a:xfrm>
          <a:prstGeom prst="ellipse">
            <a:avLst/>
          </a:prstGeom>
          <a:solidFill>
            <a:srgbClr val="E539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43584" y="1993392"/>
            <a:ext cx="16459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 Semibold"/>
                <a:ea typeface="微软雅黑"/>
              </a:rPr>
              <a:t>录音中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43584" y="2221992"/>
            <a:ext cx="16459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00" b="0" i="0">
                <a:solidFill>
                  <a:srgbClr val="A1A1A6"/>
                </a:solidFill>
                <a:latin typeface="Segoe UI"/>
                <a:ea typeface="微软雅黑"/>
              </a:rPr>
              <a:t>李四 · 下周三下午三点来公司开会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68879" y="1920240"/>
            <a:ext cx="82296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900" b="1" i="0">
                <a:solidFill>
                  <a:srgbClr val="E53935"/>
                </a:solidFill>
                <a:latin typeface="Segoe UI Semibold"/>
                <a:ea typeface="微软雅黑"/>
              </a:rPr>
              <a:t>02:14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1938528"/>
            <a:ext cx="23774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 i="0">
                <a:solidFill>
                  <a:srgbClr val="A1A1A6"/>
                </a:solidFill>
                <a:latin typeface="Segoe UI"/>
                <a:ea typeface="微软雅黑"/>
              </a:rPr>
              <a:t>常驻胶囊：显示当前说话人，兼作前台服务通知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920240"/>
            <a:ext cx="2743200" cy="566928"/>
          </a:xfrm>
          <a:prstGeom prst="roundRect">
            <a:avLst>
              <a:gd name="adj" fmla="val 50000"/>
            </a:avLst>
          </a:prstGeom>
          <a:solidFill>
            <a:srgbClr val="0B0B0C"/>
          </a:solidFill>
          <a:ln w="9525">
            <a:solidFill>
              <a:srgbClr val="2C2C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55080" y="2093976"/>
            <a:ext cx="219456" cy="219456"/>
          </a:xfrm>
          <a:prstGeom prst="ellipse">
            <a:avLst/>
          </a:prstGeom>
          <a:solidFill>
            <a:srgbClr val="FB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84264" y="1993392"/>
            <a:ext cx="16459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 Semibold"/>
                <a:ea typeface="微软雅黑"/>
              </a:rPr>
              <a:t>李四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84264" y="2221992"/>
            <a:ext cx="16459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00" b="0" i="0">
                <a:solidFill>
                  <a:srgbClr val="A1A1A6"/>
                </a:solidFill>
                <a:latin typeface="Segoe UI"/>
                <a:ea typeface="微软雅黑"/>
              </a:rPr>
              <a:t>3 项事项 · 带合同 · 不吃火锅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09560" y="1920240"/>
            <a:ext cx="82296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900" b="1" i="0">
                <a:solidFill>
                  <a:srgbClr val="FB8C00"/>
                </a:solidFill>
                <a:latin typeface="Segoe UI Semibold"/>
                <a:ea typeface="微软雅黑"/>
              </a:rPr>
              <a:t>查看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98280" y="1938528"/>
            <a:ext cx="23774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 i="0">
                <a:solidFill>
                  <a:srgbClr val="A1A1A6"/>
                </a:solidFill>
                <a:latin typeface="Segoe UI"/>
                <a:ea typeface="微软雅黑"/>
              </a:rPr>
              <a:t>熟人提醒：不在应用里时弹中卡，点“查看”回到应用全屏看卡片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2926080"/>
            <a:ext cx="2743200" cy="566928"/>
          </a:xfrm>
          <a:prstGeom prst="roundRect">
            <a:avLst>
              <a:gd name="adj" fmla="val 50000"/>
            </a:avLst>
          </a:prstGeom>
          <a:solidFill>
            <a:srgbClr val="0B0B0C"/>
          </a:solidFill>
          <a:ln w="9525">
            <a:solidFill>
              <a:srgbClr val="2C2C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14400" y="3099816"/>
            <a:ext cx="219456" cy="219456"/>
          </a:xfrm>
          <a:prstGeom prst="ellipse">
            <a:avLst/>
          </a:prstGeom>
          <a:solidFill>
            <a:srgbClr val="8E24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43584" y="2999232"/>
            <a:ext cx="16459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 Semibold"/>
                <a:ea typeface="微软雅黑"/>
              </a:rPr>
              <a:t>新声音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43584" y="3227832"/>
            <a:ext cx="16459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00" b="0" i="0">
                <a:solidFill>
                  <a:srgbClr val="A1A1A6"/>
                </a:solidFill>
                <a:latin typeface="Segoe UI"/>
                <a:ea typeface="微软雅黑"/>
              </a:rPr>
              <a:t>待命名 · “你们会议室订好了吗？”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68879" y="2926080"/>
            <a:ext cx="82296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900" b="1" i="0">
                <a:solidFill>
                  <a:srgbClr val="8E24AA"/>
                </a:solidFill>
                <a:latin typeface="Segoe UI Semibold"/>
                <a:ea typeface="微软雅黑"/>
              </a:rPr>
              <a:t>命名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2944368"/>
            <a:ext cx="23774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 i="0">
                <a:solidFill>
                  <a:srgbClr val="A1A1A6"/>
                </a:solidFill>
                <a:latin typeface="Segoe UI"/>
                <a:ea typeface="微软雅黑"/>
              </a:rPr>
              <a:t>陌生人：双按钮“以后再说 / 命名”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72200" y="2926080"/>
            <a:ext cx="2743200" cy="566928"/>
          </a:xfrm>
          <a:prstGeom prst="roundRect">
            <a:avLst>
              <a:gd name="adj" fmla="val 50000"/>
            </a:avLst>
          </a:prstGeom>
          <a:solidFill>
            <a:srgbClr val="0B0B0C"/>
          </a:solidFill>
          <a:ln w="9525">
            <a:solidFill>
              <a:srgbClr val="2C2C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355080" y="3099816"/>
            <a:ext cx="219456" cy="219456"/>
          </a:xfrm>
          <a:prstGeom prst="ellipse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84264" y="2999232"/>
            <a:ext cx="16459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 Semibold"/>
                <a:ea typeface="微软雅黑"/>
              </a:rPr>
              <a:t>截图识别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84264" y="3227832"/>
            <a:ext cx="16459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00" b="0" i="0">
                <a:solidFill>
                  <a:srgbClr val="A1A1A6"/>
                </a:solidFill>
                <a:latin typeface="Segoe UI"/>
                <a:ea typeface="微软雅黑"/>
              </a:rPr>
              <a:t>AI 分析中 · 正在提取待办和信息…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09560" y="2926080"/>
            <a:ext cx="82296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900" b="1" i="0">
                <a:solidFill>
                  <a:srgbClr val="1E88E5"/>
                </a:solidFill>
                <a:latin typeface="Segoe UI Semibold"/>
                <a:ea typeface="微软雅黑"/>
              </a:rPr>
              <a:t/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98280" y="2944368"/>
            <a:ext cx="23774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 i="0">
                <a:solidFill>
                  <a:srgbClr val="A1A1A6"/>
                </a:solidFill>
                <a:latin typeface="Segoe UI"/>
                <a:ea typeface="微软雅黑"/>
              </a:rPr>
              <a:t>截图进度：检测到 → 识别文字 → AI 分析 → 结果，几秒后消失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3931920"/>
            <a:ext cx="2743200" cy="566928"/>
          </a:xfrm>
          <a:prstGeom prst="roundRect">
            <a:avLst>
              <a:gd name="adj" fmla="val 50000"/>
            </a:avLst>
          </a:prstGeom>
          <a:solidFill>
            <a:srgbClr val="0B0B0C"/>
          </a:solidFill>
          <a:ln w="9525">
            <a:solidFill>
              <a:srgbClr val="2C2C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14400" y="4105656"/>
            <a:ext cx="219456" cy="219456"/>
          </a:xfrm>
          <a:prstGeom prst="ellipse">
            <a:avLst/>
          </a:prstGeom>
          <a:solidFill>
            <a:srgbClr val="F57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243584" y="4005072"/>
            <a:ext cx="16459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 Semibold"/>
                <a:ea typeface="微软雅黑"/>
              </a:rPr>
              <a:t>聊天截图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43584" y="4233672"/>
            <a:ext cx="16459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00" b="0" i="0">
                <a:solidFill>
                  <a:srgbClr val="A1A1A6"/>
                </a:solidFill>
                <a:latin typeface="Segoe UI"/>
                <a:ea typeface="微软雅黑"/>
              </a:rPr>
              <a:t>待指定 · 新的人：小王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468879" y="3931920"/>
            <a:ext cx="82296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900" b="1" i="0">
                <a:solidFill>
                  <a:srgbClr val="F57C00"/>
                </a:solidFill>
                <a:latin typeface="Segoe UI Semibold"/>
                <a:ea typeface="微软雅黑"/>
              </a:rPr>
              <a:t>指定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57600" y="3950208"/>
            <a:ext cx="23774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 i="0">
                <a:solidFill>
                  <a:srgbClr val="A1A1A6"/>
                </a:solidFill>
                <a:latin typeface="Segoe UI"/>
                <a:ea typeface="微软雅黑"/>
              </a:rPr>
              <a:t>昵称指定：双按钮“以后再说 / 指定”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172200" y="3931920"/>
            <a:ext cx="2743200" cy="566928"/>
          </a:xfrm>
          <a:prstGeom prst="roundRect">
            <a:avLst>
              <a:gd name="adj" fmla="val 50000"/>
            </a:avLst>
          </a:prstGeom>
          <a:solidFill>
            <a:srgbClr val="0B0B0C"/>
          </a:solidFill>
          <a:ln w="9525">
            <a:solidFill>
              <a:srgbClr val="2C2C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6355080" y="4105656"/>
            <a:ext cx="219456" cy="219456"/>
          </a:xfrm>
          <a:prstGeom prst="ellipse">
            <a:avLst/>
          </a:prstGeom>
          <a:solidFill>
            <a:srgbClr val="43A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684264" y="4005072"/>
            <a:ext cx="16459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 Semibold"/>
                <a:ea typeface="微软雅黑"/>
              </a:rPr>
              <a:t>李四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84264" y="4233672"/>
            <a:ext cx="16459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00" b="0" i="0">
                <a:solidFill>
                  <a:srgbClr val="A1A1A6"/>
                </a:solidFill>
                <a:latin typeface="Segoe UI"/>
                <a:ea typeface="微软雅黑"/>
              </a:rPr>
              <a:t>新事项 · 新增 2 项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909560" y="3931920"/>
            <a:ext cx="82296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900" b="1" i="0">
                <a:solidFill>
                  <a:srgbClr val="43A047"/>
                </a:solidFill>
                <a:latin typeface="Segoe UI Semibold"/>
                <a:ea typeface="微软雅黑"/>
              </a:rPr>
              <a:t/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098280" y="3950208"/>
            <a:ext cx="23774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 i="0">
                <a:solidFill>
                  <a:srgbClr val="A1A1A6"/>
                </a:solidFill>
                <a:latin typeface="Segoe UI"/>
                <a:ea typeface="微软雅黑"/>
              </a:rPr>
              <a:t>AI 提取到新事项：小卡，一分钟后自动消失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31520" y="4937760"/>
            <a:ext cx="2743200" cy="566928"/>
          </a:xfrm>
          <a:prstGeom prst="roundRect">
            <a:avLst>
              <a:gd name="adj" fmla="val 50000"/>
            </a:avLst>
          </a:prstGeom>
          <a:solidFill>
            <a:srgbClr val="0B0B0C"/>
          </a:solidFill>
          <a:ln w="9525">
            <a:solidFill>
              <a:srgbClr val="2C2C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914400" y="5111496"/>
            <a:ext cx="219456" cy="219456"/>
          </a:xfrm>
          <a:prstGeom prst="ellipse">
            <a:avLst/>
          </a:prstGeom>
          <a:solidFill>
            <a:srgbClr val="E539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243584" y="5010912"/>
            <a:ext cx="16459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 Semibold"/>
                <a:ea typeface="微软雅黑"/>
              </a:rPr>
              <a:t>AI 异常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243584" y="5239512"/>
            <a:ext cx="16459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00" b="0" i="0">
                <a:solidFill>
                  <a:srgbClr val="A1A1A6"/>
                </a:solidFill>
                <a:latin typeface="Segoe UI"/>
                <a:ea typeface="微软雅黑"/>
              </a:rPr>
              <a:t>重试中 · 20 秒后重试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468879" y="4937760"/>
            <a:ext cx="82296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900" b="1" i="0">
                <a:solidFill>
                  <a:srgbClr val="E53935"/>
                </a:solidFill>
                <a:latin typeface="Segoe UI Semibold"/>
                <a:ea typeface="微软雅黑"/>
              </a:rPr>
              <a:t>立即重试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657600" y="4956048"/>
            <a:ext cx="23774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 i="0">
                <a:solidFill>
                  <a:srgbClr val="A1A1A6"/>
                </a:solidFill>
                <a:latin typeface="Segoe UI"/>
                <a:ea typeface="微软雅黑"/>
              </a:rPr>
              <a:t>AI 连续失败 / 无网络：单按钮“立即重试”，恢复后自动消失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45775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000" b="0" i="0">
                <a:solidFill>
                  <a:srgbClr val="86868B"/>
                </a:solidFill>
                <a:latin typeface="Segoe UI"/>
                <a:ea typeface="微软雅黑"/>
              </a:rPr>
              <a:t>19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4000" b="1" i="0">
                <a:solidFill>
                  <a:srgbClr val="1D1D1F"/>
                </a:solidFill>
                <a:latin typeface="Segoe UI Semibold"/>
                <a:ea typeface="微软雅黑"/>
              </a:rPr>
              <a:t>它知道你在哪儿，就从哪儿提醒你。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920240"/>
            <a:ext cx="3383280" cy="3383280"/>
          </a:xfrm>
          <a:prstGeom prst="roundRect">
            <a:avLst>
              <a:gd name="adj" fmla="val 5945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51560" y="2240280"/>
            <a:ext cx="2103120" cy="329184"/>
          </a:xfrm>
          <a:prstGeom prst="roundRect">
            <a:avLst>
              <a:gd name="adj" fmla="val 50000"/>
            </a:avLst>
          </a:prstGeom>
          <a:solidFill>
            <a:srgbClr val="E8E8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70431" y="2350008"/>
            <a:ext cx="109728" cy="109728"/>
          </a:xfrm>
          <a:prstGeom prst="ellipse">
            <a:avLst/>
          </a:prstGeom>
          <a:solidFill>
            <a:srgbClr val="3D5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25880" y="2240280"/>
            <a:ext cx="182879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 i="0">
                <a:solidFill>
                  <a:srgbClr val="1D1D1F"/>
                </a:solidFill>
                <a:latin typeface="Segoe UI"/>
                <a:ea typeface="微软雅黑"/>
              </a:rPr>
              <a:t>悬浮窗 Overlay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788920"/>
            <a:ext cx="2743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400" b="1" i="0">
                <a:solidFill>
                  <a:srgbClr val="1D1D1F"/>
                </a:solidFill>
                <a:latin typeface="Segoe UI Semibold"/>
                <a:ea typeface="微软雅黑"/>
              </a:rPr>
              <a:t>在应用里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3429000"/>
            <a:ext cx="274320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 i="0">
                <a:solidFill>
                  <a:srgbClr val="6E6E73"/>
                </a:solidFill>
                <a:latin typeface="Segoe UI"/>
                <a:ea typeface="微软雅黑"/>
              </a:rPr>
              <a:t>全屏变暗，这个人的全部卡片弹出，可拖可甩；点卡片进详情，点空白关闭。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920240"/>
            <a:ext cx="3383280" cy="3383280"/>
          </a:xfrm>
          <a:prstGeom prst="roundRect">
            <a:avLst>
              <a:gd name="adj" fmla="val 5945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709159" y="2240280"/>
            <a:ext cx="2103120" cy="329184"/>
          </a:xfrm>
          <a:prstGeom prst="roundRect">
            <a:avLst>
              <a:gd name="adj" fmla="val 50000"/>
            </a:avLst>
          </a:prstGeom>
          <a:solidFill>
            <a:srgbClr val="E8E8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828031" y="2350008"/>
            <a:ext cx="109728" cy="109728"/>
          </a:xfrm>
          <a:prstGeom prst="ellipse">
            <a:avLst/>
          </a:prstGeom>
          <a:solidFill>
            <a:srgbClr val="F57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83479" y="2240280"/>
            <a:ext cx="182879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 i="0">
                <a:solidFill>
                  <a:srgbClr val="1D1D1F"/>
                </a:solidFill>
                <a:latin typeface="Segoe UI"/>
                <a:ea typeface="微软雅黑"/>
              </a:rPr>
              <a:t>SystemUI 实况通知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09159" y="2788920"/>
            <a:ext cx="2743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400" b="1" i="0">
                <a:solidFill>
                  <a:srgbClr val="1D1D1F"/>
                </a:solidFill>
                <a:latin typeface="Segoe UI Semibold"/>
                <a:ea typeface="微软雅黑"/>
              </a:rPr>
              <a:t>在别的应用里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09159" y="3429000"/>
            <a:ext cx="274320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 i="0">
                <a:solidFill>
                  <a:srgbClr val="6E6E73"/>
                </a:solidFill>
                <a:latin typeface="Segoe UI"/>
                <a:ea typeface="微软雅黑"/>
              </a:rPr>
              <a:t>灵动岛中卡 + 这个人颜色的胶囊；点“查看”回到应用全屏看卡片。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1920240"/>
            <a:ext cx="3383280" cy="3383280"/>
          </a:xfrm>
          <a:prstGeom prst="roundRect">
            <a:avLst>
              <a:gd name="adj" fmla="val 5945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366760" y="2240280"/>
            <a:ext cx="2103120" cy="329184"/>
          </a:xfrm>
          <a:prstGeom prst="roundRect">
            <a:avLst>
              <a:gd name="adj" fmla="val 50000"/>
            </a:avLst>
          </a:prstGeom>
          <a:solidFill>
            <a:srgbClr val="E8E8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485632" y="2350008"/>
            <a:ext cx="109728" cy="109728"/>
          </a:xfrm>
          <a:prstGeom prst="ellipse">
            <a:avLst/>
          </a:prstGeom>
          <a:solidFill>
            <a:srgbClr val="00C7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41080" y="2240280"/>
            <a:ext cx="182879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 i="0">
                <a:solidFill>
                  <a:srgbClr val="1D1D1F"/>
                </a:solidFill>
                <a:latin typeface="Segoe UI"/>
                <a:ea typeface="微软雅黑"/>
              </a:rPr>
              <a:t>Even G2 · BLE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66760" y="2788920"/>
            <a:ext cx="2743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400" b="1" i="0">
                <a:solidFill>
                  <a:srgbClr val="1D1D1F"/>
                </a:solidFill>
                <a:latin typeface="Segoe UI Semibold"/>
                <a:ea typeface="微软雅黑"/>
              </a:rPr>
              <a:t>戴着眼镜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6760" y="3429000"/>
            <a:ext cx="274320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 i="0">
                <a:solidFill>
                  <a:srgbClr val="6E6E73"/>
                </a:solidFill>
                <a:latin typeface="Segoe UI"/>
                <a:ea typeface="微软雅黑"/>
              </a:rPr>
              <a:t>额外把待办与事实渲染成一张黑底白字图片推到镜片上，60 秒后自动关闭。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5577840"/>
            <a:ext cx="1072865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0" i="0">
                <a:solidFill>
                  <a:srgbClr val="6E6E73"/>
                </a:solidFill>
                <a:latin typeface="Segoe UI"/>
                <a:ea typeface="微软雅黑"/>
              </a:rPr>
              <a:t>三层出口由同一个会话事件触发；眼镜是叠加的，手机上的提醒照常显示。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45775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000" b="0" i="0">
                <a:solidFill>
                  <a:srgbClr val="6E6E73"/>
                </a:solidFill>
                <a:latin typeface="Segoe UI"/>
                <a:ea typeface="微软雅黑"/>
              </a:rPr>
              <a:t>20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4000" b="1" i="0">
                <a:solidFill>
                  <a:srgbClr val="F5F5F7"/>
                </a:solidFill>
                <a:latin typeface="Segoe UI Semibold"/>
                <a:ea typeface="微软雅黑"/>
              </a:rPr>
              <a:t>架构总览。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53312"/>
            <a:ext cx="1072865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0" i="0">
                <a:solidFill>
                  <a:srgbClr val="A1A1A6"/>
                </a:solidFill>
                <a:latin typeface="Segoe UI"/>
                <a:ea typeface="微软雅黑"/>
              </a:rPr>
              <a:t>感知在端侧，提炼在云端，记忆在本机。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65960"/>
            <a:ext cx="2011680" cy="3566160"/>
          </a:xfrm>
          <a:prstGeom prst="roundRect">
            <a:avLst>
              <a:gd name="adj" fmla="val 10000"/>
            </a:avLst>
          </a:prstGeom>
          <a:solidFill>
            <a:srgbClr val="1C1C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965960"/>
            <a:ext cx="2011680" cy="73152"/>
          </a:xfrm>
          <a:prstGeom prst="roundRect">
            <a:avLst>
              <a:gd name="adj" fmla="val 50000"/>
            </a:avLst>
          </a:prstGeom>
          <a:solidFill>
            <a:srgbClr val="3D5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194560"/>
            <a:ext cx="1554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200" b="1" i="0">
                <a:solidFill>
                  <a:srgbClr val="F5F5F7"/>
                </a:solidFill>
                <a:latin typeface="Segoe UI Semibold"/>
                <a:ea typeface="微软雅黑"/>
              </a:rPr>
              <a:t>感知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743200"/>
            <a:ext cx="160020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0" i="0">
                <a:solidFill>
                  <a:srgbClr val="A1A1A6"/>
                </a:solidFill>
                <a:latin typeface="Segoe UI"/>
                <a:ea typeface="微软雅黑"/>
              </a:rPr>
              <a:t>麦克风 16 kHz → Silero VAD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255264"/>
            <a:ext cx="160020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0" i="0">
                <a:solidFill>
                  <a:srgbClr val="A1A1A6"/>
                </a:solidFill>
                <a:latin typeface="Segoe UI"/>
                <a:ea typeface="微软雅黑"/>
              </a:rPr>
              <a:t>流式 Zipformer 实时字幕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3767328"/>
            <a:ext cx="160020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0" i="0">
                <a:solidFill>
                  <a:srgbClr val="A1A1A6"/>
                </a:solidFill>
                <a:latin typeface="Segoe UI"/>
                <a:ea typeface="微软雅黑"/>
              </a:rPr>
              <a:t>Paraformer-zh + CT-Transformer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4279392"/>
            <a:ext cx="160020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0" i="0">
                <a:solidFill>
                  <a:srgbClr val="A1A1A6"/>
                </a:solidFill>
                <a:latin typeface="Segoe UI"/>
                <a:ea typeface="微软雅黑"/>
              </a:rPr>
              <a:t>系统截图 → PP-OCRv6 OCR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4791456"/>
            <a:ext cx="160020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0" i="0">
                <a:solidFill>
                  <a:srgbClr val="A1A1A6"/>
                </a:solidFill>
                <a:latin typeface="Segoe UI"/>
                <a:ea typeface="微软雅黑"/>
              </a:rPr>
              <a:t>版式文本 [左]/[右]/[中]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779776" y="3749039"/>
            <a:ext cx="94411" cy="0"/>
          </a:xfrm>
          <a:prstGeom prst="line">
            <a:avLst/>
          </a:prstGeom>
          <a:ln w="15240">
            <a:solidFill>
              <a:srgbClr val="6E6E7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910763" y="1965960"/>
            <a:ext cx="2011680" cy="3566160"/>
          </a:xfrm>
          <a:prstGeom prst="roundRect">
            <a:avLst>
              <a:gd name="adj" fmla="val 10000"/>
            </a:avLst>
          </a:prstGeom>
          <a:solidFill>
            <a:srgbClr val="1C1C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2910763" y="1965960"/>
            <a:ext cx="2011680" cy="73152"/>
          </a:xfrm>
          <a:prstGeom prst="roundRect">
            <a:avLst>
              <a:gd name="adj" fmla="val 50000"/>
            </a:avLst>
          </a:prstGeom>
          <a:solidFill>
            <a:srgbClr val="A25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139363" y="2194560"/>
            <a:ext cx="1554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200" b="1" i="0">
                <a:solidFill>
                  <a:srgbClr val="F5F5F7"/>
                </a:solidFill>
                <a:latin typeface="Segoe UI Semibold"/>
                <a:ea typeface="微软雅黑"/>
              </a:rPr>
              <a:t>理解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39363" y="2743200"/>
            <a:ext cx="160020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0" i="0">
                <a:solidFill>
                  <a:srgbClr val="A1A1A6"/>
                </a:solidFill>
                <a:latin typeface="Segoe UI"/>
                <a:ea typeface="微软雅黑"/>
              </a:rPr>
              <a:t>3D-Speaker 声纹向量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39363" y="3255264"/>
            <a:ext cx="160020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0" i="0">
                <a:solidFill>
                  <a:srgbClr val="A1A1A6"/>
                </a:solidFill>
                <a:latin typeface="Segoe UI"/>
                <a:ea typeface="微软雅黑"/>
              </a:rPr>
              <a:t>阈值比对 · 陌生人建档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39363" y="3767328"/>
            <a:ext cx="160020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0" i="0">
                <a:solidFill>
                  <a:srgbClr val="A1A1A6"/>
                </a:solidFill>
                <a:latin typeface="Segoe UI"/>
                <a:ea typeface="微软雅黑"/>
              </a:rPr>
              <a:t>ConversationManager 会话窗口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39363" y="4279392"/>
            <a:ext cx="160020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0" i="0">
                <a:solidFill>
                  <a:srgbClr val="A1A1A6"/>
                </a:solidFill>
                <a:latin typeface="Segoe UI"/>
                <a:ea typeface="微软雅黑"/>
              </a:rPr>
              <a:t>昵称 ↔ 用户对应（NameMatcher）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959019" y="3749039"/>
            <a:ext cx="94412" cy="0"/>
          </a:xfrm>
          <a:prstGeom prst="line">
            <a:avLst/>
          </a:prstGeom>
          <a:ln w="15240">
            <a:solidFill>
              <a:srgbClr val="6E6E7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5090007" y="1965960"/>
            <a:ext cx="2011680" cy="3566160"/>
          </a:xfrm>
          <a:prstGeom prst="roundRect">
            <a:avLst>
              <a:gd name="adj" fmla="val 10000"/>
            </a:avLst>
          </a:prstGeom>
          <a:solidFill>
            <a:srgbClr val="1C1C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090007" y="1965960"/>
            <a:ext cx="2011680" cy="73152"/>
          </a:xfrm>
          <a:prstGeom prst="roundRect">
            <a:avLst>
              <a:gd name="adj" fmla="val 50000"/>
            </a:avLst>
          </a:prstGeom>
          <a:solidFill>
            <a:srgbClr val="00C7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318607" y="2194560"/>
            <a:ext cx="1554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200" b="1" i="0">
                <a:solidFill>
                  <a:srgbClr val="F5F5F7"/>
                </a:solidFill>
                <a:latin typeface="Segoe UI Semibold"/>
                <a:ea typeface="微软雅黑"/>
              </a:rPr>
              <a:t>提炼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18607" y="2743200"/>
            <a:ext cx="160020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0" i="0">
                <a:solidFill>
                  <a:srgbClr val="A1A1A6"/>
                </a:solidFill>
                <a:latin typeface="Segoe UI"/>
                <a:ea typeface="微软雅黑"/>
              </a:rPr>
              <a:t>StepFun 大模型 · JSON 输出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18607" y="3255264"/>
            <a:ext cx="160020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0" i="0">
                <a:solidFill>
                  <a:srgbClr val="A1A1A6"/>
                </a:solidFill>
                <a:latin typeface="Segoe UI"/>
                <a:ea typeface="微软雅黑"/>
              </a:rPr>
              <a:t>待办 / 事实 · 完成 / 过期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18607" y="3767328"/>
            <a:ext cx="160020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0" i="0">
                <a:solidFill>
                  <a:srgbClr val="A1A1A6"/>
                </a:solidFill>
                <a:latin typeface="Segoe UI"/>
                <a:ea typeface="微软雅黑"/>
              </a:rPr>
              <a:t>提取队列 · 指数退避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18607" y="4279392"/>
            <a:ext cx="160020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0" i="0">
                <a:solidFill>
                  <a:srgbClr val="A1A1A6"/>
                </a:solidFill>
                <a:latin typeface="Segoe UI"/>
                <a:ea typeface="微软雅黑"/>
              </a:rPr>
              <a:t>聊天截图整理为对话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138263" y="3749039"/>
            <a:ext cx="94412" cy="0"/>
          </a:xfrm>
          <a:prstGeom prst="line">
            <a:avLst/>
          </a:prstGeom>
          <a:ln w="15240">
            <a:solidFill>
              <a:srgbClr val="6E6E7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7269251" y="1965960"/>
            <a:ext cx="2011680" cy="3566160"/>
          </a:xfrm>
          <a:prstGeom prst="roundRect">
            <a:avLst>
              <a:gd name="adj" fmla="val 10000"/>
            </a:avLst>
          </a:prstGeom>
          <a:solidFill>
            <a:srgbClr val="1C1C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7269251" y="1965960"/>
            <a:ext cx="2011680" cy="73152"/>
          </a:xfrm>
          <a:prstGeom prst="roundRect">
            <a:avLst>
              <a:gd name="adj" fmla="val 50000"/>
            </a:avLst>
          </a:prstGeom>
          <a:solidFill>
            <a:srgbClr val="F57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497851" y="2194560"/>
            <a:ext cx="1554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200" b="1" i="0">
                <a:solidFill>
                  <a:srgbClr val="F5F5F7"/>
                </a:solidFill>
                <a:latin typeface="Segoe UI Semibold"/>
                <a:ea typeface="微软雅黑"/>
              </a:rPr>
              <a:t>记忆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97851" y="2743200"/>
            <a:ext cx="160020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0" i="0">
                <a:solidFill>
                  <a:srgbClr val="A1A1A6"/>
                </a:solidFill>
                <a:latin typeface="Segoe UI"/>
                <a:ea typeface="微软雅黑"/>
              </a:rPr>
              <a:t>Room 数据库 (schema v5)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97851" y="3255264"/>
            <a:ext cx="160020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0" i="0">
                <a:solidFill>
                  <a:srgbClr val="A1A1A6"/>
                </a:solidFill>
                <a:latin typeface="Segoe UI"/>
                <a:ea typeface="微软雅黑"/>
              </a:rPr>
              <a:t>users · utterances · user_facts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97851" y="3767328"/>
            <a:ext cx="160020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0" i="0">
                <a:solidFill>
                  <a:srgbClr val="A1A1A6"/>
                </a:solidFill>
                <a:latin typeface="Segoe UI"/>
                <a:ea typeface="微软雅黑"/>
              </a:rPr>
              <a:t>pending_extraction · screenshot_jobs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97851" y="4279392"/>
            <a:ext cx="160020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0" i="0">
                <a:solidFill>
                  <a:srgbClr val="A1A1A6"/>
                </a:solidFill>
                <a:latin typeface="Segoe UI"/>
                <a:ea typeface="微软雅黑"/>
              </a:rPr>
              <a:t>chat_aliases · 声音片段 15 s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9317507" y="3749039"/>
            <a:ext cx="94412" cy="0"/>
          </a:xfrm>
          <a:prstGeom prst="line">
            <a:avLst/>
          </a:prstGeom>
          <a:ln w="15240">
            <a:solidFill>
              <a:srgbClr val="6E6E7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9448495" y="1965960"/>
            <a:ext cx="2011680" cy="3566160"/>
          </a:xfrm>
          <a:prstGeom prst="roundRect">
            <a:avLst>
              <a:gd name="adj" fmla="val 10000"/>
            </a:avLst>
          </a:prstGeom>
          <a:solidFill>
            <a:srgbClr val="1C1C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9448495" y="1965960"/>
            <a:ext cx="2011680" cy="73152"/>
          </a:xfrm>
          <a:prstGeom prst="roundRect">
            <a:avLst>
              <a:gd name="adj" fmla="val 50000"/>
            </a:avLst>
          </a:prstGeom>
          <a:solidFill>
            <a:srgbClr val="7CFF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677095" y="2194560"/>
            <a:ext cx="1554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200" b="1" i="0">
                <a:solidFill>
                  <a:srgbClr val="F5F5F7"/>
                </a:solidFill>
                <a:latin typeface="Segoe UI Semibold"/>
                <a:ea typeface="微软雅黑"/>
              </a:rPr>
              <a:t>呈现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677095" y="2743200"/>
            <a:ext cx="160020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0" i="0">
                <a:solidFill>
                  <a:srgbClr val="A1A1A6"/>
                </a:solidFill>
                <a:latin typeface="Segoe UI"/>
                <a:ea typeface="微软雅黑"/>
              </a:rPr>
              <a:t>主界面卡片堆 + 转写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77095" y="3255264"/>
            <a:ext cx="160020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0" i="0">
                <a:solidFill>
                  <a:srgbClr val="A1A1A6"/>
                </a:solidFill>
                <a:latin typeface="Segoe UI"/>
                <a:ea typeface="微软雅黑"/>
              </a:rPr>
              <a:t>全屏提醒 Overlay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77095" y="3767328"/>
            <a:ext cx="160020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0" i="0">
                <a:solidFill>
                  <a:srgbClr val="A1A1A6"/>
                </a:solidFill>
                <a:latin typeface="Segoe UI"/>
                <a:ea typeface="微软雅黑"/>
              </a:rPr>
              <a:t>灵动岛实况通知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677095" y="4279392"/>
            <a:ext cx="160020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0" i="0">
                <a:solidFill>
                  <a:srgbClr val="A1A1A6"/>
                </a:solidFill>
                <a:latin typeface="Segoe UI"/>
                <a:ea typeface="微软雅黑"/>
              </a:rPr>
              <a:t>Even G2 眼镜（BLE · EvenHub）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31520" y="5760720"/>
            <a:ext cx="1072865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 i="0">
                <a:solidFill>
                  <a:srgbClr val="A1A1A6"/>
                </a:solidFill>
                <a:latin typeface="Segoe UI"/>
                <a:ea typeface="微软雅黑"/>
              </a:rPr>
              <a:t>只有文字（转写、OCR 文本）离开手机；音频、图片、声纹向量始终在本机。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45775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000" b="0" i="0">
                <a:solidFill>
                  <a:srgbClr val="86868B"/>
                </a:solidFill>
                <a:latin typeface="Segoe UI"/>
                <a:ea typeface="微软雅黑"/>
              </a:rPr>
              <a:t>21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4000" b="1" i="0">
                <a:solidFill>
                  <a:srgbClr val="1D1D1F"/>
                </a:solidFill>
                <a:latin typeface="Segoe UI Semibold"/>
                <a:ea typeface="微软雅黑"/>
              </a:rPr>
              <a:t>七个端侧模型。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53312"/>
            <a:ext cx="1072865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0" i="0">
                <a:solidFill>
                  <a:srgbClr val="6E6E73"/>
                </a:solidFill>
                <a:latin typeface="Segoe UI"/>
                <a:ea typeface="微软雅黑"/>
              </a:rPr>
              <a:t>约 700 MB，放在系统目录，不打包进 APK；全部 CPU 推理。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2024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1" i="0">
                <a:solidFill>
                  <a:srgbClr val="86868B"/>
                </a:solidFill>
                <a:latin typeface="Segoe UI Semibold"/>
                <a:ea typeface="微软雅黑"/>
              </a:rPr>
              <a:t>任务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0" y="192024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1" i="0">
                <a:solidFill>
                  <a:srgbClr val="86868B"/>
                </a:solidFill>
                <a:latin typeface="Segoe UI Semibold"/>
                <a:ea typeface="微软雅黑"/>
              </a:rPr>
              <a:t>模型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0" y="1920240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200" b="1" i="0">
                <a:solidFill>
                  <a:srgbClr val="86868B"/>
                </a:solidFill>
                <a:latin typeface="Segoe UI Semibold"/>
                <a:ea typeface="微软雅黑"/>
              </a:rPr>
              <a:t>体积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304288"/>
            <a:ext cx="10728655" cy="10972"/>
          </a:xfrm>
          <a:prstGeom prst="rect">
            <a:avLst/>
          </a:prstGeom>
          <a:solidFill>
            <a:srgbClr val="D2D2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423160"/>
            <a:ext cx="27432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0" i="0">
                <a:solidFill>
                  <a:srgbClr val="1D1D1F"/>
                </a:solidFill>
                <a:latin typeface="Segoe UI"/>
                <a:ea typeface="微软雅黑"/>
              </a:rPr>
              <a:t>语音活动检测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2423160"/>
            <a:ext cx="50292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0" i="0">
                <a:solidFill>
                  <a:srgbClr val="1D1D1F"/>
                </a:solidFill>
                <a:latin typeface="Segoe UI"/>
                <a:ea typeface="微软雅黑"/>
              </a:rPr>
              <a:t>Silero VAD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0" y="2423160"/>
            <a:ext cx="24688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500" b="1" i="0">
                <a:solidFill>
                  <a:srgbClr val="1D1D1F"/>
                </a:solidFill>
                <a:latin typeface="Segoe UI Semibold"/>
                <a:ea typeface="微软雅黑"/>
              </a:rPr>
              <a:t>0.6 MB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2852928"/>
            <a:ext cx="10728655" cy="7315"/>
          </a:xfrm>
          <a:prstGeom prst="rect">
            <a:avLst/>
          </a:prstGeom>
          <a:solidFill>
            <a:srgbClr val="E8E8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880360"/>
            <a:ext cx="27432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0" i="0">
                <a:solidFill>
                  <a:srgbClr val="1D1D1F"/>
                </a:solidFill>
                <a:latin typeface="Segoe UI"/>
                <a:ea typeface="微软雅黑"/>
              </a:rPr>
              <a:t>实时字幕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2880360"/>
            <a:ext cx="50292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0" i="0">
                <a:solidFill>
                  <a:srgbClr val="1D1D1F"/>
                </a:solidFill>
                <a:latin typeface="Segoe UI"/>
                <a:ea typeface="微软雅黑"/>
              </a:rPr>
              <a:t>Zipformer 流式 Transducer（int8）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0" y="2880360"/>
            <a:ext cx="24688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500" b="1" i="0">
                <a:solidFill>
                  <a:srgbClr val="1D1D1F"/>
                </a:solidFill>
                <a:latin typeface="Segoe UI Semibold"/>
                <a:ea typeface="微软雅黑"/>
              </a:rPr>
              <a:t>167 MB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3310128"/>
            <a:ext cx="10728655" cy="7315"/>
          </a:xfrm>
          <a:prstGeom prst="rect">
            <a:avLst/>
          </a:prstGeom>
          <a:solidFill>
            <a:srgbClr val="E8E8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3337560"/>
            <a:ext cx="27432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0" i="0">
                <a:solidFill>
                  <a:srgbClr val="1D1D1F"/>
                </a:solidFill>
                <a:latin typeface="Segoe UI"/>
                <a:ea typeface="微软雅黑"/>
              </a:rPr>
              <a:t>整句识别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3337560"/>
            <a:ext cx="50292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0" i="0">
                <a:solidFill>
                  <a:srgbClr val="1D1D1F"/>
                </a:solidFill>
                <a:latin typeface="Segoe UI"/>
                <a:ea typeface="微软雅黑"/>
              </a:rPr>
              <a:t>Paraformer-zh（int8）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61120" y="3337560"/>
            <a:ext cx="24688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500" b="1" i="0">
                <a:solidFill>
                  <a:srgbClr val="1D1D1F"/>
                </a:solidFill>
                <a:latin typeface="Segoe UI Semibold"/>
                <a:ea typeface="微软雅黑"/>
              </a:rPr>
              <a:t>243 MB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3767328"/>
            <a:ext cx="10728655" cy="7315"/>
          </a:xfrm>
          <a:prstGeom prst="rect">
            <a:avLst/>
          </a:prstGeom>
          <a:solidFill>
            <a:srgbClr val="E8E8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3794760"/>
            <a:ext cx="27432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0" i="0">
                <a:solidFill>
                  <a:srgbClr val="1D1D1F"/>
                </a:solidFill>
                <a:latin typeface="Segoe UI"/>
                <a:ea typeface="微软雅黑"/>
              </a:rPr>
              <a:t>标点恢复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3794760"/>
            <a:ext cx="50292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0" i="0">
                <a:solidFill>
                  <a:srgbClr val="1D1D1F"/>
                </a:solidFill>
                <a:latin typeface="Segoe UI"/>
                <a:ea typeface="微软雅黑"/>
              </a:rPr>
              <a:t>CT-Transformer（int8）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61120" y="3794760"/>
            <a:ext cx="24688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500" b="1" i="0">
                <a:solidFill>
                  <a:srgbClr val="1D1D1F"/>
                </a:solidFill>
                <a:latin typeface="Segoe UI Semibold"/>
                <a:ea typeface="微软雅黑"/>
              </a:rPr>
              <a:t>75 MB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" y="4224528"/>
            <a:ext cx="10728655" cy="7315"/>
          </a:xfrm>
          <a:prstGeom prst="rect">
            <a:avLst/>
          </a:prstGeom>
          <a:solidFill>
            <a:srgbClr val="E8E8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4251960"/>
            <a:ext cx="27432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0" i="0">
                <a:solidFill>
                  <a:srgbClr val="1D1D1F"/>
                </a:solidFill>
                <a:latin typeface="Segoe UI"/>
                <a:ea typeface="微软雅黑"/>
              </a:rPr>
              <a:t>声纹向量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0" y="4251960"/>
            <a:ext cx="50292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0" i="0">
                <a:solidFill>
                  <a:srgbClr val="1D1D1F"/>
                </a:solidFill>
                <a:latin typeface="Segoe UI"/>
                <a:ea typeface="微软雅黑"/>
              </a:rPr>
              <a:t>3D-Speaker ERes2NetV2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61120" y="4251960"/>
            <a:ext cx="24688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500" b="1" i="0">
                <a:solidFill>
                  <a:srgbClr val="1D1D1F"/>
                </a:solidFill>
                <a:latin typeface="Segoe UI Semibold"/>
                <a:ea typeface="微软雅黑"/>
              </a:rPr>
              <a:t>71 MB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1520" y="4681728"/>
            <a:ext cx="10728655" cy="7315"/>
          </a:xfrm>
          <a:prstGeom prst="rect">
            <a:avLst/>
          </a:prstGeom>
          <a:solidFill>
            <a:srgbClr val="E8E8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20" y="4709160"/>
            <a:ext cx="27432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0" i="0">
                <a:solidFill>
                  <a:srgbClr val="1D1D1F"/>
                </a:solidFill>
                <a:latin typeface="Segoe UI"/>
                <a:ea typeface="微软雅黑"/>
              </a:rPr>
              <a:t>文字检测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0" y="4709160"/>
            <a:ext cx="50292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0" i="0">
                <a:solidFill>
                  <a:srgbClr val="1D1D1F"/>
                </a:solidFill>
                <a:latin typeface="Segoe UI"/>
                <a:ea typeface="微软雅黑"/>
              </a:rPr>
              <a:t>PP-OCRv6 det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961120" y="4709160"/>
            <a:ext cx="24688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500" b="1" i="0">
                <a:solidFill>
                  <a:srgbClr val="1D1D1F"/>
                </a:solidFill>
                <a:latin typeface="Segoe UI Semibold"/>
                <a:ea typeface="微软雅黑"/>
              </a:rPr>
              <a:t>62 MB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31520" y="5138928"/>
            <a:ext cx="10728655" cy="7315"/>
          </a:xfrm>
          <a:prstGeom prst="rect">
            <a:avLst/>
          </a:prstGeom>
          <a:solidFill>
            <a:srgbClr val="E8E8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31520" y="5166360"/>
            <a:ext cx="27432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0" i="0">
                <a:solidFill>
                  <a:srgbClr val="1D1D1F"/>
                </a:solidFill>
                <a:latin typeface="Segoe UI"/>
                <a:ea typeface="微软雅黑"/>
              </a:rPr>
              <a:t>文字识别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57600" y="5166360"/>
            <a:ext cx="50292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0" i="0">
                <a:solidFill>
                  <a:srgbClr val="1D1D1F"/>
                </a:solidFill>
                <a:latin typeface="Segoe UI"/>
                <a:ea typeface="微软雅黑"/>
              </a:rPr>
              <a:t>PP-OCRv6 rec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961120" y="5166360"/>
            <a:ext cx="24688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500" b="1" i="0">
                <a:solidFill>
                  <a:srgbClr val="1D1D1F"/>
                </a:solidFill>
                <a:latin typeface="Segoe UI Semibold"/>
                <a:ea typeface="微软雅黑"/>
              </a:rPr>
              <a:t>77 MB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5596128"/>
            <a:ext cx="10728655" cy="7315"/>
          </a:xfrm>
          <a:prstGeom prst="rect">
            <a:avLst/>
          </a:prstGeom>
          <a:solidFill>
            <a:srgbClr val="E8E8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31520" y="5715000"/>
            <a:ext cx="1072865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0" i="0">
                <a:solidFill>
                  <a:srgbClr val="6E6E73"/>
                </a:solidFill>
                <a:latin typeface="Segoe UI"/>
                <a:ea typeface="微软雅黑"/>
              </a:rPr>
              <a:t>运行时：sherpa-onnx 1.13.8 承载语音模型；OCR 通过 JNI 直接调用 onnxruntime C API（dlopen，不绑定版本）。模型目录：/system/etc/whisper/models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45775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000" b="0" i="0">
                <a:solidFill>
                  <a:srgbClr val="6E6E73"/>
                </a:solidFill>
                <a:latin typeface="Segoe UI"/>
                <a:ea typeface="微软雅黑"/>
              </a:rPr>
              <a:t>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4000" b="1" i="0">
                <a:solidFill>
                  <a:srgbClr val="F5F5F7"/>
                </a:solidFill>
                <a:latin typeface="Segoe UI Semibold"/>
                <a:ea typeface="微软雅黑"/>
              </a:rPr>
              <a:t>工程上的取舍。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3383280" cy="3931920"/>
          </a:xfrm>
          <a:prstGeom prst="roundRect">
            <a:avLst>
              <a:gd name="adj" fmla="val 5945"/>
            </a:avLst>
          </a:prstGeom>
          <a:solidFill>
            <a:srgbClr val="1C1C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210312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200" b="1" i="0">
                <a:solidFill>
                  <a:srgbClr val="F5F5F7"/>
                </a:solidFill>
                <a:latin typeface="Segoe UI Semibold"/>
                <a:ea typeface="微软雅黑"/>
              </a:rPr>
              <a:t>线程模型</a:t>
            </a:r>
          </a:p>
        </p:txBody>
      </p:sp>
      <p:sp>
        <p:nvSpPr>
          <p:cNvPr id="6" name="Oval 5"/>
          <p:cNvSpPr/>
          <p:nvPr/>
        </p:nvSpPr>
        <p:spPr>
          <a:xfrm>
            <a:off x="1051560" y="2880360"/>
            <a:ext cx="73152" cy="73152"/>
          </a:xfrm>
          <a:prstGeom prst="ellipse">
            <a:avLst/>
          </a:prstGeom>
          <a:solidFill>
            <a:srgbClr val="3D5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34440" y="2788920"/>
            <a:ext cx="26517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0" i="0">
                <a:solidFill>
                  <a:srgbClr val="A1A1A6"/>
                </a:solidFill>
                <a:latin typeface="Segoe UI"/>
                <a:ea typeface="微软雅黑"/>
              </a:rPr>
              <a:t>audio：AudioRecord 采集，100 ms 一帧</a:t>
            </a:r>
          </a:p>
        </p:txBody>
      </p:sp>
      <p:sp>
        <p:nvSpPr>
          <p:cNvPr id="8" name="Oval 7"/>
          <p:cNvSpPr/>
          <p:nvPr/>
        </p:nvSpPr>
        <p:spPr>
          <a:xfrm>
            <a:off x="1051560" y="3429000"/>
            <a:ext cx="73152" cy="73152"/>
          </a:xfrm>
          <a:prstGeom prst="ellipse">
            <a:avLst/>
          </a:prstGeom>
          <a:solidFill>
            <a:srgbClr val="3D5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34440" y="3337560"/>
            <a:ext cx="26517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0" i="0">
                <a:solidFill>
                  <a:srgbClr val="A1A1A6"/>
                </a:solidFill>
                <a:latin typeface="Segoe UI"/>
                <a:ea typeface="微软雅黑"/>
              </a:rPr>
              <a:t>asr：VAD 断句 + 流式字幕</a:t>
            </a:r>
          </a:p>
        </p:txBody>
      </p:sp>
      <p:sp>
        <p:nvSpPr>
          <p:cNvPr id="10" name="Oval 9"/>
          <p:cNvSpPr/>
          <p:nvPr/>
        </p:nvSpPr>
        <p:spPr>
          <a:xfrm>
            <a:off x="1051560" y="3977639"/>
            <a:ext cx="73152" cy="73152"/>
          </a:xfrm>
          <a:prstGeom prst="ellipse">
            <a:avLst/>
          </a:prstGeom>
          <a:solidFill>
            <a:srgbClr val="3D5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34440" y="3886200"/>
            <a:ext cx="26517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0" i="0">
                <a:solidFill>
                  <a:srgbClr val="A1A1A6"/>
                </a:solidFill>
                <a:latin typeface="Segoe UI"/>
                <a:ea typeface="微软雅黑"/>
              </a:rPr>
              <a:t>speech-proc：整句识别、声纹、会话、落库</a:t>
            </a:r>
          </a:p>
        </p:txBody>
      </p:sp>
      <p:sp>
        <p:nvSpPr>
          <p:cNvPr id="12" name="Oval 11"/>
          <p:cNvSpPr/>
          <p:nvPr/>
        </p:nvSpPr>
        <p:spPr>
          <a:xfrm>
            <a:off x="1051560" y="4526279"/>
            <a:ext cx="73152" cy="73152"/>
          </a:xfrm>
          <a:prstGeom prst="ellipse">
            <a:avLst/>
          </a:prstGeom>
          <a:solidFill>
            <a:srgbClr val="3D5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4440" y="4434840"/>
            <a:ext cx="26517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0" i="0">
                <a:solidFill>
                  <a:srgbClr val="A1A1A6"/>
                </a:solidFill>
                <a:latin typeface="Segoe UI"/>
                <a:ea typeface="微软雅黑"/>
              </a:rPr>
              <a:t>extraction / screenshot：大模型与 OCR 队列</a:t>
            </a:r>
          </a:p>
        </p:txBody>
      </p:sp>
      <p:sp>
        <p:nvSpPr>
          <p:cNvPr id="14" name="Oval 13"/>
          <p:cNvSpPr/>
          <p:nvPr/>
        </p:nvSpPr>
        <p:spPr>
          <a:xfrm>
            <a:off x="1051560" y="5074919"/>
            <a:ext cx="73152" cy="73152"/>
          </a:xfrm>
          <a:prstGeom prst="ellipse">
            <a:avLst/>
          </a:prstGeom>
          <a:solidFill>
            <a:srgbClr val="3D5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4440" y="4983479"/>
            <a:ext cx="26517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0" i="0">
                <a:solidFill>
                  <a:srgbClr val="A1A1A6"/>
                </a:solidFill>
                <a:latin typeface="Segoe UI"/>
                <a:ea typeface="微软雅黑"/>
              </a:rPr>
              <a:t>g2-ble / g2-work：眼镜状态机与阻塞写入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89120" y="1828800"/>
            <a:ext cx="3383280" cy="3931920"/>
          </a:xfrm>
          <a:prstGeom prst="roundRect">
            <a:avLst>
              <a:gd name="adj" fmla="val 5945"/>
            </a:avLst>
          </a:prstGeom>
          <a:solidFill>
            <a:srgbClr val="1C1C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09159" y="210312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200" b="1" i="0">
                <a:solidFill>
                  <a:srgbClr val="F5F5F7"/>
                </a:solidFill>
                <a:latin typeface="Segoe UI Semibold"/>
                <a:ea typeface="微软雅黑"/>
              </a:rPr>
              <a:t>技术栈</a:t>
            </a:r>
          </a:p>
        </p:txBody>
      </p:sp>
      <p:sp>
        <p:nvSpPr>
          <p:cNvPr id="18" name="Oval 17"/>
          <p:cNvSpPr/>
          <p:nvPr/>
        </p:nvSpPr>
        <p:spPr>
          <a:xfrm>
            <a:off x="4709159" y="2880360"/>
            <a:ext cx="73152" cy="73152"/>
          </a:xfrm>
          <a:prstGeom prst="ellipse">
            <a:avLst/>
          </a:prstGeom>
          <a:solidFill>
            <a:srgbClr val="3D5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92040" y="2788920"/>
            <a:ext cx="26517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0" i="0">
                <a:solidFill>
                  <a:srgbClr val="A1A1A6"/>
                </a:solidFill>
                <a:latin typeface="Segoe UI"/>
                <a:ea typeface="微软雅黑"/>
              </a:rPr>
              <a:t>Java + Kotlin（眼镜模块）</a:t>
            </a:r>
          </a:p>
        </p:txBody>
      </p:sp>
      <p:sp>
        <p:nvSpPr>
          <p:cNvPr id="20" name="Oval 19"/>
          <p:cNvSpPr/>
          <p:nvPr/>
        </p:nvSpPr>
        <p:spPr>
          <a:xfrm>
            <a:off x="4709159" y="3429000"/>
            <a:ext cx="73152" cy="73152"/>
          </a:xfrm>
          <a:prstGeom prst="ellipse">
            <a:avLst/>
          </a:prstGeom>
          <a:solidFill>
            <a:srgbClr val="3D5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92040" y="3337560"/>
            <a:ext cx="26517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0" i="0">
                <a:solidFill>
                  <a:srgbClr val="A1A1A6"/>
                </a:solidFill>
                <a:latin typeface="Segoe UI"/>
                <a:ea typeface="微软雅黑"/>
              </a:rPr>
              <a:t>Room 数据库，schema v5，含迁移</a:t>
            </a:r>
          </a:p>
        </p:txBody>
      </p:sp>
      <p:sp>
        <p:nvSpPr>
          <p:cNvPr id="22" name="Oval 21"/>
          <p:cNvSpPr/>
          <p:nvPr/>
        </p:nvSpPr>
        <p:spPr>
          <a:xfrm>
            <a:off x="4709159" y="3977639"/>
            <a:ext cx="73152" cy="73152"/>
          </a:xfrm>
          <a:prstGeom prst="ellipse">
            <a:avLst/>
          </a:prstGeom>
          <a:solidFill>
            <a:srgbClr val="3D5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92040" y="3886200"/>
            <a:ext cx="26517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0" i="0">
                <a:solidFill>
                  <a:srgbClr val="A1A1A6"/>
                </a:solidFill>
                <a:latin typeface="Segoe UI"/>
                <a:ea typeface="微软雅黑"/>
              </a:rPr>
              <a:t>sherpa-onnx · onnxruntime C API（JNI）</a:t>
            </a:r>
          </a:p>
        </p:txBody>
      </p:sp>
      <p:sp>
        <p:nvSpPr>
          <p:cNvPr id="24" name="Oval 23"/>
          <p:cNvSpPr/>
          <p:nvPr/>
        </p:nvSpPr>
        <p:spPr>
          <a:xfrm>
            <a:off x="4709159" y="4526279"/>
            <a:ext cx="73152" cy="73152"/>
          </a:xfrm>
          <a:prstGeom prst="ellipse">
            <a:avLst/>
          </a:prstGeom>
          <a:solidFill>
            <a:srgbClr val="3D5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892040" y="4434840"/>
            <a:ext cx="26517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0" i="0">
                <a:solidFill>
                  <a:srgbClr val="A1A1A6"/>
                </a:solidFill>
                <a:latin typeface="Segoe UI"/>
                <a:ea typeface="微软雅黑"/>
              </a:rPr>
              <a:t>OkHttp · Gson · Material 3</a:t>
            </a:r>
          </a:p>
        </p:txBody>
      </p:sp>
      <p:sp>
        <p:nvSpPr>
          <p:cNvPr id="26" name="Oval 25"/>
          <p:cNvSpPr/>
          <p:nvPr/>
        </p:nvSpPr>
        <p:spPr>
          <a:xfrm>
            <a:off x="4709159" y="5074919"/>
            <a:ext cx="73152" cy="73152"/>
          </a:xfrm>
          <a:prstGeom prst="ellipse">
            <a:avLst/>
          </a:prstGeom>
          <a:solidFill>
            <a:srgbClr val="3D5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892040" y="4983479"/>
            <a:ext cx="26517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0" i="0">
                <a:solidFill>
                  <a:srgbClr val="A1A1A6"/>
                </a:solidFill>
                <a:latin typeface="Segoe UI"/>
                <a:ea typeface="微软雅黑"/>
              </a:rPr>
              <a:t>arm64-v8a · minSdk 28 · 系统应用（android.uid.system）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46720" y="1828800"/>
            <a:ext cx="3383280" cy="3931920"/>
          </a:xfrm>
          <a:prstGeom prst="roundRect">
            <a:avLst>
              <a:gd name="adj" fmla="val 5945"/>
            </a:avLst>
          </a:prstGeom>
          <a:solidFill>
            <a:srgbClr val="1C1C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66760" y="210312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200" b="1" i="0">
                <a:solidFill>
                  <a:srgbClr val="F5F5F7"/>
                </a:solidFill>
                <a:latin typeface="Segoe UI Semibold"/>
                <a:ea typeface="微软雅黑"/>
              </a:rPr>
              <a:t>数据策略</a:t>
            </a:r>
          </a:p>
        </p:txBody>
      </p:sp>
      <p:sp>
        <p:nvSpPr>
          <p:cNvPr id="30" name="Oval 29"/>
          <p:cNvSpPr/>
          <p:nvPr/>
        </p:nvSpPr>
        <p:spPr>
          <a:xfrm>
            <a:off x="8366760" y="2880360"/>
            <a:ext cx="73152" cy="73152"/>
          </a:xfrm>
          <a:prstGeom prst="ellipse">
            <a:avLst/>
          </a:prstGeom>
          <a:solidFill>
            <a:srgbClr val="3D5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549640" y="2788920"/>
            <a:ext cx="26517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0" i="0">
                <a:solidFill>
                  <a:srgbClr val="A1A1A6"/>
                </a:solidFill>
                <a:latin typeface="Segoe UI"/>
                <a:ea typeface="微软雅黑"/>
              </a:rPr>
              <a:t>转写保留 30 天，自动清理</a:t>
            </a:r>
          </a:p>
        </p:txBody>
      </p:sp>
      <p:sp>
        <p:nvSpPr>
          <p:cNvPr id="32" name="Oval 31"/>
          <p:cNvSpPr/>
          <p:nvPr/>
        </p:nvSpPr>
        <p:spPr>
          <a:xfrm>
            <a:off x="8366760" y="3429000"/>
            <a:ext cx="73152" cy="73152"/>
          </a:xfrm>
          <a:prstGeom prst="ellipse">
            <a:avLst/>
          </a:prstGeom>
          <a:solidFill>
            <a:srgbClr val="3D5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549640" y="3337560"/>
            <a:ext cx="26517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0" i="0">
                <a:solidFill>
                  <a:srgbClr val="A1A1A6"/>
                </a:solidFill>
                <a:latin typeface="Segoe UI"/>
                <a:ea typeface="微软雅黑"/>
              </a:rPr>
              <a:t>截图任务保留 3 天</a:t>
            </a:r>
          </a:p>
        </p:txBody>
      </p:sp>
      <p:sp>
        <p:nvSpPr>
          <p:cNvPr id="34" name="Oval 33"/>
          <p:cNvSpPr/>
          <p:nvPr/>
        </p:nvSpPr>
        <p:spPr>
          <a:xfrm>
            <a:off x="8366760" y="3977639"/>
            <a:ext cx="73152" cy="73152"/>
          </a:xfrm>
          <a:prstGeom prst="ellipse">
            <a:avLst/>
          </a:prstGeom>
          <a:solidFill>
            <a:srgbClr val="3D5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549640" y="3886200"/>
            <a:ext cx="26517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0" i="0">
                <a:solidFill>
                  <a:srgbClr val="A1A1A6"/>
                </a:solidFill>
                <a:latin typeface="Segoe UI"/>
                <a:ea typeface="微软雅黑"/>
              </a:rPr>
              <a:t>每人保留最近 15 s 声音用于辨认</a:t>
            </a:r>
          </a:p>
        </p:txBody>
      </p:sp>
      <p:sp>
        <p:nvSpPr>
          <p:cNvPr id="36" name="Oval 35"/>
          <p:cNvSpPr/>
          <p:nvPr/>
        </p:nvSpPr>
        <p:spPr>
          <a:xfrm>
            <a:off x="8366760" y="4526279"/>
            <a:ext cx="73152" cy="73152"/>
          </a:xfrm>
          <a:prstGeom prst="ellipse">
            <a:avLst/>
          </a:prstGeom>
          <a:solidFill>
            <a:srgbClr val="3D5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549640" y="4434840"/>
            <a:ext cx="26517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0" i="0">
                <a:solidFill>
                  <a:srgbClr val="A1A1A6"/>
                </a:solidFill>
                <a:latin typeface="Segoe UI"/>
                <a:ea typeface="微软雅黑"/>
              </a:rPr>
              <a:t>前台服务 + WakeLock 持续录音</a:t>
            </a:r>
          </a:p>
        </p:txBody>
      </p:sp>
      <p:sp>
        <p:nvSpPr>
          <p:cNvPr id="38" name="Oval 37"/>
          <p:cNvSpPr/>
          <p:nvPr/>
        </p:nvSpPr>
        <p:spPr>
          <a:xfrm>
            <a:off x="8366760" y="5074919"/>
            <a:ext cx="73152" cy="73152"/>
          </a:xfrm>
          <a:prstGeom prst="ellipse">
            <a:avLst/>
          </a:prstGeom>
          <a:solidFill>
            <a:srgbClr val="3D5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549640" y="4983479"/>
            <a:ext cx="26517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0" i="0">
                <a:solidFill>
                  <a:srgbClr val="A1A1A6"/>
                </a:solidFill>
                <a:latin typeface="Segoe UI"/>
                <a:ea typeface="微软雅黑"/>
              </a:rPr>
              <a:t>回放录音时屏蔽麦克风，避开扬声器余音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45775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000" b="0" i="0">
                <a:solidFill>
                  <a:srgbClr val="86868B"/>
                </a:solidFill>
                <a:latin typeface="Segoe UI"/>
                <a:ea typeface="微软雅黑"/>
              </a:rPr>
              <a:t>23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4000" b="1" i="0">
                <a:solidFill>
                  <a:srgbClr val="1D1D1F"/>
                </a:solidFill>
                <a:latin typeface="Segoe UI Semibold"/>
                <a:ea typeface="微软雅黑"/>
              </a:rPr>
              <a:t>两条镜腿，一条连接。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53312"/>
            <a:ext cx="1072865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0" i="0">
                <a:solidFill>
                  <a:srgbClr val="6E6E73"/>
                </a:solidFill>
                <a:latin typeface="Segoe UI"/>
                <a:ea typeface="微软雅黑"/>
              </a:rPr>
              <a:t>Even G2 的左右镜腿是两个独立的 BLE 设备，缺一不可。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1911644" cy="1737360"/>
          </a:xfrm>
          <a:prstGeom prst="roundRect">
            <a:avLst>
              <a:gd name="adj" fmla="val 9473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157984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1" i="0">
                <a:solidFill>
                  <a:srgbClr val="3D5AFE"/>
                </a:solidFill>
                <a:latin typeface="Segoe UI Semibold"/>
                <a:ea typeface="微软雅黑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395728"/>
            <a:ext cx="154588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1" i="0">
                <a:solidFill>
                  <a:srgbClr val="1D1D1F"/>
                </a:solidFill>
                <a:latin typeface="Segoe UI Semibold"/>
                <a:ea typeface="微软雅黑"/>
              </a:rPr>
              <a:t>扫描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761488"/>
            <a:ext cx="1545884" cy="9143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 i="0">
                <a:solidFill>
                  <a:srgbClr val="6E6E73"/>
                </a:solidFill>
                <a:latin typeface="Segoe UI"/>
                <a:ea typeface="微软雅黑"/>
              </a:rPr>
              <a:t>按服务 UUID 过滤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 i="0">
                <a:solidFill>
                  <a:srgbClr val="6E6E73"/>
                </a:solidFill>
                <a:latin typeface="Segoe UI"/>
                <a:ea typeface="微软雅黑"/>
              </a:rPr>
              <a:t>最多 20 秒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 i="0">
                <a:solidFill>
                  <a:srgbClr val="6E6E73"/>
                </a:solidFill>
                <a:latin typeface="Segoe UI"/>
                <a:ea typeface="微软雅黑"/>
              </a:rPr>
              <a:t>识别 “Even G2_L / _R” 命名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688884" y="2880360"/>
            <a:ext cx="201168" cy="0"/>
          </a:xfrm>
          <a:prstGeom prst="line">
            <a:avLst/>
          </a:prstGeom>
          <a:ln w="15240">
            <a:solidFill>
              <a:srgbClr val="C7C7C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935772" y="2011680"/>
            <a:ext cx="1911644" cy="1737360"/>
          </a:xfrm>
          <a:prstGeom prst="roundRect">
            <a:avLst>
              <a:gd name="adj" fmla="val 9473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118652" y="2157984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1" i="0">
                <a:solidFill>
                  <a:srgbClr val="3D5AFE"/>
                </a:solidFill>
                <a:latin typeface="Segoe UI Semibold"/>
                <a:ea typeface="微软雅黑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18652" y="2395728"/>
            <a:ext cx="154588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1" i="0">
                <a:solidFill>
                  <a:srgbClr val="1D1D1F"/>
                </a:solidFill>
                <a:latin typeface="Segoe UI Semibold"/>
                <a:ea typeface="微软雅黑"/>
              </a:rPr>
              <a:t>连接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18652" y="2761488"/>
            <a:ext cx="1545884" cy="9143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 i="0">
                <a:solidFill>
                  <a:srgbClr val="6E6E73"/>
                </a:solidFill>
                <a:latin typeface="Segoe UI"/>
                <a:ea typeface="微软雅黑"/>
              </a:rPr>
              <a:t>两条镜腿各建 GATT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 i="0">
                <a:solidFill>
                  <a:srgbClr val="6E6E73"/>
                </a:solidFill>
                <a:latin typeface="Segoe UI"/>
                <a:ea typeface="微软雅黑"/>
              </a:rPr>
              <a:t>请求 MTU 247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 i="0">
                <a:solidFill>
                  <a:srgbClr val="6E6E73"/>
                </a:solidFill>
                <a:latin typeface="Segoe UI"/>
                <a:ea typeface="微软雅黑"/>
              </a:rPr>
              <a:t>订阅通知特征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893137" y="2880360"/>
            <a:ext cx="201168" cy="0"/>
          </a:xfrm>
          <a:prstGeom prst="line">
            <a:avLst/>
          </a:prstGeom>
          <a:ln w="15240">
            <a:solidFill>
              <a:srgbClr val="C7C7C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5140025" y="2011680"/>
            <a:ext cx="1911644" cy="1737360"/>
          </a:xfrm>
          <a:prstGeom prst="roundRect">
            <a:avLst>
              <a:gd name="adj" fmla="val 9473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22905" y="2157984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1" i="0">
                <a:solidFill>
                  <a:srgbClr val="3D5AFE"/>
                </a:solidFill>
                <a:latin typeface="Segoe UI Semibold"/>
                <a:ea typeface="微软雅黑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22905" y="2395728"/>
            <a:ext cx="154588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1" i="0">
                <a:solidFill>
                  <a:srgbClr val="1D1D1F"/>
                </a:solidFill>
                <a:latin typeface="Segoe UI Semibold"/>
                <a:ea typeface="微软雅黑"/>
              </a:rPr>
              <a:t>握手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22905" y="2761488"/>
            <a:ext cx="1545884" cy="9143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 i="0">
                <a:solidFill>
                  <a:srgbClr val="6E6E73"/>
                </a:solidFill>
                <a:latin typeface="Segoe UI"/>
                <a:ea typeface="微软雅黑"/>
              </a:rPr>
              <a:t>向两条镜腿各发 7 个鉴权包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 i="0">
                <a:solidFill>
                  <a:srgbClr val="6E6E73"/>
                </a:solidFill>
                <a:latin typeface="Segoe UI"/>
                <a:ea typeface="微软雅黑"/>
              </a:rPr>
              <a:t>内嵌 Unix 时间戳 varint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 i="0">
                <a:solidFill>
                  <a:srgbClr val="6E6E73"/>
                </a:solidFill>
                <a:latin typeface="Segoe UI"/>
                <a:ea typeface="微软雅黑"/>
              </a:rPr>
              <a:t>约 1～2 秒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097389" y="2880360"/>
            <a:ext cx="201168" cy="0"/>
          </a:xfrm>
          <a:prstGeom prst="line">
            <a:avLst/>
          </a:prstGeom>
          <a:ln w="15240">
            <a:solidFill>
              <a:srgbClr val="C7C7C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7344277" y="2011680"/>
            <a:ext cx="1911644" cy="1737360"/>
          </a:xfrm>
          <a:prstGeom prst="roundRect">
            <a:avLst>
              <a:gd name="adj" fmla="val 9473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527157" y="2157984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1" i="0">
                <a:solidFill>
                  <a:srgbClr val="3D5AFE"/>
                </a:solidFill>
                <a:latin typeface="Segoe UI Semibold"/>
                <a:ea typeface="微软雅黑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27157" y="2395728"/>
            <a:ext cx="154588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1" i="0">
                <a:solidFill>
                  <a:srgbClr val="1D1D1F"/>
                </a:solidFill>
                <a:latin typeface="Segoe UI Semibold"/>
                <a:ea typeface="微软雅黑"/>
              </a:rPr>
              <a:t>就绪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27157" y="2761488"/>
            <a:ext cx="1545884" cy="9143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 i="0">
                <a:solidFill>
                  <a:srgbClr val="6E6E73"/>
                </a:solidFill>
                <a:latin typeface="Segoe UI"/>
                <a:ea typeface="微软雅黑"/>
              </a:rPr>
              <a:t>文本心跳 1.5 s 一次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 i="0">
                <a:solidFill>
                  <a:srgbClr val="6E6E73"/>
                </a:solidFill>
                <a:latin typeface="Segoe UI"/>
                <a:ea typeface="微软雅黑"/>
              </a:rPr>
              <a:t>状态 READY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 i="0">
                <a:solidFill>
                  <a:srgbClr val="6E6E73"/>
                </a:solidFill>
                <a:latin typeface="Segoe UI"/>
                <a:ea typeface="微软雅黑"/>
              </a:rPr>
              <a:t>可以推送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9301642" y="2880360"/>
            <a:ext cx="201168" cy="0"/>
          </a:xfrm>
          <a:prstGeom prst="line">
            <a:avLst/>
          </a:prstGeom>
          <a:ln w="15240">
            <a:solidFill>
              <a:srgbClr val="C7C7C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9548530" y="2011680"/>
            <a:ext cx="1911644" cy="1737360"/>
          </a:xfrm>
          <a:prstGeom prst="roundRect">
            <a:avLst>
              <a:gd name="adj" fmla="val 9473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731410" y="2157984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1" i="0">
                <a:solidFill>
                  <a:srgbClr val="3D5AFE"/>
                </a:solidFill>
                <a:latin typeface="Segoe UI Semibold"/>
                <a:ea typeface="微软雅黑"/>
              </a:rP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31410" y="2395728"/>
            <a:ext cx="154588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1" i="0">
                <a:solidFill>
                  <a:srgbClr val="1D1D1F"/>
                </a:solidFill>
                <a:latin typeface="Segoe UI Semibold"/>
                <a:ea typeface="微软雅黑"/>
              </a:rPr>
              <a:t>重连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31410" y="2761488"/>
            <a:ext cx="1545884" cy="9143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 i="0">
                <a:solidFill>
                  <a:srgbClr val="6E6E73"/>
                </a:solidFill>
                <a:latin typeface="Segoe UI"/>
                <a:ea typeface="微软雅黑"/>
              </a:rPr>
              <a:t>退避 3 → 60 秒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 i="0">
                <a:solidFill>
                  <a:srgbClr val="6E6E73"/>
                </a:solidFill>
                <a:latin typeface="Segoe UI"/>
                <a:ea typeface="微软雅黑"/>
              </a:rPr>
              <a:t>定向扫描 20 分钟一轮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 i="0">
                <a:solidFill>
                  <a:srgbClr val="6E6E73"/>
                </a:solidFill>
                <a:latin typeface="Segoe UI"/>
                <a:ea typeface="微软雅黑"/>
              </a:rPr>
              <a:t>蓝牙开关 / 充电盒自动恢复</a:t>
            </a:r>
          </a:p>
        </p:txBody>
      </p:sp>
      <p:sp>
        <p:nvSpPr>
          <p:cNvPr id="29" name="Oval 28"/>
          <p:cNvSpPr/>
          <p:nvPr/>
        </p:nvSpPr>
        <p:spPr>
          <a:xfrm>
            <a:off x="731520" y="4416552"/>
            <a:ext cx="73152" cy="73152"/>
          </a:xfrm>
          <a:prstGeom prst="ellipse">
            <a:avLst/>
          </a:prstGeom>
          <a:solidFill>
            <a:srgbClr val="3D5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32688" y="4297680"/>
            <a:ext cx="10527487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50" b="0" i="0">
                <a:solidFill>
                  <a:srgbClr val="1D1D1F"/>
                </a:solidFill>
                <a:latin typeface="Segoe UI"/>
                <a:ea typeface="微软雅黑"/>
              </a:rPr>
              <a:t>不需要配对码，不弹系统配对窗口；配对成功后记住两条镜腿的地址和名字，录音服务启动时后台自动重连</a:t>
            </a:r>
          </a:p>
        </p:txBody>
      </p:sp>
      <p:sp>
        <p:nvSpPr>
          <p:cNvPr id="31" name="Oval 30"/>
          <p:cNvSpPr/>
          <p:nvPr/>
        </p:nvSpPr>
        <p:spPr>
          <a:xfrm>
            <a:off x="731520" y="4800600"/>
            <a:ext cx="73152" cy="73152"/>
          </a:xfrm>
          <a:prstGeom prst="ellipse">
            <a:avLst/>
          </a:prstGeom>
          <a:solidFill>
            <a:srgbClr val="3D5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32688" y="4681728"/>
            <a:ext cx="10527487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50" b="0" i="0">
                <a:solidFill>
                  <a:srgbClr val="1D1D1F"/>
                </a:solidFill>
                <a:latin typeface="Segoe UI"/>
                <a:ea typeface="微软雅黑"/>
              </a:rPr>
              <a:t>如果系统蓝牙设置里已经连着眼镜，直接接管这条连接；附近有多副眼镜时可以在列表里手动指定左右</a:t>
            </a:r>
          </a:p>
        </p:txBody>
      </p:sp>
      <p:sp>
        <p:nvSpPr>
          <p:cNvPr id="33" name="Oval 32"/>
          <p:cNvSpPr/>
          <p:nvPr/>
        </p:nvSpPr>
        <p:spPr>
          <a:xfrm>
            <a:off x="731520" y="5184648"/>
            <a:ext cx="73152" cy="73152"/>
          </a:xfrm>
          <a:prstGeom prst="ellipse">
            <a:avLst/>
          </a:prstGeom>
          <a:solidFill>
            <a:srgbClr val="3D5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32688" y="5065776"/>
            <a:ext cx="10527487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50" b="0" i="0">
                <a:solidFill>
                  <a:srgbClr val="1D1D1F"/>
                </a:solidFill>
                <a:latin typeface="Segoe UI"/>
                <a:ea typeface="微软雅黑"/>
              </a:rPr>
              <a:t>连接由应用级单例 GlassesManager 持有，录音服务与配对页共用同一条连接，服务退出不断开</a:t>
            </a:r>
          </a:p>
        </p:txBody>
      </p:sp>
      <p:sp>
        <p:nvSpPr>
          <p:cNvPr id="35" name="Oval 34"/>
          <p:cNvSpPr/>
          <p:nvPr/>
        </p:nvSpPr>
        <p:spPr>
          <a:xfrm>
            <a:off x="731520" y="5568696"/>
            <a:ext cx="73152" cy="73152"/>
          </a:xfrm>
          <a:prstGeom prst="ellipse">
            <a:avLst/>
          </a:prstGeom>
          <a:solidFill>
            <a:srgbClr val="3D5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32688" y="5449824"/>
            <a:ext cx="10527487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50" b="0" i="0">
                <a:solidFill>
                  <a:srgbClr val="1D1D1F"/>
                </a:solidFill>
                <a:latin typeface="Segoe UI"/>
                <a:ea typeface="微软雅黑"/>
              </a:rPr>
              <a:t>协议来自社区逆向整理（OpenEvenSdk / even-g2-protocol），非官方支持；固件升级后可能需要跟进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45775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000" b="0" i="0">
                <a:solidFill>
                  <a:srgbClr val="6E6E73"/>
                </a:solidFill>
                <a:latin typeface="Segoe UI"/>
                <a:ea typeface="微软雅黑"/>
              </a:rPr>
              <a:t>24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4000" b="1" i="0">
                <a:solidFill>
                  <a:srgbClr val="F5F5F7"/>
                </a:solidFill>
                <a:latin typeface="Segoe UI Semibold"/>
                <a:ea typeface="微软雅黑"/>
              </a:rPr>
              <a:t>一张图，怎么推到镜片上。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53312"/>
            <a:ext cx="1072865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0" i="0">
                <a:solidFill>
                  <a:srgbClr val="A1A1A6"/>
                </a:solidFill>
                <a:latin typeface="Segoe UI"/>
                <a:ea typeface="微软雅黑"/>
              </a:rPr>
              <a:t>从 Android Bitmap 到 BLE 分片，每一步都有坑。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20240"/>
            <a:ext cx="1911644" cy="1783080"/>
          </a:xfrm>
          <a:prstGeom prst="roundRect">
            <a:avLst>
              <a:gd name="adj" fmla="val 9230"/>
            </a:avLst>
          </a:prstGeom>
          <a:solidFill>
            <a:srgbClr val="1C1C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066544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1" i="0">
                <a:solidFill>
                  <a:srgbClr val="3D5AFE"/>
                </a:solidFill>
                <a:latin typeface="Segoe UI Semibold"/>
                <a:ea typeface="微软雅黑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304288"/>
            <a:ext cx="154588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1" i="0">
                <a:solidFill>
                  <a:srgbClr val="F5F5F7"/>
                </a:solidFill>
                <a:latin typeface="Segoe UI Semibold"/>
                <a:ea typeface="微软雅黑"/>
              </a:rPr>
              <a:t>渲染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70048"/>
            <a:ext cx="1545884" cy="9601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 i="0">
                <a:solidFill>
                  <a:srgbClr val="A1A1A6"/>
                </a:solidFill>
                <a:latin typeface="Segoe UI"/>
                <a:ea typeface="微软雅黑"/>
              </a:rPr>
              <a:t>FactsRenderer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 i="0">
                <a:solidFill>
                  <a:srgbClr val="A1A1A6"/>
                </a:solidFill>
                <a:latin typeface="Segoe UI"/>
                <a:ea typeface="微软雅黑"/>
              </a:rPr>
              <a:t>576 × 256 位图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 i="0">
                <a:solidFill>
                  <a:srgbClr val="A1A1A6"/>
                </a:solidFill>
                <a:latin typeface="Segoe UI"/>
                <a:ea typeface="微软雅黑"/>
              </a:rPr>
              <a:t>系统字体画中文，黑底白字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688884" y="2811780"/>
            <a:ext cx="201168" cy="0"/>
          </a:xfrm>
          <a:prstGeom prst="line">
            <a:avLst/>
          </a:prstGeom>
          <a:ln w="15240">
            <a:solidFill>
              <a:srgbClr val="6E6E7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935772" y="1920240"/>
            <a:ext cx="1911644" cy="1783080"/>
          </a:xfrm>
          <a:prstGeom prst="roundRect">
            <a:avLst>
              <a:gd name="adj" fmla="val 9230"/>
            </a:avLst>
          </a:prstGeom>
          <a:solidFill>
            <a:srgbClr val="1C1C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118652" y="2066544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1" i="0">
                <a:solidFill>
                  <a:srgbClr val="3D5AFE"/>
                </a:solidFill>
                <a:latin typeface="Segoe UI Semibold"/>
                <a:ea typeface="微软雅黑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18652" y="2304288"/>
            <a:ext cx="154588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1" i="0">
                <a:solidFill>
                  <a:srgbClr val="F5F5F7"/>
                </a:solidFill>
                <a:latin typeface="Segoe UI Semibold"/>
                <a:ea typeface="微软雅黑"/>
              </a:rPr>
              <a:t>切块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18652" y="2670048"/>
            <a:ext cx="1545884" cy="9601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 i="0">
                <a:solidFill>
                  <a:srgbClr val="A1A1A6"/>
                </a:solidFill>
                <a:latin typeface="Segoe UI"/>
                <a:ea typeface="微软雅黑"/>
              </a:rPr>
              <a:t>Bmp4：2 × 2 瓦片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 i="0">
                <a:solidFill>
                  <a:srgbClr val="A1A1A6"/>
                </a:solidFill>
                <a:latin typeface="Segoe UI"/>
                <a:ea typeface="微软雅黑"/>
              </a:rPr>
              <a:t>288 × 128，4 bpp 16 灰阶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 i="0">
                <a:solidFill>
                  <a:srgbClr val="A1A1A6"/>
                </a:solidFill>
                <a:latin typeface="Segoe UI"/>
                <a:ea typeface="微软雅黑"/>
              </a:rPr>
              <a:t>每块 ≈ 18.5 KB（固件上限 ~20 KB）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893137" y="2811780"/>
            <a:ext cx="201168" cy="0"/>
          </a:xfrm>
          <a:prstGeom prst="line">
            <a:avLst/>
          </a:prstGeom>
          <a:ln w="15240">
            <a:solidFill>
              <a:srgbClr val="6E6E7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5140025" y="1920240"/>
            <a:ext cx="1911644" cy="1783080"/>
          </a:xfrm>
          <a:prstGeom prst="roundRect">
            <a:avLst>
              <a:gd name="adj" fmla="val 9230"/>
            </a:avLst>
          </a:prstGeom>
          <a:solidFill>
            <a:srgbClr val="1C1C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22905" y="2066544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1" i="0">
                <a:solidFill>
                  <a:srgbClr val="3D5AFE"/>
                </a:solidFill>
                <a:latin typeface="Segoe UI Semibold"/>
                <a:ea typeface="微软雅黑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22905" y="2304288"/>
            <a:ext cx="154588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1" i="0">
                <a:solidFill>
                  <a:srgbClr val="F5F5F7"/>
                </a:solidFill>
                <a:latin typeface="Segoe UI Semibold"/>
                <a:ea typeface="微软雅黑"/>
              </a:rPr>
              <a:t>打包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22905" y="2670048"/>
            <a:ext cx="1545884" cy="9601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 i="0">
                <a:solidFill>
                  <a:srgbClr val="A1A1A6"/>
                </a:solidFill>
                <a:latin typeface="Segoe UI"/>
                <a:ea typeface="微软雅黑"/>
              </a:rPr>
              <a:t>EvenHub 手写 proto3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 i="0">
                <a:solidFill>
                  <a:srgbClr val="A1A1A6"/>
                </a:solidFill>
                <a:latin typeface="Segoe UI"/>
                <a:ea typeface="微软雅黑"/>
              </a:rPr>
              <a:t>CREATE 页面：1 文本 + 4 图片容器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 i="0">
                <a:solidFill>
                  <a:srgbClr val="A1A1A6"/>
                </a:solidFill>
                <a:latin typeface="Segoe UI"/>
                <a:ea typeface="微软雅黑"/>
              </a:rPr>
              <a:t>UPDATE_IMAGE 分片 ≤ 3800 B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097389" y="2811780"/>
            <a:ext cx="201168" cy="0"/>
          </a:xfrm>
          <a:prstGeom prst="line">
            <a:avLst/>
          </a:prstGeom>
          <a:ln w="15240">
            <a:solidFill>
              <a:srgbClr val="6E6E7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7344277" y="1920240"/>
            <a:ext cx="1911644" cy="1783080"/>
          </a:xfrm>
          <a:prstGeom prst="roundRect">
            <a:avLst>
              <a:gd name="adj" fmla="val 9230"/>
            </a:avLst>
          </a:prstGeom>
          <a:solidFill>
            <a:srgbClr val="1C1C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527157" y="2066544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1" i="0">
                <a:solidFill>
                  <a:srgbClr val="3D5AFE"/>
                </a:solidFill>
                <a:latin typeface="Segoe UI Semibold"/>
                <a:ea typeface="微软雅黑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27157" y="2304288"/>
            <a:ext cx="154588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1" i="0">
                <a:solidFill>
                  <a:srgbClr val="F5F5F7"/>
                </a:solidFill>
                <a:latin typeface="Segoe UI Semibold"/>
                <a:ea typeface="微软雅黑"/>
              </a:rPr>
              <a:t>分帧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27157" y="2670048"/>
            <a:ext cx="1545884" cy="9601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 i="0">
                <a:solidFill>
                  <a:srgbClr val="A1A1A6"/>
                </a:solidFill>
                <a:latin typeface="Segoe UI"/>
                <a:ea typeface="微软雅黑"/>
              </a:rPr>
              <a:t>AA 21 seq len total idx sid flag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 i="0">
                <a:solidFill>
                  <a:srgbClr val="A1A1A6"/>
                </a:solidFill>
                <a:latin typeface="Segoe UI"/>
                <a:ea typeface="微软雅黑"/>
              </a:rPr>
              <a:t>每帧 ≤ 232 B，CRC16 追加末片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 i="0">
                <a:solidFill>
                  <a:srgbClr val="A1A1A6"/>
                </a:solidFill>
                <a:latin typeface="Segoe UI"/>
                <a:ea typeface="微软雅黑"/>
              </a:rPr>
              <a:t>只发右镜腿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9301642" y="2811780"/>
            <a:ext cx="201168" cy="0"/>
          </a:xfrm>
          <a:prstGeom prst="line">
            <a:avLst/>
          </a:prstGeom>
          <a:ln w="15240">
            <a:solidFill>
              <a:srgbClr val="6E6E7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9548530" y="1920240"/>
            <a:ext cx="1911644" cy="1783080"/>
          </a:xfrm>
          <a:prstGeom prst="roundRect">
            <a:avLst>
              <a:gd name="adj" fmla="val 9230"/>
            </a:avLst>
          </a:prstGeom>
          <a:solidFill>
            <a:srgbClr val="1C1C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731410" y="2066544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1" i="0">
                <a:solidFill>
                  <a:srgbClr val="3D5AFE"/>
                </a:solidFill>
                <a:latin typeface="Segoe UI Semibold"/>
                <a:ea typeface="微软雅黑"/>
              </a:rP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31410" y="2304288"/>
            <a:ext cx="154588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1" i="0">
                <a:solidFill>
                  <a:srgbClr val="F5F5F7"/>
                </a:solidFill>
                <a:latin typeface="Segoe UI Semibold"/>
                <a:ea typeface="微软雅黑"/>
              </a:rPr>
              <a:t>显示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31410" y="2670048"/>
            <a:ext cx="1545884" cy="9601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 i="0">
                <a:solidFill>
                  <a:srgbClr val="A1A1A6"/>
                </a:solidFill>
                <a:latin typeface="Segoe UI"/>
                <a:ea typeface="微软雅黑"/>
              </a:rPr>
              <a:t>整屏约 5～10 秒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 i="0">
                <a:solidFill>
                  <a:srgbClr val="A1A1A6"/>
                </a:solidFill>
                <a:latin typeface="Segoe UI"/>
                <a:ea typeface="微软雅黑"/>
              </a:rPr>
              <a:t>60 秒后自动关闭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 i="0">
                <a:solidFill>
                  <a:srgbClr val="A1A1A6"/>
                </a:solidFill>
                <a:latin typeface="Segoe UI"/>
                <a:ea typeface="微软雅黑"/>
              </a:rPr>
              <a:t>回到眼镜自己的仪表盘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4069080"/>
            <a:ext cx="1072865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000" b="1" i="0">
                <a:solidFill>
                  <a:srgbClr val="F5F5F7"/>
                </a:solidFill>
                <a:latin typeface="Segoe UI Semibold"/>
                <a:ea typeface="微软雅黑"/>
              </a:rPr>
              <a:t>踩过的坑</a:t>
            </a:r>
          </a:p>
        </p:txBody>
      </p:sp>
      <p:sp>
        <p:nvSpPr>
          <p:cNvPr id="30" name="Oval 29"/>
          <p:cNvSpPr/>
          <p:nvPr/>
        </p:nvSpPr>
        <p:spPr>
          <a:xfrm>
            <a:off x="731520" y="4654296"/>
            <a:ext cx="73152" cy="73152"/>
          </a:xfrm>
          <a:prstGeom prst="ellipse">
            <a:avLst/>
          </a:prstGeom>
          <a:solidFill>
            <a:srgbClr val="7CFF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32688" y="4526280"/>
            <a:ext cx="5120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0" i="0">
                <a:solidFill>
                  <a:srgbClr val="A1A1A6"/>
                </a:solidFill>
                <a:latin typeface="Segoe UI"/>
                <a:ea typeface="微软雅黑"/>
              </a:rPr>
              <a:t>CREATE 之后的第一次图片流会被固件丢掉 → 先推一块全黑瓦片预热</a:t>
            </a:r>
          </a:p>
        </p:txBody>
      </p:sp>
      <p:sp>
        <p:nvSpPr>
          <p:cNvPr id="32" name="Oval 31"/>
          <p:cNvSpPr/>
          <p:nvPr/>
        </p:nvSpPr>
        <p:spPr>
          <a:xfrm>
            <a:off x="6217920" y="4654296"/>
            <a:ext cx="73152" cy="73152"/>
          </a:xfrm>
          <a:prstGeom prst="ellipse">
            <a:avLst/>
          </a:prstGeom>
          <a:solidFill>
            <a:srgbClr val="7CFF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19088" y="4526280"/>
            <a:ext cx="5120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0" i="0">
                <a:solidFill>
                  <a:srgbClr val="A1A1A6"/>
                </a:solidFill>
                <a:latin typeface="Segoe UI"/>
                <a:ea typeface="微软雅黑"/>
              </a:rPr>
              <a:t>插件任务约 10 秒没流量就被回收 → 瓦片之间插心跳，推图期间 2 秒一次 EvenHub 心跳</a:t>
            </a:r>
          </a:p>
        </p:txBody>
      </p:sp>
      <p:sp>
        <p:nvSpPr>
          <p:cNvPr id="34" name="Oval 33"/>
          <p:cNvSpPr/>
          <p:nvPr/>
        </p:nvSpPr>
        <p:spPr>
          <a:xfrm>
            <a:off x="731520" y="5111496"/>
            <a:ext cx="73152" cy="73152"/>
          </a:xfrm>
          <a:prstGeom prst="ellipse">
            <a:avLst/>
          </a:prstGeom>
          <a:solidFill>
            <a:srgbClr val="7CFF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32688" y="4983480"/>
            <a:ext cx="5120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0" i="0">
                <a:solidFill>
                  <a:srgbClr val="A1A1A6"/>
                </a:solidFill>
                <a:latin typeface="Segoe UI"/>
                <a:ea typeface="微软雅黑"/>
              </a:rPr>
              <a:t>纯图片页会 ack 但不绘制 → 顶部 32 px 必须保留一个文本容器</a:t>
            </a:r>
          </a:p>
        </p:txBody>
      </p:sp>
      <p:sp>
        <p:nvSpPr>
          <p:cNvPr id="36" name="Oval 35"/>
          <p:cNvSpPr/>
          <p:nvPr/>
        </p:nvSpPr>
        <p:spPr>
          <a:xfrm>
            <a:off x="6217920" y="5111496"/>
            <a:ext cx="73152" cy="73152"/>
          </a:xfrm>
          <a:prstGeom prst="ellipse">
            <a:avLst/>
          </a:prstGeom>
          <a:solidFill>
            <a:srgbClr val="7CFF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19088" y="4983480"/>
            <a:ext cx="5120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0" i="0">
                <a:solidFill>
                  <a:srgbClr val="A1A1A6"/>
                </a:solidFill>
                <a:latin typeface="Segoe UI"/>
                <a:ea typeface="微软雅黑"/>
              </a:rPr>
              <a:t>容器名超过 14 字节会被静默拒绝；比 MTU 大的帧会被静默丢弃导致重组失败</a:t>
            </a:r>
          </a:p>
        </p:txBody>
      </p:sp>
      <p:sp>
        <p:nvSpPr>
          <p:cNvPr id="38" name="Oval 37"/>
          <p:cNvSpPr/>
          <p:nvPr/>
        </p:nvSpPr>
        <p:spPr>
          <a:xfrm>
            <a:off x="731520" y="5568696"/>
            <a:ext cx="73152" cy="73152"/>
          </a:xfrm>
          <a:prstGeom prst="ellipse">
            <a:avLst/>
          </a:prstGeom>
          <a:solidFill>
            <a:srgbClr val="7CFF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32688" y="5440680"/>
            <a:ext cx="5120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0" i="0">
                <a:solidFill>
                  <a:srgbClr val="A1A1A6"/>
                </a:solidFill>
                <a:latin typeface="Segoe UI"/>
                <a:ea typeface="微软雅黑"/>
              </a:rPr>
              <a:t>瓦片内容指纹去重：没变化的块不重发；页面丢失事件（FOREGROUND_EXIT 等）后自动重新 CREATE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45775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000" b="0" i="0">
                <a:solidFill>
                  <a:srgbClr val="86868B"/>
                </a:solidFill>
                <a:latin typeface="Segoe UI"/>
                <a:ea typeface="微软雅黑"/>
              </a:rPr>
              <a:t>25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4000" b="1" i="0">
                <a:solidFill>
                  <a:srgbClr val="1D1D1F"/>
                </a:solidFill>
                <a:latin typeface="Segoe UI Semibold"/>
                <a:ea typeface="微软雅黑"/>
              </a:rPr>
              <a:t>配对，一页搞定。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53312"/>
            <a:ext cx="1072865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0" i="0">
                <a:solidFill>
                  <a:srgbClr val="6E6E73"/>
                </a:solidFill>
                <a:latin typeface="Segoe UI"/>
                <a:ea typeface="微软雅黑"/>
              </a:rPr>
              <a:t>总开关、连接状态、扫描结果、测试图片，以及一整段“配对步骤与注意事项”。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65960"/>
            <a:ext cx="5120640" cy="3749039"/>
          </a:xfrm>
          <a:prstGeom prst="roundRect">
            <a:avLst>
              <a:gd name="adj" fmla="val 5365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2194560"/>
            <a:ext cx="45720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800" b="1" i="0">
                <a:solidFill>
                  <a:srgbClr val="1D1D1F"/>
                </a:solidFill>
                <a:latin typeface="Segoe UI Semibold"/>
                <a:ea typeface="微软雅黑"/>
              </a:rPr>
              <a:t>推送到 Even G2 眼镜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2240280"/>
            <a:ext cx="640080" cy="329184"/>
          </a:xfrm>
          <a:prstGeom prst="roundRect">
            <a:avLst>
              <a:gd name="adj" fmla="val 50000"/>
            </a:avLst>
          </a:prstGeom>
          <a:solidFill>
            <a:srgbClr val="43A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212080" y="2276856"/>
            <a:ext cx="256032" cy="25603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60604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 i="0">
                <a:solidFill>
                  <a:srgbClr val="6E6E73"/>
                </a:solidFill>
                <a:latin typeface="Segoe UI"/>
                <a:ea typeface="微软雅黑"/>
              </a:rPr>
              <a:t>熟人隔 5 分钟以上再开口时，把 TA 的待办和事实显示到眼镜上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51560" y="3063240"/>
            <a:ext cx="4480560" cy="9144"/>
          </a:xfrm>
          <a:prstGeom prst="rect">
            <a:avLst/>
          </a:prstGeom>
          <a:solidFill>
            <a:srgbClr val="D2D2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315468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0" i="0">
                <a:solidFill>
                  <a:srgbClr val="86868B"/>
                </a:solidFill>
                <a:latin typeface="Segoe UI"/>
                <a:ea typeface="微软雅黑"/>
              </a:rPr>
              <a:t>连接状态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0" y="3154680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200" b="1" i="0">
                <a:solidFill>
                  <a:srgbClr val="43A047"/>
                </a:solidFill>
                <a:latin typeface="Segoe UI Semibold"/>
                <a:ea typeface="微软雅黑"/>
              </a:rPr>
              <a:t>已连接，可以推送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352044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0" i="0">
                <a:solidFill>
                  <a:srgbClr val="86868B"/>
                </a:solidFill>
                <a:latin typeface="Segoe UI"/>
                <a:ea typeface="微软雅黑"/>
              </a:rPr>
              <a:t>左镜腿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3520440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200" b="0" i="0">
                <a:solidFill>
                  <a:srgbClr val="1D1D1F"/>
                </a:solidFill>
                <a:latin typeface="Segoe UI"/>
                <a:ea typeface="微软雅黑"/>
              </a:rPr>
              <a:t>已就绪 · Even G2_L_1A2B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388620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0" i="0">
                <a:solidFill>
                  <a:srgbClr val="86868B"/>
                </a:solidFill>
                <a:latin typeface="Segoe UI"/>
                <a:ea typeface="微软雅黑"/>
              </a:rPr>
              <a:t>右镜腿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0" y="3886200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200" b="0" i="0">
                <a:solidFill>
                  <a:srgbClr val="1D1D1F"/>
                </a:solidFill>
                <a:latin typeface="Segoe UI"/>
                <a:ea typeface="微软雅黑"/>
              </a:rPr>
              <a:t>已就绪 · Even G2_R_1A2C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1560" y="4434840"/>
            <a:ext cx="2148840" cy="43891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2D2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1560" y="4434840"/>
            <a:ext cx="214884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1" i="0">
                <a:solidFill>
                  <a:srgbClr val="3D5AFE"/>
                </a:solidFill>
                <a:latin typeface="Segoe UI Semibold"/>
                <a:ea typeface="微软雅黑"/>
              </a:rPr>
              <a:t>扫描并配对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337560" y="4434840"/>
            <a:ext cx="2148840" cy="43891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2D2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337560" y="4434840"/>
            <a:ext cx="214884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1" i="0">
                <a:solidFill>
                  <a:srgbClr val="3D5AFE"/>
                </a:solidFill>
                <a:latin typeface="Segoe UI Semibold"/>
                <a:ea typeface="微软雅黑"/>
              </a:rPr>
              <a:t>发送测试图片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51560" y="4983479"/>
            <a:ext cx="2148840" cy="43891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2D2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51560" y="4983479"/>
            <a:ext cx="214884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1" i="0">
                <a:solidFill>
                  <a:srgbClr val="6E6E73"/>
                </a:solidFill>
                <a:latin typeface="Segoe UI Semibold"/>
                <a:ea typeface="微软雅黑"/>
              </a:rPr>
              <a:t>关闭眼镜画面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337560" y="4983479"/>
            <a:ext cx="2148840" cy="43891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2D2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337560" y="4983479"/>
            <a:ext cx="214884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1" i="0">
                <a:solidFill>
                  <a:srgbClr val="E53935"/>
                </a:solidFill>
                <a:latin typeface="Segoe UI Semibold"/>
                <a:ea typeface="微软雅黑"/>
              </a:rPr>
              <a:t>忘记眼镜</a:t>
            </a:r>
          </a:p>
        </p:txBody>
      </p:sp>
      <p:pic>
        <p:nvPicPr>
          <p:cNvPr id="25" name="Picture 24" descr="lens_te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2103120"/>
            <a:ext cx="5212080" cy="260604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6217920" y="4846320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0" i="0">
                <a:solidFill>
                  <a:srgbClr val="6E6E73"/>
                </a:solidFill>
                <a:latin typeface="Segoe UI"/>
                <a:ea typeface="微软雅黑"/>
              </a:rPr>
              <a:t>“发送测试图片”推送的内置示例页，用来验证链路。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0" y="5212080"/>
            <a:ext cx="5212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0" i="0">
                <a:solidFill>
                  <a:srgbClr val="6E6E73"/>
                </a:solidFill>
                <a:latin typeface="Segoe UI"/>
                <a:ea typeface="微软雅黑"/>
              </a:rPr>
              <a:t>配对前：眼镜开机、不在充电盒里、退出官方 Even App、打开手机蓝牙。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45775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000" b="0" i="0">
                <a:solidFill>
                  <a:srgbClr val="6E6E73"/>
                </a:solidFill>
                <a:latin typeface="Segoe UI"/>
                <a:ea typeface="微软雅黑"/>
              </a:rPr>
              <a:t>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4000" b="1" i="0">
                <a:solidFill>
                  <a:srgbClr val="F5F5F7"/>
                </a:solidFill>
                <a:latin typeface="Segoe UI Semibold"/>
                <a:ea typeface="微软雅黑"/>
              </a:rPr>
              <a:t>你的声音，不出手机。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3383280" cy="1874519"/>
          </a:xfrm>
          <a:prstGeom prst="roundRect">
            <a:avLst>
              <a:gd name="adj" fmla="val 10731"/>
            </a:avLst>
          </a:prstGeom>
          <a:solidFill>
            <a:srgbClr val="1C1C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51560" y="2148840"/>
            <a:ext cx="274320" cy="274320"/>
          </a:xfrm>
          <a:prstGeom prst="ellipse">
            <a:avLst/>
          </a:prstGeom>
          <a:solidFill>
            <a:srgbClr val="3D5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463040" y="2075688"/>
            <a:ext cx="2468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000" b="1" i="0">
                <a:solidFill>
                  <a:srgbClr val="F5F5F7"/>
                </a:solidFill>
                <a:latin typeface="Segoe UI Semibold"/>
                <a:ea typeface="微软雅黑"/>
              </a:rPr>
              <a:t>端侧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651760"/>
            <a:ext cx="27432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0" i="0">
                <a:solidFill>
                  <a:srgbClr val="A1A1A6"/>
                </a:solidFill>
                <a:latin typeface="Segoe UI"/>
                <a:ea typeface="微软雅黑"/>
              </a:rPr>
              <a:t>录音、断句、语音识别、声纹、OCR 全部在手机上完成；音频和图片从不上传。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828800"/>
            <a:ext cx="3383280" cy="1874519"/>
          </a:xfrm>
          <a:prstGeom prst="roundRect">
            <a:avLst>
              <a:gd name="adj" fmla="val 10731"/>
            </a:avLst>
          </a:prstGeom>
          <a:solidFill>
            <a:srgbClr val="1C1C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709159" y="2148840"/>
            <a:ext cx="274320" cy="274320"/>
          </a:xfrm>
          <a:prstGeom prst="ellipse">
            <a:avLst/>
          </a:prstGeom>
          <a:solidFill>
            <a:srgbClr val="00C7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20640" y="2075688"/>
            <a:ext cx="2468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000" b="1" i="0">
                <a:solidFill>
                  <a:srgbClr val="F5F5F7"/>
                </a:solidFill>
                <a:latin typeface="Segoe UI Semibold"/>
                <a:ea typeface="微软雅黑"/>
              </a:rPr>
              <a:t>最小上传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9159" y="2651760"/>
            <a:ext cx="27432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0" i="0">
                <a:solidFill>
                  <a:srgbClr val="A1A1A6"/>
                </a:solidFill>
                <a:latin typeface="Segoe UI"/>
                <a:ea typeface="微软雅黑"/>
              </a:rPr>
              <a:t>只有文字（转写、截图 OCR 文本）发送给大模型，用于提炼待办与事实。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828800"/>
            <a:ext cx="3383280" cy="1874519"/>
          </a:xfrm>
          <a:prstGeom prst="roundRect">
            <a:avLst>
              <a:gd name="adj" fmla="val 10731"/>
            </a:avLst>
          </a:prstGeom>
          <a:solidFill>
            <a:srgbClr val="1C1C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366760" y="2148840"/>
            <a:ext cx="274320" cy="274320"/>
          </a:xfrm>
          <a:prstGeom prst="ellipse">
            <a:avLst/>
          </a:prstGeom>
          <a:solidFill>
            <a:srgbClr val="A25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78240" y="2075688"/>
            <a:ext cx="2468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000" b="1" i="0">
                <a:solidFill>
                  <a:srgbClr val="F5F5F7"/>
                </a:solidFill>
                <a:latin typeface="Segoe UI Semibold"/>
                <a:ea typeface="微软雅黑"/>
              </a:rPr>
              <a:t>自动清理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60" y="2651760"/>
            <a:ext cx="27432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0" i="0">
                <a:solidFill>
                  <a:srgbClr val="A1A1A6"/>
                </a:solidFill>
                <a:latin typeface="Segoe UI"/>
                <a:ea typeface="微软雅黑"/>
              </a:rPr>
              <a:t>转写 30 天自动删除；截图任务 3 天；声纹向量本地存储，用户可随时删除任何人。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886200"/>
            <a:ext cx="3383280" cy="1874519"/>
          </a:xfrm>
          <a:prstGeom prst="roundRect">
            <a:avLst>
              <a:gd name="adj" fmla="val 10731"/>
            </a:avLst>
          </a:prstGeom>
          <a:solidFill>
            <a:srgbClr val="1C1C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51560" y="4206240"/>
            <a:ext cx="274320" cy="274320"/>
          </a:xfrm>
          <a:prstGeom prst="ellipse">
            <a:avLst/>
          </a:prstGeom>
          <a:solidFill>
            <a:srgbClr val="7CFF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63040" y="4133087"/>
            <a:ext cx="2468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000" b="1" i="0">
                <a:solidFill>
                  <a:srgbClr val="F5F5F7"/>
                </a:solidFill>
                <a:latin typeface="Segoe UI Semibold"/>
                <a:ea typeface="微软雅黑"/>
              </a:rPr>
              <a:t>眼镜只写不读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4709160"/>
            <a:ext cx="27432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0" i="0">
                <a:solidFill>
                  <a:srgbClr val="A1A1A6"/>
                </a:solidFill>
                <a:latin typeface="Segoe UI"/>
                <a:ea typeface="微软雅黑"/>
              </a:rPr>
              <a:t>只向眼镜发送显示内容和心跳，不读取眼镜麦克风，不修改眼镜设置。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89120" y="3886200"/>
            <a:ext cx="3383280" cy="1874519"/>
          </a:xfrm>
          <a:prstGeom prst="roundRect">
            <a:avLst>
              <a:gd name="adj" fmla="val 10731"/>
            </a:avLst>
          </a:prstGeom>
          <a:solidFill>
            <a:srgbClr val="1C1C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709159" y="4206240"/>
            <a:ext cx="274320" cy="274320"/>
          </a:xfrm>
          <a:prstGeom prst="ellipse">
            <a:avLst/>
          </a:prstGeom>
          <a:solidFill>
            <a:srgbClr val="F57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120640" y="4133087"/>
            <a:ext cx="2468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000" b="1" i="0">
                <a:solidFill>
                  <a:srgbClr val="F5F5F7"/>
                </a:solidFill>
                <a:latin typeface="Segoe UI Semibold"/>
                <a:ea typeface="微软雅黑"/>
              </a:rPr>
              <a:t>不要位置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09159" y="4709160"/>
            <a:ext cx="27432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0" i="0">
                <a:solidFill>
                  <a:srgbClr val="A1A1A6"/>
                </a:solidFill>
                <a:latin typeface="Segoe UI"/>
                <a:ea typeface="微软雅黑"/>
              </a:rPr>
              <a:t>蓝牙扫描声明 neverForLocation；Android 12+ 只申请“附近设备”权限。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46720" y="3886200"/>
            <a:ext cx="3383280" cy="1874519"/>
          </a:xfrm>
          <a:prstGeom prst="roundRect">
            <a:avLst>
              <a:gd name="adj" fmla="val 10731"/>
            </a:avLst>
          </a:prstGeom>
          <a:solidFill>
            <a:srgbClr val="1C1C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366760" y="4206240"/>
            <a:ext cx="274320" cy="274320"/>
          </a:xfrm>
          <a:prstGeom prst="ellipse">
            <a:avLst/>
          </a:prstGeom>
          <a:solidFill>
            <a:srgbClr val="43A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778240" y="4133087"/>
            <a:ext cx="2468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000" b="1" i="0">
                <a:solidFill>
                  <a:srgbClr val="F5F5F7"/>
                </a:solidFill>
                <a:latin typeface="Segoe UI Semibold"/>
                <a:ea typeface="微软雅黑"/>
              </a:rPr>
              <a:t>可控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66760" y="4709160"/>
            <a:ext cx="27432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0" i="0">
                <a:solidFill>
                  <a:srgbClr val="A1A1A6"/>
                </a:solidFill>
                <a:latin typeface="Segoe UI"/>
                <a:ea typeface="微软雅黑"/>
              </a:rPr>
              <a:t>随时暂停录音；实时字幕、截图识别、眼镜推送都是独立开关；可清空全部聊天内容。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8" name="Rounded Rectangle 7"/>
          <p:cNvSpPr/>
          <p:nvPr/>
        </p:nvSpPr>
        <p:spPr>
          <a:xfrm>
            <a:off x="9692411" y="1783080"/>
            <a:ext cx="1676323" cy="3730751"/>
          </a:xfrm>
          <a:prstGeom prst="roundRect">
            <a:avLst>
              <a:gd name="adj" fmla="val 10909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Box 1"/>
          <p:cNvSpPr txBox="1"/>
          <p:nvPr/>
        </p:nvSpPr>
        <p:spPr>
          <a:xfrm>
            <a:off x="10545775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000" b="0" i="0">
                <a:solidFill>
                  <a:srgbClr val="86868B"/>
                </a:solidFill>
                <a:latin typeface="Segoe UI"/>
                <a:ea typeface="微软雅黑"/>
              </a:rPr>
              <a:t>27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4000" b="1" i="0">
                <a:solidFill>
                  <a:srgbClr val="1D1D1F"/>
                </a:solidFill>
                <a:latin typeface="Segoe UI Semibold"/>
                <a:ea typeface="微软雅黑"/>
              </a:rPr>
              <a:t>和已有方案比，差别在哪。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23360" y="1828800"/>
            <a:ext cx="1859203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50" b="1" i="0">
                <a:solidFill>
                  <a:srgbClr val="86868B"/>
                </a:solidFill>
                <a:latin typeface="Segoe UI Semibold"/>
                <a:ea typeface="微软雅黑"/>
              </a:rPr>
              <a:t>录音笔 / 纪要 App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82563" y="1828800"/>
            <a:ext cx="1859203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50" b="1" i="0">
                <a:solidFill>
                  <a:srgbClr val="86868B"/>
                </a:solidFill>
                <a:latin typeface="Segoe UI Semibold"/>
                <a:ea typeface="微软雅黑"/>
              </a:rPr>
              <a:t>AI 随身录音硬件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1767" y="1828800"/>
            <a:ext cx="1859203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50" b="1" i="0">
                <a:solidFill>
                  <a:srgbClr val="86868B"/>
                </a:solidFill>
                <a:latin typeface="Segoe UI Semibold"/>
                <a:ea typeface="微软雅黑"/>
              </a:rPr>
              <a:t>眼镜原生助手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0971" y="1828800"/>
            <a:ext cx="1859203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50" b="1" i="0">
                <a:solidFill>
                  <a:srgbClr val="3D5AFE"/>
                </a:solidFill>
                <a:latin typeface="Segoe UI Semibold"/>
                <a:ea typeface="微软雅黑"/>
              </a:rPr>
              <a:t>Whisper + Even G2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304288"/>
            <a:ext cx="10728655" cy="10972"/>
          </a:xfrm>
          <a:prstGeom prst="rect">
            <a:avLst/>
          </a:prstGeom>
          <a:solidFill>
            <a:srgbClr val="D2D2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395728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50" b="0" i="0">
                <a:solidFill>
                  <a:srgbClr val="1D1D1F"/>
                </a:solidFill>
                <a:latin typeface="Segoe UI"/>
                <a:ea typeface="微软雅黑"/>
              </a:rPr>
              <a:t>全天候被动录音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23360" y="2395728"/>
            <a:ext cx="1859203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800" b="0" i="0">
                <a:solidFill>
                  <a:srgbClr val="B0B0B5"/>
                </a:solidFill>
                <a:latin typeface="Segoe UI"/>
                <a:ea typeface="微软雅黑"/>
              </a:rPr>
              <a:t>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82563" y="2395728"/>
            <a:ext cx="1859203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800" b="0" i="0">
                <a:solidFill>
                  <a:srgbClr val="1D1D1F"/>
                </a:solidFill>
                <a:latin typeface="Segoe UI"/>
                <a:ea typeface="微软雅黑"/>
              </a:rPr>
              <a:t>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41767" y="2395728"/>
            <a:ext cx="1859203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800" b="0" i="0">
                <a:solidFill>
                  <a:srgbClr val="B0B0B5"/>
                </a:solidFill>
                <a:latin typeface="Segoe UI"/>
                <a:ea typeface="微软雅黑"/>
              </a:rPr>
              <a:t>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0971" y="2395728"/>
            <a:ext cx="1859203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800" b="0" i="0">
                <a:solidFill>
                  <a:srgbClr val="3D5AFE"/>
                </a:solidFill>
                <a:latin typeface="Segoe UI"/>
                <a:ea typeface="微软雅黑"/>
              </a:rPr>
              <a:t>●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2898648"/>
            <a:ext cx="10728655" cy="7315"/>
          </a:xfrm>
          <a:prstGeom prst="rect">
            <a:avLst/>
          </a:prstGeom>
          <a:solidFill>
            <a:srgbClr val="E8E8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2926080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50" b="0" i="0">
                <a:solidFill>
                  <a:srgbClr val="1D1D1F"/>
                </a:solidFill>
                <a:latin typeface="Segoe UI"/>
                <a:ea typeface="微软雅黑"/>
              </a:rPr>
              <a:t>语音识别全程端侧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23360" y="2926080"/>
            <a:ext cx="1859203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800" b="0" i="0">
                <a:solidFill>
                  <a:srgbClr val="B0B0B5"/>
                </a:solidFill>
                <a:latin typeface="Segoe UI"/>
                <a:ea typeface="微软雅黑"/>
              </a:rPr>
              <a:t>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82563" y="2926080"/>
            <a:ext cx="1859203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800" b="0" i="0">
                <a:solidFill>
                  <a:srgbClr val="B0B0B5"/>
                </a:solidFill>
                <a:latin typeface="Segoe UI"/>
                <a:ea typeface="微软雅黑"/>
              </a:rPr>
              <a:t>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41767" y="2926080"/>
            <a:ext cx="1859203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800" b="0" i="0">
                <a:solidFill>
                  <a:srgbClr val="B0B0B5"/>
                </a:solidFill>
                <a:latin typeface="Segoe UI"/>
                <a:ea typeface="微软雅黑"/>
              </a:rPr>
              <a:t>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0971" y="2926080"/>
            <a:ext cx="1859203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800" b="0" i="0">
                <a:solidFill>
                  <a:srgbClr val="3D5AFE"/>
                </a:solidFill>
                <a:latin typeface="Segoe UI"/>
                <a:ea typeface="微软雅黑"/>
              </a:rPr>
              <a:t>●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3429000"/>
            <a:ext cx="10728655" cy="7315"/>
          </a:xfrm>
          <a:prstGeom prst="rect">
            <a:avLst/>
          </a:prstGeom>
          <a:solidFill>
            <a:srgbClr val="E8E8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3456432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50" b="0" i="0">
                <a:solidFill>
                  <a:srgbClr val="1D1D1F"/>
                </a:solidFill>
                <a:latin typeface="Segoe UI"/>
                <a:ea typeface="微软雅黑"/>
              </a:rPr>
              <a:t>自动识别说话人并建档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023360" y="3456432"/>
            <a:ext cx="1859203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800" b="0" i="0">
                <a:solidFill>
                  <a:srgbClr val="B0B0B5"/>
                </a:solidFill>
                <a:latin typeface="Segoe UI"/>
                <a:ea typeface="微软雅黑"/>
              </a:rPr>
              <a:t>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82563" y="3456432"/>
            <a:ext cx="1859203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800" b="0" i="0">
                <a:solidFill>
                  <a:srgbClr val="B0B0B5"/>
                </a:solidFill>
                <a:latin typeface="Segoe UI"/>
                <a:ea typeface="微软雅黑"/>
              </a:rPr>
              <a:t>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41767" y="3456432"/>
            <a:ext cx="1859203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0" i="0">
                <a:solidFill>
                  <a:srgbClr val="D2D2D7"/>
                </a:solidFill>
                <a:latin typeface="Segoe UI"/>
                <a:ea typeface="微软雅黑"/>
              </a:rPr>
              <a:t>—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0971" y="3456432"/>
            <a:ext cx="1859203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800" b="0" i="0">
                <a:solidFill>
                  <a:srgbClr val="3D5AFE"/>
                </a:solidFill>
                <a:latin typeface="Segoe UI"/>
                <a:ea typeface="微软雅黑"/>
              </a:rPr>
              <a:t>●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1520" y="3959352"/>
            <a:ext cx="10728655" cy="7315"/>
          </a:xfrm>
          <a:prstGeom prst="rect">
            <a:avLst/>
          </a:prstGeom>
          <a:solidFill>
            <a:srgbClr val="E8E8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3986783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50" b="0" i="0">
                <a:solidFill>
                  <a:srgbClr val="1D1D1F"/>
                </a:solidFill>
                <a:latin typeface="Segoe UI"/>
                <a:ea typeface="微软雅黑"/>
              </a:rPr>
              <a:t>熟人再次开口时主动提醒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023360" y="3986783"/>
            <a:ext cx="1859203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0" i="0">
                <a:solidFill>
                  <a:srgbClr val="D2D2D7"/>
                </a:solidFill>
                <a:latin typeface="Segoe UI"/>
                <a:ea typeface="微软雅黑"/>
              </a:rPr>
              <a:t>—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82563" y="3986783"/>
            <a:ext cx="1859203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0" i="0">
                <a:solidFill>
                  <a:srgbClr val="D2D2D7"/>
                </a:solidFill>
                <a:latin typeface="Segoe UI"/>
                <a:ea typeface="微软雅黑"/>
              </a:rPr>
              <a:t>—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41767" y="3986783"/>
            <a:ext cx="1859203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0" i="0">
                <a:solidFill>
                  <a:srgbClr val="D2D2D7"/>
                </a:solidFill>
                <a:latin typeface="Segoe UI"/>
                <a:ea typeface="微软雅黑"/>
              </a:rPr>
              <a:t>—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00971" y="3986783"/>
            <a:ext cx="1859203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800" b="0" i="0">
                <a:solidFill>
                  <a:srgbClr val="3D5AFE"/>
                </a:solidFill>
                <a:latin typeface="Segoe UI"/>
                <a:ea typeface="微软雅黑"/>
              </a:rPr>
              <a:t>●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31520" y="4489703"/>
            <a:ext cx="10728655" cy="7315"/>
          </a:xfrm>
          <a:prstGeom prst="rect">
            <a:avLst/>
          </a:prstGeom>
          <a:solidFill>
            <a:srgbClr val="E8E8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31520" y="4517136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50" b="0" i="0">
                <a:solidFill>
                  <a:srgbClr val="1D1D1F"/>
                </a:solidFill>
                <a:latin typeface="Segoe UI"/>
                <a:ea typeface="微软雅黑"/>
              </a:rPr>
              <a:t>聊天截图也能提炼事项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023360" y="4517136"/>
            <a:ext cx="1859203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0" i="0">
                <a:solidFill>
                  <a:srgbClr val="D2D2D7"/>
                </a:solidFill>
                <a:latin typeface="Segoe UI"/>
                <a:ea typeface="微软雅黑"/>
              </a:rPr>
              <a:t>—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882563" y="4517136"/>
            <a:ext cx="1859203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0" i="0">
                <a:solidFill>
                  <a:srgbClr val="D2D2D7"/>
                </a:solidFill>
                <a:latin typeface="Segoe UI"/>
                <a:ea typeface="微软雅黑"/>
              </a:rPr>
              <a:t>—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41767" y="4517136"/>
            <a:ext cx="1859203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0" i="0">
                <a:solidFill>
                  <a:srgbClr val="D2D2D7"/>
                </a:solidFill>
                <a:latin typeface="Segoe UI"/>
                <a:ea typeface="微软雅黑"/>
              </a:rPr>
              <a:t>—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00971" y="4517136"/>
            <a:ext cx="1859203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800" b="0" i="0">
                <a:solidFill>
                  <a:srgbClr val="3D5AFE"/>
                </a:solidFill>
                <a:latin typeface="Segoe UI"/>
                <a:ea typeface="微软雅黑"/>
              </a:rPr>
              <a:t>●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31520" y="5020055"/>
            <a:ext cx="10728655" cy="7315"/>
          </a:xfrm>
          <a:prstGeom prst="rect">
            <a:avLst/>
          </a:prstGeom>
          <a:solidFill>
            <a:srgbClr val="E8E8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31520" y="5047488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50" b="0" i="0">
                <a:solidFill>
                  <a:srgbClr val="1D1D1F"/>
                </a:solidFill>
                <a:latin typeface="Segoe UI"/>
                <a:ea typeface="微软雅黑"/>
              </a:rPr>
              <a:t>提醒出现在镜片上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023360" y="5047488"/>
            <a:ext cx="1859203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0" i="0">
                <a:solidFill>
                  <a:srgbClr val="D2D2D7"/>
                </a:solidFill>
                <a:latin typeface="Segoe UI"/>
                <a:ea typeface="微软雅黑"/>
              </a:rPr>
              <a:t>—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882563" y="5047488"/>
            <a:ext cx="1859203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0" i="0">
                <a:solidFill>
                  <a:srgbClr val="D2D2D7"/>
                </a:solidFill>
                <a:latin typeface="Segoe UI"/>
                <a:ea typeface="微软雅黑"/>
              </a:rPr>
              <a:t>—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741767" y="5047488"/>
            <a:ext cx="1859203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800" b="0" i="0">
                <a:solidFill>
                  <a:srgbClr val="1D1D1F"/>
                </a:solidFill>
                <a:latin typeface="Segoe UI"/>
                <a:ea typeface="微软雅黑"/>
              </a:rPr>
              <a:t>●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600971" y="5047488"/>
            <a:ext cx="1859203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800" b="0" i="0">
                <a:solidFill>
                  <a:srgbClr val="3D5AFE"/>
                </a:solidFill>
                <a:latin typeface="Segoe UI"/>
                <a:ea typeface="微软雅黑"/>
              </a:rPr>
              <a:t>●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31520" y="5550407"/>
            <a:ext cx="10728655" cy="7315"/>
          </a:xfrm>
          <a:prstGeom prst="rect">
            <a:avLst/>
          </a:prstGeom>
          <a:solidFill>
            <a:srgbClr val="E8E8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31520" y="5715000"/>
            <a:ext cx="1072865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0" i="0">
                <a:solidFill>
                  <a:srgbClr val="86868B"/>
                </a:solidFill>
                <a:latin typeface="Segoe UI"/>
                <a:ea typeface="微软雅黑"/>
              </a:rPr>
              <a:t>● 具备　○ 部分具备 / 需主动操作　— 不具备。对比为概括性整理，请按参赛时各产品的最新情况核对。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45775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000" b="0" i="0">
                <a:solidFill>
                  <a:srgbClr val="6E6E73"/>
                </a:solidFill>
                <a:latin typeface="Segoe UI"/>
                <a:ea typeface="微软雅黑"/>
              </a:rPr>
              <a:t>28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4000" b="1" i="0">
                <a:solidFill>
                  <a:srgbClr val="F5F5F7"/>
                </a:solidFill>
                <a:latin typeface="Segoe UI Semibold"/>
                <a:ea typeface="微软雅黑"/>
              </a:rPr>
              <a:t>给谁用。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920240"/>
            <a:ext cx="2542032" cy="3291840"/>
          </a:xfrm>
          <a:prstGeom prst="roundRect">
            <a:avLst>
              <a:gd name="adj" fmla="val 7913"/>
            </a:avLst>
          </a:prstGeom>
          <a:solidFill>
            <a:srgbClr val="1C1C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51560" y="2286000"/>
            <a:ext cx="457200" cy="457200"/>
          </a:xfrm>
          <a:prstGeom prst="ellipse">
            <a:avLst/>
          </a:prstGeom>
          <a:solidFill>
            <a:srgbClr val="3D5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3017520"/>
            <a:ext cx="1920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900" b="1" i="0">
                <a:solidFill>
                  <a:srgbClr val="F5F5F7"/>
                </a:solidFill>
                <a:latin typeface="Segoe UI Semibold"/>
                <a:ea typeface="微软雅黑"/>
              </a:rPr>
              <a:t>商务 / 销售 / BD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3931920"/>
            <a:ext cx="19202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00" b="0" i="0">
                <a:solidFill>
                  <a:srgbClr val="A1A1A6"/>
                </a:solidFill>
                <a:latin typeface="Segoe UI"/>
                <a:ea typeface="微软雅黑"/>
              </a:rPr>
              <a:t>客户随口说的每个细节，下次见面都记得。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56432" y="1920240"/>
            <a:ext cx="2542032" cy="3291840"/>
          </a:xfrm>
          <a:prstGeom prst="roundRect">
            <a:avLst>
              <a:gd name="adj" fmla="val 7913"/>
            </a:avLst>
          </a:prstGeom>
          <a:solidFill>
            <a:srgbClr val="1C1C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776472" y="2286000"/>
            <a:ext cx="457200" cy="457200"/>
          </a:xfrm>
          <a:prstGeom prst="ellipse">
            <a:avLst/>
          </a:prstGeom>
          <a:solidFill>
            <a:srgbClr val="00C7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76472" y="3017520"/>
            <a:ext cx="1920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900" b="1" i="0">
                <a:solidFill>
                  <a:srgbClr val="F5F5F7"/>
                </a:solidFill>
                <a:latin typeface="Segoe UI Semibold"/>
                <a:ea typeface="微软雅黑"/>
              </a:rPr>
              <a:t>医生 / 教师 / 社工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76472" y="3931920"/>
            <a:ext cx="19202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00" b="0" i="0">
                <a:solidFill>
                  <a:srgbClr val="A1A1A6"/>
                </a:solidFill>
                <a:latin typeface="Segoe UI"/>
                <a:ea typeface="微软雅黑"/>
              </a:rPr>
              <a:t>每天面对很多人的职业，记住每个人的近况。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81344" y="1920240"/>
            <a:ext cx="2542032" cy="3291840"/>
          </a:xfrm>
          <a:prstGeom prst="roundRect">
            <a:avLst>
              <a:gd name="adj" fmla="val 7913"/>
            </a:avLst>
          </a:prstGeom>
          <a:solidFill>
            <a:srgbClr val="1C1C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501383" y="2286000"/>
            <a:ext cx="457200" cy="457200"/>
          </a:xfrm>
          <a:prstGeom prst="ellipse">
            <a:avLst/>
          </a:prstGeom>
          <a:solidFill>
            <a:srgbClr val="A25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01383" y="3017520"/>
            <a:ext cx="1920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900" b="1" i="0">
                <a:solidFill>
                  <a:srgbClr val="F5F5F7"/>
                </a:solidFill>
                <a:latin typeface="Segoe UI Semibold"/>
                <a:ea typeface="微软雅黑"/>
              </a:rPr>
              <a:t>记忆力下降的长辈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01383" y="3931920"/>
            <a:ext cx="19202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00" b="0" i="0">
                <a:solidFill>
                  <a:srgbClr val="A1A1A6"/>
                </a:solidFill>
                <a:latin typeface="Segoe UI"/>
                <a:ea typeface="微软雅黑"/>
              </a:rPr>
              <a:t>认人、记事的辅助：谁来了、上次说了什么、答应了什么。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06256" y="1920240"/>
            <a:ext cx="2542032" cy="3291840"/>
          </a:xfrm>
          <a:prstGeom prst="roundRect">
            <a:avLst>
              <a:gd name="adj" fmla="val 7913"/>
            </a:avLst>
          </a:prstGeom>
          <a:solidFill>
            <a:srgbClr val="1C1C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226296" y="2286000"/>
            <a:ext cx="457200" cy="457200"/>
          </a:xfrm>
          <a:prstGeom prst="ellipse">
            <a:avLst/>
          </a:prstGeom>
          <a:solidFill>
            <a:srgbClr val="F57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26296" y="3017520"/>
            <a:ext cx="1920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900" b="1" i="0">
                <a:solidFill>
                  <a:srgbClr val="F5F5F7"/>
                </a:solidFill>
                <a:latin typeface="Segoe UI Semibold"/>
                <a:ea typeface="微软雅黑"/>
              </a:rPr>
              <a:t>任何不想忘记朋友的人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26296" y="3931920"/>
            <a:ext cx="19202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00" b="0" i="0">
                <a:solidFill>
                  <a:srgbClr val="A1A1A6"/>
                </a:solidFill>
                <a:latin typeface="Segoe UI"/>
                <a:ea typeface="微软雅黑"/>
              </a:rPr>
              <a:t>朋友说过的忌口、生日、烦恼，不再只靠脑子。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532120"/>
            <a:ext cx="1072865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0" i="0">
                <a:solidFill>
                  <a:srgbClr val="6E6E73"/>
                </a:solidFill>
                <a:latin typeface="Segoe UI"/>
                <a:ea typeface="微软雅黑"/>
              </a:rPr>
              <a:t>市场规模、目标用户数等数据请按比赛要求补充（TAM / SAM / SOM 待填）。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45775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000" b="0" i="0">
                <a:solidFill>
                  <a:srgbClr val="86868B"/>
                </a:solidFill>
                <a:latin typeface="Segoe UI"/>
                <a:ea typeface="微软雅黑"/>
              </a:rPr>
              <a:t>29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4000" b="1" i="0">
                <a:solidFill>
                  <a:srgbClr val="1D1D1F"/>
                </a:solidFill>
                <a:latin typeface="Segoe UI Semibold"/>
                <a:ea typeface="微软雅黑"/>
              </a:rPr>
              <a:t>商业化设想。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53312"/>
            <a:ext cx="1072865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0" i="0">
                <a:solidFill>
                  <a:srgbClr val="6E6E73"/>
                </a:solidFill>
                <a:latin typeface="Segoe UI"/>
                <a:ea typeface="微软雅黑"/>
              </a:rPr>
              <a:t>以下为方向性设想，按比赛要求取舍。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3383280" cy="2926080"/>
          </a:xfrm>
          <a:prstGeom prst="roundRect">
            <a:avLst>
              <a:gd name="adj" fmla="val 6874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2331720"/>
            <a:ext cx="2743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400" b="1" i="0">
                <a:solidFill>
                  <a:srgbClr val="1D1D1F"/>
                </a:solidFill>
                <a:latin typeface="Segoe UI Semibold"/>
                <a:ea typeface="微软雅黑"/>
              </a:rPr>
              <a:t>硬件绑定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3017520"/>
            <a:ext cx="274320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 i="0">
                <a:solidFill>
                  <a:srgbClr val="6E6E73"/>
                </a:solidFill>
                <a:latin typeface="Segoe UI"/>
                <a:ea typeface="微软雅黑"/>
              </a:rPr>
              <a:t>与带屏智能眼镜 / 手机厂商合作预装，作为眼镜的“记忆”能力出厂即有。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2011680"/>
            <a:ext cx="3383280" cy="2926080"/>
          </a:xfrm>
          <a:prstGeom prst="roundRect">
            <a:avLst>
              <a:gd name="adj" fmla="val 6874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09159" y="2331720"/>
            <a:ext cx="2743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400" b="1" i="0">
                <a:solidFill>
                  <a:srgbClr val="1D1D1F"/>
                </a:solidFill>
                <a:latin typeface="Segoe UI Semibold"/>
                <a:ea typeface="微软雅黑"/>
              </a:rPr>
              <a:t>订阅制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09159" y="3017520"/>
            <a:ext cx="274320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 i="0">
                <a:solidFill>
                  <a:srgbClr val="6E6E73"/>
                </a:solidFill>
                <a:latin typeface="Segoe UI"/>
                <a:ea typeface="微软雅黑"/>
              </a:rPr>
              <a:t>端侧识别免费，大模型提炼与长期记忆按月订阅；企业版支持更长留存。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2011680"/>
            <a:ext cx="3383280" cy="2926080"/>
          </a:xfrm>
          <a:prstGeom prst="roundRect">
            <a:avLst>
              <a:gd name="adj" fmla="val 6874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66760" y="2331720"/>
            <a:ext cx="2743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400" b="1" i="0">
                <a:solidFill>
                  <a:srgbClr val="1D1D1F"/>
                </a:solidFill>
                <a:latin typeface="Segoe UI Semibold"/>
                <a:ea typeface="微软雅黑"/>
              </a:rPr>
              <a:t>B 端集成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66760" y="3017520"/>
            <a:ext cx="274320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 i="0">
                <a:solidFill>
                  <a:srgbClr val="6E6E73"/>
                </a:solidFill>
                <a:latin typeface="Segoe UI"/>
                <a:ea typeface="微软雅黑"/>
              </a:rPr>
              <a:t>销售团队 / 医疗机构：与 CRM、随访系统打通，把对话里的承诺自动变成任务。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303520"/>
            <a:ext cx="1072865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 i="0">
                <a:solidFill>
                  <a:srgbClr val="6E6E73"/>
                </a:solidFill>
                <a:latin typeface="Segoe UI"/>
                <a:ea typeface="微软雅黑"/>
              </a:rPr>
              <a:t>成本结构：端侧模型零推理成本；云端仅文字请求，按 token 计费，单次提炼成本很低；主要成本在大模型调用与硬件合作。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45775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000" b="0" i="0">
                <a:solidFill>
                  <a:srgbClr val="6E6E73"/>
                </a:solidFill>
                <a:latin typeface="Segoe UI"/>
                <a:ea typeface="微软雅黑"/>
              </a:rPr>
              <a:t>30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4000" b="1" i="0">
                <a:solidFill>
                  <a:srgbClr val="F5F5F7"/>
                </a:solidFill>
                <a:latin typeface="Segoe UI Semibold"/>
                <a:ea typeface="微软雅黑"/>
              </a:rPr>
              <a:t>已经做到的，和接下来要做的。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5257800" cy="4114800"/>
          </a:xfrm>
          <a:prstGeom prst="roundRect">
            <a:avLst>
              <a:gd name="adj" fmla="val 4888"/>
            </a:avLst>
          </a:prstGeom>
          <a:solidFill>
            <a:srgbClr val="1C1C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205740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200" b="1" i="0">
                <a:solidFill>
                  <a:srgbClr val="43A047"/>
                </a:solidFill>
                <a:latin typeface="Segoe UI Semibold"/>
                <a:ea typeface="微软雅黑"/>
              </a:rPr>
              <a:t>已完成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2606040"/>
            <a:ext cx="2743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0" i="0">
                <a:solidFill>
                  <a:srgbClr val="43A047"/>
                </a:solidFill>
                <a:latin typeface="Segoe UI"/>
                <a:ea typeface="微软雅黑"/>
              </a:rPr>
              <a:t>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2606040"/>
            <a:ext cx="4480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0" i="0">
                <a:solidFill>
                  <a:srgbClr val="F5F5F7"/>
                </a:solidFill>
                <a:latin typeface="Segoe UI"/>
                <a:ea typeface="微软雅黑"/>
              </a:rPr>
              <a:t>端侧 VAD + 双引擎中文识别 + 标点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3063240"/>
            <a:ext cx="2743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0" i="0">
                <a:solidFill>
                  <a:srgbClr val="43A047"/>
                </a:solidFill>
                <a:latin typeface="Segoe UI"/>
                <a:ea typeface="微软雅黑"/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3063240"/>
            <a:ext cx="4480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0" i="0">
                <a:solidFill>
                  <a:srgbClr val="F5F5F7"/>
                </a:solidFill>
                <a:latin typeface="Segoe UI"/>
                <a:ea typeface="微软雅黑"/>
              </a:rPr>
              <a:t>端侧声纹：录入、识别、陌生人建档、关联合并、自适应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3520440"/>
            <a:ext cx="2743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0" i="0">
                <a:solidFill>
                  <a:srgbClr val="43A047"/>
                </a:solidFill>
                <a:latin typeface="Segoe UI"/>
                <a:ea typeface="微软雅黑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3520440"/>
            <a:ext cx="4480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0" i="0">
                <a:solidFill>
                  <a:srgbClr val="F5F5F7"/>
                </a:solidFill>
                <a:latin typeface="Segoe UI"/>
                <a:ea typeface="微软雅黑"/>
              </a:rPr>
              <a:t>会话感知提醒 + 1 分钟自动提炼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3977639"/>
            <a:ext cx="2743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0" i="0">
                <a:solidFill>
                  <a:srgbClr val="43A047"/>
                </a:solidFill>
                <a:latin typeface="Segoe UI"/>
                <a:ea typeface="微软雅黑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3977639"/>
            <a:ext cx="4480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0" i="0">
                <a:solidFill>
                  <a:srgbClr val="F5F5F7"/>
                </a:solidFill>
                <a:latin typeface="Segoe UI"/>
                <a:ea typeface="微软雅黑"/>
              </a:rPr>
              <a:t>大模型提炼待办 / 事实，自动完成与过期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4434840"/>
            <a:ext cx="2743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0" i="0">
                <a:solidFill>
                  <a:srgbClr val="43A047"/>
                </a:solidFill>
                <a:latin typeface="Segoe UI"/>
                <a:ea typeface="微软雅黑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4434840"/>
            <a:ext cx="4480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0" i="0">
                <a:solidFill>
                  <a:srgbClr val="F5F5F7"/>
                </a:solidFill>
                <a:latin typeface="Segoe UI"/>
                <a:ea typeface="微软雅黑"/>
              </a:rPr>
              <a:t>聊天截图：端侧 OCR + 版式 + 昵称对应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4892040"/>
            <a:ext cx="2743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0" i="0">
                <a:solidFill>
                  <a:srgbClr val="43A047"/>
                </a:solidFill>
                <a:latin typeface="Segoe UI"/>
                <a:ea typeface="微软雅黑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5880" y="4892040"/>
            <a:ext cx="4480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0" i="0">
                <a:solidFill>
                  <a:srgbClr val="F5F5F7"/>
                </a:solidFill>
                <a:latin typeface="Segoe UI"/>
                <a:ea typeface="微软雅黑"/>
              </a:rPr>
              <a:t>灵动岛 7 类实况通知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5349240"/>
            <a:ext cx="2743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0" i="0">
                <a:solidFill>
                  <a:srgbClr val="43A047"/>
                </a:solidFill>
                <a:latin typeface="Segoe UI"/>
                <a:ea typeface="微软雅黑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25880" y="5349240"/>
            <a:ext cx="4480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0" i="0">
                <a:solidFill>
                  <a:srgbClr val="F5F5F7"/>
                </a:solidFill>
                <a:latin typeface="Segoe UI"/>
                <a:ea typeface="微软雅黑"/>
              </a:rPr>
              <a:t>Even G2 双镜腿连接、鉴权、心跳、整屏推图、自动重连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1828800"/>
            <a:ext cx="5257800" cy="4114800"/>
          </a:xfrm>
          <a:prstGeom prst="roundRect">
            <a:avLst>
              <a:gd name="adj" fmla="val 4888"/>
            </a:avLst>
          </a:prstGeom>
          <a:solidFill>
            <a:srgbClr val="1C1C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0" y="205740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200" b="1" i="0">
                <a:solidFill>
                  <a:srgbClr val="3D5AFE"/>
                </a:solidFill>
                <a:latin typeface="Segoe UI Semibold"/>
                <a:ea typeface="微软雅黑"/>
              </a:rPr>
              <a:t>下一步</a:t>
            </a:r>
          </a:p>
        </p:txBody>
      </p:sp>
      <p:sp>
        <p:nvSpPr>
          <p:cNvPr id="22" name="Oval 21"/>
          <p:cNvSpPr/>
          <p:nvPr/>
        </p:nvSpPr>
        <p:spPr>
          <a:xfrm>
            <a:off x="6519672" y="2743200"/>
            <a:ext cx="91440" cy="91440"/>
          </a:xfrm>
          <a:prstGeom prst="ellipse">
            <a:avLst/>
          </a:prstGeom>
          <a:solidFill>
            <a:srgbClr val="3D5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66559" y="2606040"/>
            <a:ext cx="4480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0" i="0">
                <a:solidFill>
                  <a:srgbClr val="F5F5F7"/>
                </a:solidFill>
                <a:latin typeface="Segoe UI"/>
                <a:ea typeface="微软雅黑"/>
              </a:rPr>
              <a:t>眼镜交互：点按翻页 / 关闭 / 标记完成（EvenHub 事件已可解析）</a:t>
            </a:r>
          </a:p>
        </p:txBody>
      </p:sp>
      <p:sp>
        <p:nvSpPr>
          <p:cNvPr id="24" name="Oval 23"/>
          <p:cNvSpPr/>
          <p:nvPr/>
        </p:nvSpPr>
        <p:spPr>
          <a:xfrm>
            <a:off x="6519672" y="3200400"/>
            <a:ext cx="91440" cy="91440"/>
          </a:xfrm>
          <a:prstGeom prst="ellipse">
            <a:avLst/>
          </a:prstGeom>
          <a:solidFill>
            <a:srgbClr val="3D5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59" y="3063240"/>
            <a:ext cx="4480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0" i="0">
                <a:solidFill>
                  <a:srgbClr val="F5F5F7"/>
                </a:solidFill>
                <a:latin typeface="Segoe UI"/>
                <a:ea typeface="微软雅黑"/>
              </a:rPr>
              <a:t>眼镜麦克风接入，摘下手机也能听</a:t>
            </a:r>
          </a:p>
        </p:txBody>
      </p:sp>
      <p:sp>
        <p:nvSpPr>
          <p:cNvPr id="26" name="Oval 25"/>
          <p:cNvSpPr/>
          <p:nvPr/>
        </p:nvSpPr>
        <p:spPr>
          <a:xfrm>
            <a:off x="6519672" y="3657600"/>
            <a:ext cx="91440" cy="91440"/>
          </a:xfrm>
          <a:prstGeom prst="ellipse">
            <a:avLst/>
          </a:prstGeom>
          <a:solidFill>
            <a:srgbClr val="3D5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66559" y="3520440"/>
            <a:ext cx="4480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0" i="0">
                <a:solidFill>
                  <a:srgbClr val="F5F5F7"/>
                </a:solidFill>
                <a:latin typeface="Segoe UI"/>
                <a:ea typeface="微软雅黑"/>
              </a:rPr>
              <a:t>多语种识别与提炼</a:t>
            </a:r>
          </a:p>
        </p:txBody>
      </p:sp>
      <p:sp>
        <p:nvSpPr>
          <p:cNvPr id="28" name="Oval 27"/>
          <p:cNvSpPr/>
          <p:nvPr/>
        </p:nvSpPr>
        <p:spPr>
          <a:xfrm>
            <a:off x="6519672" y="4114800"/>
            <a:ext cx="91440" cy="91440"/>
          </a:xfrm>
          <a:prstGeom prst="ellipse">
            <a:avLst/>
          </a:prstGeom>
          <a:solidFill>
            <a:srgbClr val="3D5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766559" y="3977639"/>
            <a:ext cx="4480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0" i="0">
                <a:solidFill>
                  <a:srgbClr val="F5F5F7"/>
                </a:solidFill>
                <a:latin typeface="Segoe UI"/>
                <a:ea typeface="微软雅黑"/>
              </a:rPr>
              <a:t>端侧小模型提炼，离线也能记</a:t>
            </a:r>
          </a:p>
        </p:txBody>
      </p:sp>
      <p:sp>
        <p:nvSpPr>
          <p:cNvPr id="30" name="Oval 29"/>
          <p:cNvSpPr/>
          <p:nvPr/>
        </p:nvSpPr>
        <p:spPr>
          <a:xfrm>
            <a:off x="6519672" y="4572000"/>
            <a:ext cx="91440" cy="91440"/>
          </a:xfrm>
          <a:prstGeom prst="ellipse">
            <a:avLst/>
          </a:prstGeom>
          <a:solidFill>
            <a:srgbClr val="3D5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59" y="4434840"/>
            <a:ext cx="4480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0" i="0">
                <a:solidFill>
                  <a:srgbClr val="F5F5F7"/>
                </a:solidFill>
                <a:latin typeface="Segoe UI"/>
                <a:ea typeface="微软雅黑"/>
              </a:rPr>
              <a:t>日历 / CRM 同步与分享</a:t>
            </a:r>
          </a:p>
        </p:txBody>
      </p:sp>
      <p:sp>
        <p:nvSpPr>
          <p:cNvPr id="32" name="Oval 31"/>
          <p:cNvSpPr/>
          <p:nvPr/>
        </p:nvSpPr>
        <p:spPr>
          <a:xfrm>
            <a:off x="6519672" y="5029200"/>
            <a:ext cx="91440" cy="91440"/>
          </a:xfrm>
          <a:prstGeom prst="ellipse">
            <a:avLst/>
          </a:prstGeom>
          <a:solidFill>
            <a:srgbClr val="3D5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766559" y="4892040"/>
            <a:ext cx="4480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0" i="0">
                <a:solidFill>
                  <a:srgbClr val="F5F5F7"/>
                </a:solidFill>
                <a:latin typeface="Segoe UI"/>
                <a:ea typeface="微软雅黑"/>
              </a:rPr>
              <a:t>对方知情提示、隐私合规机制</a:t>
            </a:r>
          </a:p>
        </p:txBody>
      </p:sp>
      <p:sp>
        <p:nvSpPr>
          <p:cNvPr id="34" name="Oval 33"/>
          <p:cNvSpPr/>
          <p:nvPr/>
        </p:nvSpPr>
        <p:spPr>
          <a:xfrm>
            <a:off x="6519672" y="5486400"/>
            <a:ext cx="91440" cy="91440"/>
          </a:xfrm>
          <a:prstGeom prst="ellipse">
            <a:avLst/>
          </a:prstGeom>
          <a:solidFill>
            <a:srgbClr val="3D5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766559" y="5349240"/>
            <a:ext cx="4480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0" i="0">
                <a:solidFill>
                  <a:srgbClr val="F5F5F7"/>
                </a:solidFill>
                <a:latin typeface="Segoe UI"/>
                <a:ea typeface="微软雅黑"/>
              </a:rPr>
              <a:t>多设备同步与备份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45775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000" b="0" i="0">
                <a:solidFill>
                  <a:srgbClr val="86868B"/>
                </a:solidFill>
                <a:latin typeface="Segoe UI"/>
                <a:ea typeface="微软雅黑"/>
              </a:rPr>
              <a:t>31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4000" b="1" i="0">
                <a:solidFill>
                  <a:srgbClr val="1D1D1F"/>
                </a:solidFill>
                <a:latin typeface="Segoe UI Semibold"/>
                <a:ea typeface="微软雅黑"/>
              </a:rPr>
              <a:t>现场怎么演。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53312"/>
            <a:ext cx="1072865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0" i="0">
                <a:solidFill>
                  <a:srgbClr val="6E6E73"/>
                </a:solidFill>
                <a:latin typeface="Segoe UI"/>
                <a:ea typeface="微软雅黑"/>
              </a:rPr>
              <a:t>5 分钟 Demo 脚本。</a:t>
            </a:r>
          </a:p>
        </p:txBody>
      </p:sp>
      <p:sp>
        <p:nvSpPr>
          <p:cNvPr id="5" name="Oval 4"/>
          <p:cNvSpPr/>
          <p:nvPr/>
        </p:nvSpPr>
        <p:spPr>
          <a:xfrm>
            <a:off x="731520" y="2057400"/>
            <a:ext cx="457200" cy="457200"/>
          </a:xfrm>
          <a:prstGeom prst="ellipse">
            <a:avLst/>
          </a:prstGeom>
          <a:solidFill>
            <a:srgbClr val="3D5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05740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 Semibold"/>
                <a:ea typeface="微软雅黑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1984248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800" b="1" i="0">
                <a:solidFill>
                  <a:srgbClr val="1D1D1F"/>
                </a:solidFill>
                <a:latin typeface="Segoe UI Semibold"/>
                <a:ea typeface="微软雅黑"/>
              </a:rPr>
              <a:t>打开应用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1984248"/>
            <a:ext cx="75895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 i="0">
                <a:solidFill>
                  <a:srgbClr val="6E6E73"/>
                </a:solidFill>
                <a:latin typeface="Segoe UI"/>
                <a:ea typeface="微软雅黑"/>
              </a:rPr>
              <a:t>灵动岛出现红色“录音中”胶囊；左上角 AI 就绪。</a:t>
            </a:r>
          </a:p>
        </p:txBody>
      </p:sp>
      <p:sp>
        <p:nvSpPr>
          <p:cNvPr id="9" name="Oval 8"/>
          <p:cNvSpPr/>
          <p:nvPr/>
        </p:nvSpPr>
        <p:spPr>
          <a:xfrm>
            <a:off x="731520" y="2770632"/>
            <a:ext cx="457200" cy="457200"/>
          </a:xfrm>
          <a:prstGeom prst="ellipse">
            <a:avLst/>
          </a:prstGeom>
          <a:solidFill>
            <a:srgbClr val="3D5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770632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 Semibold"/>
                <a:ea typeface="微软雅黑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2697479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800" b="1" i="0">
                <a:solidFill>
                  <a:srgbClr val="1D1D1F"/>
                </a:solidFill>
                <a:latin typeface="Segoe UI Semibold"/>
                <a:ea typeface="微软雅黑"/>
              </a:rPr>
              <a:t>队友开口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0" y="2697479"/>
            <a:ext cx="75895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 i="0">
                <a:solidFill>
                  <a:srgbClr val="6E6E73"/>
                </a:solidFill>
                <a:latin typeface="Segoe UI"/>
                <a:ea typeface="微软雅黑"/>
              </a:rPr>
              <a:t>转写按人着色，认出队友名字；一句陌生人的话出现“陌生人 1”，现场命名。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3483864"/>
            <a:ext cx="457200" cy="457200"/>
          </a:xfrm>
          <a:prstGeom prst="ellipse">
            <a:avLst/>
          </a:prstGeom>
          <a:solidFill>
            <a:srgbClr val="3D5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483864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 Semibold"/>
                <a:ea typeface="微软雅黑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3410712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800" b="1" i="0">
                <a:solidFill>
                  <a:srgbClr val="1D1D1F"/>
                </a:solidFill>
                <a:latin typeface="Segoe UI Semibold"/>
                <a:ea typeface="微软雅黑"/>
              </a:rPr>
              <a:t>说一句约定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80" y="3410712"/>
            <a:ext cx="75895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 i="0">
                <a:solidFill>
                  <a:srgbClr val="6E6E73"/>
                </a:solidFill>
                <a:latin typeface="Segoe UI"/>
                <a:ea typeface="微软雅黑"/>
              </a:rPr>
              <a:t>“下周三下午三点来公司开会，记得带合同。”点 AI 状态立即识别，卡片堆出现新待办。</a:t>
            </a:r>
          </a:p>
        </p:txBody>
      </p:sp>
      <p:sp>
        <p:nvSpPr>
          <p:cNvPr id="17" name="Oval 16"/>
          <p:cNvSpPr/>
          <p:nvPr/>
        </p:nvSpPr>
        <p:spPr>
          <a:xfrm>
            <a:off x="731520" y="4197096"/>
            <a:ext cx="457200" cy="457200"/>
          </a:xfrm>
          <a:prstGeom prst="ellipse">
            <a:avLst/>
          </a:prstGeom>
          <a:solidFill>
            <a:srgbClr val="3D5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197096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 Semibold"/>
                <a:ea typeface="微软雅黑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20" y="4123944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800" b="1" i="0">
                <a:solidFill>
                  <a:srgbClr val="1D1D1F"/>
                </a:solidFill>
                <a:latin typeface="Segoe UI Semibold"/>
                <a:ea typeface="微软雅黑"/>
              </a:rPr>
              <a:t>触发眼镜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40480" y="4123944"/>
            <a:ext cx="75895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 i="0">
                <a:solidFill>
                  <a:srgbClr val="6E6E73"/>
                </a:solidFill>
                <a:latin typeface="Segoe UI"/>
                <a:ea typeface="微软雅黑"/>
              </a:rPr>
              <a:t>队友停 5 分钟后再开口（或在配对页点“发送测试图片”），眼镜浮现 TA 的待办与事实。</a:t>
            </a:r>
          </a:p>
        </p:txBody>
      </p:sp>
      <p:sp>
        <p:nvSpPr>
          <p:cNvPr id="21" name="Oval 20"/>
          <p:cNvSpPr/>
          <p:nvPr/>
        </p:nvSpPr>
        <p:spPr>
          <a:xfrm>
            <a:off x="731520" y="4910327"/>
            <a:ext cx="457200" cy="457200"/>
          </a:xfrm>
          <a:prstGeom prst="ellipse">
            <a:avLst/>
          </a:prstGeom>
          <a:solidFill>
            <a:srgbClr val="3D5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4910327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 Semibold"/>
                <a:ea typeface="微软雅黑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17320" y="4837175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800" b="1" i="0">
                <a:solidFill>
                  <a:srgbClr val="1D1D1F"/>
                </a:solidFill>
                <a:latin typeface="Segoe UI Semibold"/>
                <a:ea typeface="微软雅黑"/>
              </a:rPr>
              <a:t>截一张聊天截图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40480" y="4837175"/>
            <a:ext cx="75895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 i="0">
                <a:solidFill>
                  <a:srgbClr val="6E6E73"/>
                </a:solidFill>
                <a:latin typeface="Segoe UI"/>
                <a:ea typeface="微软雅黑"/>
              </a:rPr>
              <a:t>灵动岛显示 检测到 → 识别文字 → AI 分析 → 新增 N 项；若有新昵称，弹出指定窗口。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5623560"/>
            <a:ext cx="10728655" cy="685800"/>
          </a:xfrm>
          <a:prstGeom prst="roundRect">
            <a:avLst>
              <a:gd name="adj" fmla="val 29333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5840" y="5623560"/>
            <a:ext cx="10180015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0" i="0">
                <a:solidFill>
                  <a:srgbClr val="6E6E73"/>
                </a:solidFill>
                <a:latin typeface="Segoe UI"/>
                <a:ea typeface="微软雅黑"/>
              </a:rPr>
              <a:t>准备清单：提前推送模型、录好机主声纹、退出官方 Even App、提前配对眼镜、准备手机热点；调低声纹阈值可减少“认不出”，调高可减少“认错”。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45775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000" b="0" i="0">
                <a:solidFill>
                  <a:srgbClr val="6E6E73"/>
                </a:solidFill>
                <a:latin typeface="Segoe UI"/>
                <a:ea typeface="微软雅黑"/>
              </a:rPr>
              <a:t>32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4000" b="1" i="0">
                <a:solidFill>
                  <a:srgbClr val="F5F5F7"/>
                </a:solidFill>
                <a:latin typeface="Segoe UI Semibold"/>
                <a:ea typeface="微软雅黑"/>
              </a:rPr>
              <a:t>风险，以及我们怎么应对。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5257800" cy="1828800"/>
          </a:xfrm>
          <a:prstGeom prst="roundRect">
            <a:avLst>
              <a:gd name="adj" fmla="val 11000"/>
            </a:avLst>
          </a:prstGeom>
          <a:solidFill>
            <a:srgbClr val="1C1C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210312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000" b="1" i="0">
                <a:solidFill>
                  <a:srgbClr val="F5F5F7"/>
                </a:solidFill>
                <a:latin typeface="Segoe UI Semibold"/>
                <a:ea typeface="微软雅黑"/>
              </a:rPr>
              <a:t>协议非官方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256032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0" i="0">
                <a:solidFill>
                  <a:srgbClr val="A1A1A6"/>
                </a:solidFill>
                <a:latin typeface="Segoe UI"/>
                <a:ea typeface="微软雅黑"/>
              </a:rPr>
              <a:t>G2 协议为社区逆向整理，固件升级可能失效。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3017520"/>
            <a:ext cx="4572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1" i="0">
                <a:solidFill>
                  <a:srgbClr val="43A047"/>
                </a:solidFill>
                <a:latin typeface="Segoe UI Semibold"/>
                <a:ea typeface="微软雅黑"/>
              </a:rPr>
              <a:t>应对  </a:t>
            </a:r>
            <a:r>
              <a:rPr sz="1300" b="0" i="0">
                <a:solidFill>
                  <a:srgbClr val="F5F5F7"/>
                </a:solidFill>
                <a:latin typeface="Segoe UI"/>
                <a:ea typeface="微软雅黑"/>
              </a:rPr>
              <a:t>跟进社区协议；争取官方 SDK；页面丢失事件已自动恢复。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828800"/>
            <a:ext cx="5257800" cy="1828800"/>
          </a:xfrm>
          <a:prstGeom prst="roundRect">
            <a:avLst>
              <a:gd name="adj" fmla="val 11000"/>
            </a:avLst>
          </a:prstGeom>
          <a:solidFill>
            <a:srgbClr val="1C1C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210312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000" b="1" i="0">
                <a:solidFill>
                  <a:srgbClr val="F5F5F7"/>
                </a:solidFill>
                <a:latin typeface="Segoe UI Semibold"/>
                <a:ea typeface="微软雅黑"/>
              </a:rPr>
              <a:t>嘈杂环境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56032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0" i="0">
                <a:solidFill>
                  <a:srgbClr val="A1A1A6"/>
                </a:solidFill>
                <a:latin typeface="Segoe UI"/>
                <a:ea typeface="微软雅黑"/>
              </a:rPr>
              <a:t>多人同时说话、噪声会影响识别与声纹。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3017520"/>
            <a:ext cx="4572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1" i="0">
                <a:solidFill>
                  <a:srgbClr val="43A047"/>
                </a:solidFill>
                <a:latin typeface="Segoe UI Semibold"/>
                <a:ea typeface="微软雅黑"/>
              </a:rPr>
              <a:t>应对  </a:t>
            </a:r>
            <a:r>
              <a:rPr sz="1300" b="0" i="0">
                <a:solidFill>
                  <a:srgbClr val="F5F5F7"/>
                </a:solidFill>
                <a:latin typeface="Segoe UI"/>
                <a:ea typeface="微软雅黑"/>
              </a:rPr>
              <a:t>VAD 参数与最短时长门槛；短句沿用上一位说话人；多条额外声纹。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840480"/>
            <a:ext cx="5257800" cy="1828800"/>
          </a:xfrm>
          <a:prstGeom prst="roundRect">
            <a:avLst>
              <a:gd name="adj" fmla="val 11000"/>
            </a:avLst>
          </a:prstGeom>
          <a:solidFill>
            <a:srgbClr val="1C1C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411480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000" b="1" i="0">
                <a:solidFill>
                  <a:srgbClr val="F5F5F7"/>
                </a:solidFill>
                <a:latin typeface="Segoe UI Semibold"/>
                <a:ea typeface="微软雅黑"/>
              </a:rPr>
              <a:t>隐私合规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457200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0" i="0">
                <a:solidFill>
                  <a:srgbClr val="A1A1A6"/>
                </a:solidFill>
                <a:latin typeface="Segoe UI"/>
                <a:ea typeface="微软雅黑"/>
              </a:rPr>
              <a:t>全天录音涉及对方知情与数据合规。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5029200"/>
            <a:ext cx="4572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1" i="0">
                <a:solidFill>
                  <a:srgbClr val="43A047"/>
                </a:solidFill>
                <a:latin typeface="Segoe UI Semibold"/>
                <a:ea typeface="微软雅黑"/>
              </a:rPr>
              <a:t>应对  </a:t>
            </a:r>
            <a:r>
              <a:rPr sz="1300" b="0" i="0">
                <a:solidFill>
                  <a:srgbClr val="F5F5F7"/>
                </a:solidFill>
                <a:latin typeface="Segoe UI"/>
                <a:ea typeface="微软雅黑"/>
              </a:rPr>
              <a:t>端侧处理、只上传文字、30 天清理、随时删除；路线图加入知情提示。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3840480"/>
            <a:ext cx="5257800" cy="1828800"/>
          </a:xfrm>
          <a:prstGeom prst="roundRect">
            <a:avLst>
              <a:gd name="adj" fmla="val 11000"/>
            </a:avLst>
          </a:prstGeom>
          <a:solidFill>
            <a:srgbClr val="1C1C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411480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000" b="1" i="0">
                <a:solidFill>
                  <a:srgbClr val="F5F5F7"/>
                </a:solidFill>
                <a:latin typeface="Segoe UI Semibold"/>
                <a:ea typeface="微软雅黑"/>
              </a:rPr>
              <a:t>云端依赖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457200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0" i="0">
                <a:solidFill>
                  <a:srgbClr val="A1A1A6"/>
                </a:solidFill>
                <a:latin typeface="Segoe UI"/>
                <a:ea typeface="微软雅黑"/>
              </a:rPr>
              <a:t>提炼依赖网络与大模型服务。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5029200"/>
            <a:ext cx="4572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1" i="0">
                <a:solidFill>
                  <a:srgbClr val="43A047"/>
                </a:solidFill>
                <a:latin typeface="Segoe UI Semibold"/>
                <a:ea typeface="微软雅黑"/>
              </a:rPr>
              <a:t>应对  </a:t>
            </a:r>
            <a:r>
              <a:rPr sz="1300" b="0" i="0">
                <a:solidFill>
                  <a:srgbClr val="F5F5F7"/>
                </a:solidFill>
                <a:latin typeface="Segoe UI"/>
                <a:ea typeface="微软雅黑"/>
              </a:rPr>
              <a:t>本地队列 + 指数退避，不丢内容；路线图：端侧小模型离线提炼。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45775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000" b="0" i="0">
                <a:solidFill>
                  <a:srgbClr val="6E6E73"/>
                </a:solidFill>
                <a:latin typeface="Segoe UI"/>
                <a:ea typeface="微软雅黑"/>
              </a:rPr>
              <a:t>33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4000" b="1" i="0">
                <a:solidFill>
                  <a:srgbClr val="F5F5F7"/>
                </a:solidFill>
                <a:latin typeface="Segoe UI Semibold"/>
                <a:ea typeface="微软雅黑"/>
              </a:rPr>
              <a:t>用数字说话。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920240"/>
            <a:ext cx="25603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5400" b="0" i="0">
                <a:solidFill>
                  <a:srgbClr val="F5F5F7"/>
                </a:solidFill>
                <a:latin typeface="Segoe UI Light"/>
                <a:ea typeface="微软雅黑 Light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971800"/>
            <a:ext cx="2560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 i="0">
                <a:solidFill>
                  <a:srgbClr val="A1A1A6"/>
                </a:solidFill>
                <a:latin typeface="Segoe UI"/>
                <a:ea typeface="微软雅黑"/>
              </a:rPr>
              <a:t>端侧模型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29000" y="1920240"/>
            <a:ext cx="25603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5400" b="0" i="0">
                <a:solidFill>
                  <a:srgbClr val="F5F5F7"/>
                </a:solidFill>
                <a:latin typeface="Segoe UI Light"/>
                <a:ea typeface="微软雅黑 Light"/>
              </a:rPr>
              <a:t>100%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29000" y="2971800"/>
            <a:ext cx="2560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 i="0">
                <a:solidFill>
                  <a:srgbClr val="A1A1A6"/>
                </a:solidFill>
                <a:latin typeface="Segoe UI"/>
                <a:ea typeface="微软雅黑"/>
              </a:rPr>
              <a:t>语音与图像不出手机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0" y="1920240"/>
            <a:ext cx="25603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5400" b="0" i="0">
                <a:solidFill>
                  <a:srgbClr val="F5F5F7"/>
                </a:solidFill>
                <a:latin typeface="Segoe UI Light"/>
                <a:ea typeface="微软雅黑 Light"/>
              </a:rPr>
              <a:t>5 min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0" y="2971800"/>
            <a:ext cx="2560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 i="0">
                <a:solidFill>
                  <a:srgbClr val="A1A1A6"/>
                </a:solidFill>
                <a:latin typeface="Segoe UI"/>
                <a:ea typeface="微软雅黑"/>
              </a:rPr>
              <a:t>会话窗口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23960" y="1920240"/>
            <a:ext cx="25603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5400" b="0" i="0">
                <a:solidFill>
                  <a:srgbClr val="F5F5F7"/>
                </a:solidFill>
                <a:latin typeface="Segoe UI Light"/>
                <a:ea typeface="微软雅黑 Light"/>
              </a:rPr>
              <a:t>1 min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23960" y="2971800"/>
            <a:ext cx="2560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 i="0">
                <a:solidFill>
                  <a:srgbClr val="A1A1A6"/>
                </a:solidFill>
                <a:latin typeface="Segoe UI"/>
                <a:ea typeface="微软雅黑"/>
              </a:rPr>
              <a:t>AI 自动提炼间隔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931920"/>
            <a:ext cx="25603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5400" b="0" i="0">
                <a:solidFill>
                  <a:srgbClr val="F5F5F7"/>
                </a:solidFill>
                <a:latin typeface="Segoe UI Light"/>
                <a:ea typeface="微软雅黑 Light"/>
              </a:rPr>
              <a:t>60 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983480"/>
            <a:ext cx="2560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 i="0">
                <a:solidFill>
                  <a:srgbClr val="A1A1A6"/>
                </a:solidFill>
                <a:latin typeface="Segoe UI"/>
                <a:ea typeface="微软雅黑"/>
              </a:rPr>
              <a:t>眼镜页面自动消失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29000" y="3931920"/>
            <a:ext cx="25603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5400" b="0" i="0">
                <a:solidFill>
                  <a:srgbClr val="F5F5F7"/>
                </a:solidFill>
                <a:latin typeface="Segoe UI Light"/>
                <a:ea typeface="微软雅黑 Light"/>
              </a:rPr>
              <a:t>30 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29000" y="4983480"/>
            <a:ext cx="2560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 i="0">
                <a:solidFill>
                  <a:srgbClr val="A1A1A6"/>
                </a:solidFill>
                <a:latin typeface="Segoe UI"/>
                <a:ea typeface="微软雅黑"/>
              </a:rPr>
              <a:t>转写自动清理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0" y="3931920"/>
            <a:ext cx="25603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5400" b="0" i="0">
                <a:solidFill>
                  <a:srgbClr val="F5F5F7"/>
                </a:solidFill>
                <a:latin typeface="Segoe UI Light"/>
                <a:ea typeface="微软雅黑 Light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0" y="4983480"/>
            <a:ext cx="2560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 i="0">
                <a:solidFill>
                  <a:srgbClr val="A1A1A6"/>
                </a:solidFill>
                <a:latin typeface="Segoe UI"/>
                <a:ea typeface="微软雅黑"/>
              </a:rPr>
              <a:t>镜腿同时连接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23960" y="3931920"/>
            <a:ext cx="25603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5400" b="0" i="0">
                <a:solidFill>
                  <a:srgbClr val="F5F5F7"/>
                </a:solidFill>
                <a:latin typeface="Segoe UI Light"/>
                <a:ea typeface="微软雅黑 Light"/>
              </a:rPr>
              <a:t>0.50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23960" y="4983480"/>
            <a:ext cx="2560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 i="0">
                <a:solidFill>
                  <a:srgbClr val="A1A1A6"/>
                </a:solidFill>
                <a:latin typeface="Segoe UI"/>
                <a:ea typeface="微软雅黑"/>
              </a:rPr>
              <a:t>声纹阈值（可调）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45775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000" b="0" i="0">
                <a:solidFill>
                  <a:srgbClr val="86868B"/>
                </a:solidFill>
                <a:latin typeface="Segoe UI"/>
                <a:ea typeface="微软雅黑"/>
              </a:rPr>
              <a:t>34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4000" b="1" i="0">
                <a:solidFill>
                  <a:srgbClr val="1D1D1F"/>
                </a:solidFill>
                <a:latin typeface="Segoe UI Semibold"/>
                <a:ea typeface="微软雅黑"/>
              </a:rPr>
              <a:t>团队。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2542032" cy="3108960"/>
          </a:xfrm>
          <a:prstGeom prst="roundRect">
            <a:avLst>
              <a:gd name="adj" fmla="val 7913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545336" y="2377440"/>
            <a:ext cx="914400" cy="914400"/>
          </a:xfrm>
          <a:prstGeom prst="ellipse">
            <a:avLst/>
          </a:prstGeom>
          <a:solidFill>
            <a:srgbClr val="E8E8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3474720"/>
            <a:ext cx="254203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800" b="1" i="0">
                <a:solidFill>
                  <a:srgbClr val="1D1D1F"/>
                </a:solidFill>
                <a:latin typeface="Segoe UI Semibold"/>
                <a:ea typeface="微软雅黑"/>
              </a:rPr>
              <a:t>姓名（待填）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931920"/>
            <a:ext cx="2542032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300" b="0" i="0">
                <a:solidFill>
                  <a:srgbClr val="6E6E73"/>
                </a:solidFill>
                <a:latin typeface="Segoe UI"/>
                <a:ea typeface="微软雅黑"/>
              </a:rPr>
              <a:t>角色 / 分工（待填）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56432" y="2011680"/>
            <a:ext cx="2542032" cy="3108960"/>
          </a:xfrm>
          <a:prstGeom prst="roundRect">
            <a:avLst>
              <a:gd name="adj" fmla="val 7913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270248" y="2377440"/>
            <a:ext cx="914400" cy="914400"/>
          </a:xfrm>
          <a:prstGeom prst="ellipse">
            <a:avLst/>
          </a:prstGeom>
          <a:solidFill>
            <a:srgbClr val="E8E8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56432" y="3474720"/>
            <a:ext cx="254203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800" b="1" i="0">
                <a:solidFill>
                  <a:srgbClr val="1D1D1F"/>
                </a:solidFill>
                <a:latin typeface="Segoe UI Semibold"/>
                <a:ea typeface="微软雅黑"/>
              </a:rPr>
              <a:t>姓名（待填）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56432" y="3931920"/>
            <a:ext cx="2542032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300" b="0" i="0">
                <a:solidFill>
                  <a:srgbClr val="6E6E73"/>
                </a:solidFill>
                <a:latin typeface="Segoe UI"/>
                <a:ea typeface="微软雅黑"/>
              </a:rPr>
              <a:t>角色 / 分工（待填）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81344" y="2011680"/>
            <a:ext cx="2542032" cy="3108960"/>
          </a:xfrm>
          <a:prstGeom prst="roundRect">
            <a:avLst>
              <a:gd name="adj" fmla="val 7913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995159" y="2377440"/>
            <a:ext cx="914400" cy="914400"/>
          </a:xfrm>
          <a:prstGeom prst="ellipse">
            <a:avLst/>
          </a:prstGeom>
          <a:solidFill>
            <a:srgbClr val="E8E8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81344" y="3474720"/>
            <a:ext cx="254203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800" b="1" i="0">
                <a:solidFill>
                  <a:srgbClr val="1D1D1F"/>
                </a:solidFill>
                <a:latin typeface="Segoe UI Semibold"/>
                <a:ea typeface="微软雅黑"/>
              </a:rPr>
              <a:t>姓名（待填）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81344" y="3931920"/>
            <a:ext cx="2542032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300" b="0" i="0">
                <a:solidFill>
                  <a:srgbClr val="6E6E73"/>
                </a:solidFill>
                <a:latin typeface="Segoe UI"/>
                <a:ea typeface="微软雅黑"/>
              </a:rPr>
              <a:t>角色 / 分工（待填）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06256" y="2011680"/>
            <a:ext cx="2542032" cy="3108960"/>
          </a:xfrm>
          <a:prstGeom prst="roundRect">
            <a:avLst>
              <a:gd name="adj" fmla="val 7913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720072" y="2377440"/>
            <a:ext cx="914400" cy="914400"/>
          </a:xfrm>
          <a:prstGeom prst="ellipse">
            <a:avLst/>
          </a:prstGeom>
          <a:solidFill>
            <a:srgbClr val="E8E8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06256" y="3474720"/>
            <a:ext cx="254203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800" b="1" i="0">
                <a:solidFill>
                  <a:srgbClr val="1D1D1F"/>
                </a:solidFill>
                <a:latin typeface="Segoe UI Semibold"/>
                <a:ea typeface="微软雅黑"/>
              </a:rPr>
              <a:t>姓名（待填）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06256" y="3931920"/>
            <a:ext cx="2542032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300" b="0" i="0">
                <a:solidFill>
                  <a:srgbClr val="6E6E73"/>
                </a:solidFill>
                <a:latin typeface="Segoe UI"/>
                <a:ea typeface="微软雅黑"/>
              </a:rPr>
              <a:t>角色 / 分工（待填）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45775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000" b="0" i="0">
                <a:solidFill>
                  <a:srgbClr val="6E6E73"/>
                </a:solidFill>
                <a:latin typeface="Segoe UI"/>
                <a:ea typeface="微软雅黑"/>
              </a:rPr>
              <a:t>35</a:t>
            </a:r>
          </a:p>
        </p:txBody>
      </p:sp>
      <p:sp>
        <p:nvSpPr>
          <p:cNvPr id="3" name="Oval 2"/>
          <p:cNvSpPr/>
          <p:nvPr/>
        </p:nvSpPr>
        <p:spPr>
          <a:xfrm>
            <a:off x="1981047" y="1143000"/>
            <a:ext cx="8229600" cy="4572000"/>
          </a:xfrm>
          <a:prstGeom prst="ellipse">
            <a:avLst/>
          </a:prstGeom>
          <a:gradFill rotWithShape="1">
            <a:gsLst>
              <a:gs pos="0">
                <a:srgbClr val="3D5AFE"/>
              </a:gs>
              <a:gs pos="100000">
                <a:srgbClr val="A259FF"/>
              </a:gs>
            </a:gsLst>
            <a:lin scaled="0" ang="18900000"/>
          </a:gradFill>
          <a:ln>
            <a:noFill/>
          </a:ln>
          <a:effectLst/>
          <a:effectLst>
            <a:softEdge rad="13970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981047" y="1143000"/>
            <a:ext cx="8229600" cy="4572000"/>
          </a:xfrm>
          <a:prstGeom prst="ellipse">
            <a:avLst/>
          </a:prstGeom>
          <a:solidFill>
            <a:srgbClr val="3D5AFE">
              <a:alpha val="30000"/>
            </a:srgbClr>
          </a:solidFill>
          <a:ln>
            <a:noFill/>
          </a:ln>
          <a:effectLst/>
          <a:effectLst>
            <a:softEdge rad="13970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103120"/>
            <a:ext cx="10728655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8400" b="0" i="0">
                <a:solidFill>
                  <a:srgbClr val="F5F5F7"/>
                </a:solidFill>
                <a:latin typeface="Segoe UI Light"/>
                <a:ea typeface="微软雅黑 Light"/>
              </a:rPr>
              <a:t>Whisper.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520440"/>
            <a:ext cx="1072865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3200" b="0" i="0">
                <a:solidFill>
                  <a:srgbClr val="F5F5F7"/>
                </a:solidFill>
                <a:latin typeface="Segoe UI Light"/>
                <a:ea typeface="微软雅黑 Light"/>
              </a:rPr>
              <a:t>让每一次相遇，都有记忆。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846320"/>
            <a:ext cx="1072865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600" b="0" i="0">
                <a:solidFill>
                  <a:srgbClr val="A1A1A6"/>
                </a:solidFill>
                <a:latin typeface="Segoe UI"/>
                <a:ea typeface="微软雅黑"/>
              </a:rPr>
              <a:t>谢谢  ·  欢迎提问与上手体验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Whisper × Even G2 参赛路演</dc:title>
  <dc:subject/>
  <dc:creator>Whisper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
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开场：一句话定位——听见每一次对话，记住每一个人。先抛产品，再讲为什么。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停顿两秒再翻页。让这个问题留在观众脑子里，后面所有内容都是在回答它。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三个出口：手机、灵动岛、眼镜。眼镜是加分项，不是全部——这一点要讲清楚。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核心价值一句话：记忆不该是一项任务。被动、自动、恰好——三个词记住就行。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进入痛点。先让观众承认：这事儿我也做不到。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三个痛点逐条讲，每条一句话场景。最后落到：不是工具不够，是人做不到。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四类人群共同点：要记住很多人。市场数据按比赛要求另行补充。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进入产品。准备切到演示。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四个动词：听得懂、认得出、记得住、提醒得巧。第四个是差异化所在，多讲 20 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这一页是全场的故事线。讲完这四步，产品就讲明白了。演示时可直接对着手机走一遍。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这页是视觉锚点。如果现场有眼镜，这里直接抬头让人看镜片；没有就讲示意。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强调眼镜不是替代手机，而是多加一层。私密性是手机做不到的那一点。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进入技术。一句话总结架构：端侧感知、云端提炼、本机记忆。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重点是：全部 CPU、int8 量化、模型不打包进 APK（系统预置）。这是工程上最硬的一块。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双引擎是关键：流式给实时反馈，非流式给定稿精度。两者都跑在 CPU 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声纹是「记得住每个人」的基础。讲的是闭环：录入→比对→建档→自适应。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大模型只做一件事：找出有后续价值的内容。闭环核销是亮点——会勾掉、会过期。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版式还原是这一页的技术巧思：OCR 丢掉了左右排版，而「谁说的」就藏在排版里。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这页讲工程深度。踩坑清单最有说服力——说明真机调通过，不是 PPT 产品。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全天候录音一定会遇到隐私质疑。这页必须讲，而且要主动讲、讲在前面。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进入进展。先亮数字，再列已完成清单。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六个数字，逐条念一遍就够。重点是 100% 端侧和 11,963 行——说明是真做出来的。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八项已完成，全部可现场演示。讲的时候强调「能跑」，不是「计划做」。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团队页信息待补充。强调能力组合：端侧 AI + 系统级开发 + BLE 逆向 + 大模型应用。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成本结构要讲：端侧零推理成本，云端只发文字。这是单位经济能成立的关键。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规划 + 风险一起讲，显得清醒。三个风险都有对应策略，不要回避。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收尾一句话，然后停在 CTA 页等提问。如果时间允许，现场邀请上手体验。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620359" y="1234440"/>
            <a:ext cx="950976" cy="950976"/>
          </a:xfrm>
          <a:prstGeom prst="ellipse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14600"/>
            <a:ext cx="1036289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0" b="1" i="0">
                <a:solidFill>
                  <a:srgbClr val="F5F5F7"/>
                </a:solidFill>
                <a:latin typeface="微软雅黑"/>
                <a:ea typeface="微软雅黑"/>
              </a:rPr>
              <a:t>Whisper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9476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F5F5F7"/>
                </a:solidFill>
                <a:latin typeface="微软雅黑"/>
                <a:ea typeface="微软雅黑"/>
              </a:rPr>
              <a:t>听见每一次对话，记住每一个人。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617720"/>
            <a:ext cx="103628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6E6E73"/>
                </a:solidFill>
                <a:latin typeface="微软雅黑"/>
                <a:ea typeface="微软雅黑"/>
              </a:rPr>
              <a:t>全天候对话记忆助手  ×  Even G2 智能眼镜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532120"/>
            <a:ext cx="103628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300">
                <a:solidFill>
                  <a:srgbClr val="4A4A4E"/>
                </a:solidFill>
                <a:latin typeface="微软雅黑"/>
                <a:ea typeface="微软雅黑"/>
              </a:rPr>
              <a:t>参 赛 路 演   ·   2 0 2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3628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3A3A3C"/>
                </a:solidFill>
                <a:latin typeface="微软雅黑"/>
                <a:ea typeface="微软雅黑"/>
              </a:rPr>
              <a:t>团队名称 / 汇报人（待填）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4884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F5F5F7"/>
                </a:solidFill>
                <a:latin typeface="微软雅黑"/>
                <a:ea typeface="微软雅黑"/>
              </a:rPr>
              <a:t>上次见面，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F5F5F7"/>
                </a:solidFill>
                <a:latin typeface="微软雅黑"/>
                <a:ea typeface="微软雅黑"/>
              </a:rPr>
              <a:t>他跟你说了什么？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26280"/>
            <a:ext cx="103628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875" b="0" i="0">
                <a:solidFill>
                  <a:srgbClr val="A1A1A6"/>
                </a:solidFill>
                <a:latin typeface="微软雅黑"/>
                <a:ea typeface="微软雅黑"/>
              </a:rPr>
              <a:t>我们每天听到上万句话。</a:t>
            </a:r>
          </a:p>
          <a:p>
            <a:pPr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875" b="0" i="0">
                <a:solidFill>
                  <a:srgbClr val="F5F5F7"/>
                </a:solidFill>
                <a:latin typeface="微软雅黑"/>
                <a:ea typeface="微软雅黑"/>
              </a:rPr>
              <a:t>真正该记住的那几句，往往三天后就忘了。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49808"/>
            <a:ext cx="103628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 spc="260">
                <a:solidFill>
                  <a:srgbClr val="6E6E73"/>
                </a:solidFill>
                <a:latin typeface="微软雅黑"/>
                <a:ea typeface="微软雅黑"/>
              </a:rPr>
              <a:t>项 目 定 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33856"/>
            <a:ext cx="1036289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</a:pPr>
            <a:r>
              <a:rPr sz="6000" b="1">
                <a:solidFill>
                  <a:srgbClr val="F5F5F7"/>
                </a:solidFill>
                <a:latin typeface="微软雅黑"/>
                <a:ea typeface="微软雅黑"/>
              </a:rPr>
              <a:t>Introducing </a:t>
            </a:r>
            <a:r>
              <a:rPr sz="6000" b="1">
                <a:solidFill>
                  <a:srgbClr val="0A84FF"/>
                </a:solidFill>
                <a:latin typeface="微软雅黑"/>
                <a:ea typeface="微软雅黑"/>
              </a:rPr>
              <a:t>Whisper.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34184"/>
            <a:ext cx="1036289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>
                <a:solidFill>
                  <a:srgbClr val="A1A1A6"/>
                </a:solidFill>
                <a:latin typeface="微软雅黑"/>
                <a:ea typeface="微软雅黑"/>
              </a:rPr>
              <a:t>一个一直在听、认得出人、会替你记事，</a:t>
            </a:r>
          </a:p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>
                <a:solidFill>
                  <a:srgbClr val="F5F5F7"/>
                </a:solidFill>
                <a:latin typeface="微软雅黑"/>
                <a:ea typeface="微软雅黑"/>
              </a:rPr>
              <a:t>并在合适的时机提醒你的私人记忆助手。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224528"/>
            <a:ext cx="3320186" cy="1572768"/>
          </a:xfrm>
          <a:prstGeom prst="roundRect">
            <a:avLst>
              <a:gd name="adj" fmla="val 8812"/>
            </a:avLst>
          </a:prstGeom>
          <a:solidFill>
            <a:srgbClr val="0C0C0E"/>
          </a:solidFill>
          <a:ln w="12700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152144" y="4462272"/>
            <a:ext cx="284469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spc="160">
                <a:solidFill>
                  <a:srgbClr val="0A84FF"/>
                </a:solidFill>
                <a:latin typeface="微软雅黑"/>
                <a:ea typeface="微软雅黑"/>
              </a:rPr>
              <a:t>手机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" y="4736592"/>
            <a:ext cx="28446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025" b="1" i="0">
                <a:solidFill>
                  <a:srgbClr val="F5F5F7"/>
                </a:solidFill>
                <a:latin typeface="微软雅黑"/>
                <a:ea typeface="微软雅黑"/>
              </a:rPr>
              <a:t>卡片 + 实时转写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" y="5138928"/>
            <a:ext cx="2844698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387" b="0" i="0">
                <a:solidFill>
                  <a:srgbClr val="A1A1A6"/>
                </a:solidFill>
                <a:latin typeface="微软雅黑"/>
                <a:ea typeface="微软雅黑"/>
              </a:rPr>
              <a:t>事项卡片堆与按人着色的转写，一屏看全。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5754" y="4224528"/>
            <a:ext cx="3320186" cy="1572768"/>
          </a:xfrm>
          <a:prstGeom prst="roundRect">
            <a:avLst>
              <a:gd name="adj" fmla="val 8812"/>
            </a:avLst>
          </a:prstGeom>
          <a:solidFill>
            <a:srgbClr val="0C0C0E"/>
          </a:solidFill>
          <a:ln w="12700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673498" y="4462272"/>
            <a:ext cx="284469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spc="160">
                <a:solidFill>
                  <a:srgbClr val="0A84FF"/>
                </a:solidFill>
                <a:latin typeface="微软雅黑"/>
                <a:ea typeface="微软雅黑"/>
              </a:rPr>
              <a:t>灵动岛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3498" y="4736592"/>
            <a:ext cx="28446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025" b="1" i="0">
                <a:solidFill>
                  <a:srgbClr val="F5F5F7"/>
                </a:solidFill>
                <a:latin typeface="微软雅黑"/>
                <a:ea typeface="微软雅黑"/>
              </a:rPr>
              <a:t>系统级实况通知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3498" y="5138928"/>
            <a:ext cx="2844698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387" b="0" i="0">
                <a:solidFill>
                  <a:srgbClr val="A1A1A6"/>
                </a:solidFill>
                <a:latin typeface="微软雅黑"/>
                <a:ea typeface="微软雅黑"/>
              </a:rPr>
              <a:t>不在应用里也能看见、也能操作。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7108" y="4224528"/>
            <a:ext cx="3320186" cy="1572768"/>
          </a:xfrm>
          <a:prstGeom prst="roundRect">
            <a:avLst>
              <a:gd name="adj" fmla="val 8812"/>
            </a:avLst>
          </a:prstGeom>
          <a:solidFill>
            <a:srgbClr val="09192F"/>
          </a:solidFill>
          <a:ln w="12700">
            <a:solidFill>
              <a:srgbClr val="1B3E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194852" y="4462272"/>
            <a:ext cx="284469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spc="160">
                <a:solidFill>
                  <a:srgbClr val="64D2FF"/>
                </a:solidFill>
                <a:latin typeface="微软雅黑"/>
                <a:ea typeface="微软雅黑"/>
              </a:rPr>
              <a:t>EVEN G2 眼镜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4852" y="4736592"/>
            <a:ext cx="28446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025" b="1" i="0">
                <a:solidFill>
                  <a:srgbClr val="F5F5F7"/>
                </a:solidFill>
                <a:latin typeface="微软雅黑"/>
                <a:ea typeface="微软雅黑"/>
              </a:rPr>
              <a:t>抬眼即见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4852" y="5138928"/>
            <a:ext cx="2844698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387" b="0" i="0">
                <a:solidFill>
                  <a:srgbClr val="A1A1A6"/>
                </a:solidFill>
                <a:latin typeface="微软雅黑"/>
                <a:ea typeface="微软雅黑"/>
              </a:rPr>
              <a:t>提醒出现在镜片上，不打断正在进行的对话。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00200"/>
            <a:ext cx="10362895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F5F5F7"/>
                </a:solidFill>
                <a:latin typeface="微软雅黑"/>
                <a:ea typeface="微软雅黑"/>
              </a:rPr>
              <a:t>最好的笔记，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0A84FF"/>
                </a:solidFill>
                <a:latin typeface="微软雅黑"/>
                <a:ea typeface="微软雅黑"/>
              </a:rPr>
              <a:t>是你从不需要打开的笔记。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94760"/>
            <a:ext cx="1036289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875" b="0" i="0">
                <a:solidFill>
                  <a:srgbClr val="A1A1A6"/>
                </a:solidFill>
                <a:latin typeface="微软雅黑"/>
                <a:ea typeface="微软雅黑"/>
              </a:rPr>
              <a:t>记忆应该被动发生、自动整理，</a:t>
            </a:r>
          </a:p>
          <a:p>
            <a:pPr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875" b="0" i="0">
                <a:solidFill>
                  <a:srgbClr val="A1A1A6"/>
                </a:solidFill>
                <a:latin typeface="微软雅黑"/>
                <a:ea typeface="微软雅黑"/>
              </a:rPr>
              <a:t>并在你需要的那一刻，出现在眼前。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892040"/>
            <a:ext cx="3320186" cy="1298448"/>
          </a:xfrm>
          <a:prstGeom prst="roundRect">
            <a:avLst>
              <a:gd name="adj" fmla="val 8812"/>
            </a:avLst>
          </a:prstGeom>
          <a:solidFill>
            <a:srgbClr val="0C0C0E"/>
          </a:solidFill>
          <a:ln w="12700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52144" y="5129783"/>
            <a:ext cx="284469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spc="160">
                <a:solidFill>
                  <a:srgbClr val="0A84FF"/>
                </a:solidFill>
                <a:latin typeface="微软雅黑"/>
                <a:ea typeface="微软雅黑"/>
              </a:rPr>
              <a:t>01 · 被动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" y="5404103"/>
            <a:ext cx="28446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5F7"/>
                </a:solidFill>
                <a:latin typeface="微软雅黑"/>
                <a:ea typeface="微软雅黑"/>
              </a:rPr>
              <a:t>不用你操作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" y="5769864"/>
            <a:ext cx="284469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A1A1A6"/>
                </a:solidFill>
                <a:latin typeface="微软雅黑"/>
                <a:ea typeface="微软雅黑"/>
              </a:rPr>
              <a:t>不需要打开、不需要按下录音键。它一直在听。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5754" y="4892040"/>
            <a:ext cx="3320186" cy="1298448"/>
          </a:xfrm>
          <a:prstGeom prst="roundRect">
            <a:avLst>
              <a:gd name="adj" fmla="val 8812"/>
            </a:avLst>
          </a:prstGeom>
          <a:solidFill>
            <a:srgbClr val="0C0C0E"/>
          </a:solidFill>
          <a:ln w="12700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673498" y="5129783"/>
            <a:ext cx="284469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spc="160">
                <a:solidFill>
                  <a:srgbClr val="0A84FF"/>
                </a:solidFill>
                <a:latin typeface="微软雅黑"/>
                <a:ea typeface="微软雅黑"/>
              </a:rPr>
              <a:t>02 · 自动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73498" y="5404103"/>
            <a:ext cx="28446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5F7"/>
                </a:solidFill>
                <a:latin typeface="微软雅黑"/>
                <a:ea typeface="微软雅黑"/>
              </a:rPr>
              <a:t>不用你整理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3498" y="5769864"/>
            <a:ext cx="284469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A1A1A6"/>
                </a:solidFill>
                <a:latin typeface="微软雅黑"/>
                <a:ea typeface="微软雅黑"/>
              </a:rPr>
              <a:t>大模型提炼待办与事实，去重、完成、过期全自动。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7108" y="4892040"/>
            <a:ext cx="3320186" cy="1298448"/>
          </a:xfrm>
          <a:prstGeom prst="roundRect">
            <a:avLst>
              <a:gd name="adj" fmla="val 8812"/>
            </a:avLst>
          </a:prstGeom>
          <a:solidFill>
            <a:srgbClr val="0C0C0E"/>
          </a:solidFill>
          <a:ln w="12700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194852" y="5129783"/>
            <a:ext cx="284469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spc="160">
                <a:solidFill>
                  <a:srgbClr val="0A84FF"/>
                </a:solidFill>
                <a:latin typeface="微软雅黑"/>
                <a:ea typeface="微软雅黑"/>
              </a:rPr>
              <a:t>03 · 恰好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4852" y="5404103"/>
            <a:ext cx="28446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5F7"/>
                </a:solidFill>
                <a:latin typeface="微软雅黑"/>
                <a:ea typeface="微软雅黑"/>
              </a:rPr>
              <a:t>在对的时机出现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4852" y="5769864"/>
            <a:ext cx="284469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A1A1A6"/>
                </a:solidFill>
                <a:latin typeface="微软雅黑"/>
                <a:ea typeface="微软雅黑"/>
              </a:rPr>
              <a:t>熟人再次开口时才提醒——不是每句话都打扰你。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737360"/>
            <a:ext cx="10362895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0" b="1" i="0">
                <a:solidFill>
                  <a:srgbClr val="2A2A2E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7180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600" b="1" i="0">
                <a:solidFill>
                  <a:srgbClr val="F5F5F7"/>
                </a:solidFill>
                <a:latin typeface="微软雅黑"/>
                <a:ea typeface="微软雅黑"/>
              </a:rPr>
              <a:t>为什么
需要它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892040"/>
            <a:ext cx="103628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>
                <a:solidFill>
                  <a:srgbClr val="A1A1A6"/>
                </a:solidFill>
                <a:latin typeface="微软雅黑"/>
                <a:ea typeface="微软雅黑"/>
              </a:rPr>
              <a:t>记忆依赖人主动去做。
而人，恰恰做不到。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49808"/>
            <a:ext cx="103628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 spc="260">
                <a:solidFill>
                  <a:srgbClr val="6E6E73"/>
                </a:solidFill>
                <a:latin typeface="微软雅黑"/>
                <a:ea typeface="微软雅黑"/>
              </a:rPr>
              <a:t>目 标 用 户 与 痛 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33856"/>
            <a:ext cx="1036289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</a:pPr>
            <a:r>
              <a:rPr sz="4200" b="1">
                <a:solidFill>
                  <a:srgbClr val="F5F5F7"/>
                </a:solidFill>
                <a:latin typeface="微软雅黑"/>
                <a:ea typeface="微软雅黑"/>
              </a:rPr>
              <a:t>记忆，是社交里</a:t>
            </a:r>
            <a:r>
              <a:rPr sz="4200" b="1">
                <a:solidFill>
                  <a:srgbClr val="0A84FF"/>
                </a:solidFill>
                <a:latin typeface="微软雅黑"/>
                <a:ea typeface="微软雅黑"/>
              </a:rPr>
              <a:t>最贵的成本</a:t>
            </a:r>
            <a:r>
              <a:rPr sz="4200" b="1">
                <a:solidFill>
                  <a:srgbClr val="F5F5F7"/>
                </a:solidFill>
                <a:latin typeface="微软雅黑"/>
                <a:ea typeface="微软雅黑"/>
              </a:rPr>
              <a:t>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487168"/>
            <a:ext cx="3320186" cy="2286000"/>
          </a:xfrm>
          <a:prstGeom prst="roundRect">
            <a:avLst>
              <a:gd name="adj" fmla="val 8812"/>
            </a:avLst>
          </a:prstGeom>
          <a:solidFill>
            <a:srgbClr val="0C0C0E"/>
          </a:solidFill>
          <a:ln w="12700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52144" y="2724912"/>
            <a:ext cx="284469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spc="160">
                <a:solidFill>
                  <a:srgbClr val="0A84FF"/>
                </a:solidFill>
                <a:latin typeface="微软雅黑"/>
                <a:ea typeface="微软雅黑"/>
              </a:rPr>
              <a:t>痛点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" y="2999232"/>
            <a:ext cx="28446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025" b="1" i="0">
                <a:solidFill>
                  <a:srgbClr val="F5F5F7"/>
                </a:solidFill>
                <a:latin typeface="微软雅黑"/>
                <a:ea typeface="微软雅黑"/>
              </a:rPr>
              <a:t>答应的事，忘了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" y="3401568"/>
            <a:ext cx="2844698" cy="1207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387" b="0" i="0">
                <a:solidFill>
                  <a:srgbClr val="A1A1A6"/>
                </a:solidFill>
                <a:latin typeface="微软雅黑"/>
                <a:ea typeface="微软雅黑"/>
              </a:rPr>
              <a:t>口头约定没有落进日程。下次见面对方问起，才想起来。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5754" y="2487168"/>
            <a:ext cx="3320186" cy="2286000"/>
          </a:xfrm>
          <a:prstGeom prst="roundRect">
            <a:avLst>
              <a:gd name="adj" fmla="val 8812"/>
            </a:avLst>
          </a:prstGeom>
          <a:solidFill>
            <a:srgbClr val="0C0C0E"/>
          </a:solidFill>
          <a:ln w="12700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673498" y="2724912"/>
            <a:ext cx="284469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spc="160">
                <a:solidFill>
                  <a:srgbClr val="0A84FF"/>
                </a:solidFill>
                <a:latin typeface="微软雅黑"/>
                <a:ea typeface="微软雅黑"/>
              </a:rPr>
              <a:t>痛点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73498" y="2999232"/>
            <a:ext cx="28446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025" b="1" i="0">
                <a:solidFill>
                  <a:srgbClr val="F5F5F7"/>
                </a:solidFill>
                <a:latin typeface="微软雅黑"/>
                <a:ea typeface="微软雅黑"/>
              </a:rPr>
              <a:t>对方说过的，忘了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3498" y="3401568"/>
            <a:ext cx="2844698" cy="1207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387" b="0" i="0">
                <a:solidFill>
                  <a:srgbClr val="A1A1A6"/>
                </a:solidFill>
                <a:latin typeface="微软雅黑"/>
                <a:ea typeface="微软雅黑"/>
              </a:rPr>
              <a:t>忌口、近况、家人、生日……散落在闲谈与聊天记录里，没有一个地方能看全。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7108" y="2487168"/>
            <a:ext cx="3320186" cy="2286000"/>
          </a:xfrm>
          <a:prstGeom prst="roundRect">
            <a:avLst>
              <a:gd name="adj" fmla="val 8812"/>
            </a:avLst>
          </a:prstGeom>
          <a:solidFill>
            <a:srgbClr val="0C0C0E"/>
          </a:solidFill>
          <a:ln w="12700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194852" y="2724912"/>
            <a:ext cx="284469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spc="160">
                <a:solidFill>
                  <a:srgbClr val="0A84FF"/>
                </a:solidFill>
                <a:latin typeface="微软雅黑"/>
                <a:ea typeface="微软雅黑"/>
              </a:rPr>
              <a:t>痛点 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4852" y="2999232"/>
            <a:ext cx="28446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025" b="1" i="0">
                <a:solidFill>
                  <a:srgbClr val="F5F5F7"/>
                </a:solidFill>
                <a:latin typeface="微软雅黑"/>
                <a:ea typeface="微软雅黑"/>
              </a:rPr>
              <a:t>记录，太重了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4852" y="3401568"/>
            <a:ext cx="2844698" cy="1207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387" b="0" i="0">
                <a:solidFill>
                  <a:srgbClr val="A1A1A6"/>
                </a:solidFill>
                <a:latin typeface="微软雅黑"/>
                <a:ea typeface="微软雅黑"/>
              </a:rPr>
              <a:t>录音笔、备忘录、纪要 App 都要主动打开、主动整理。没有人坚持得了。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291072"/>
            <a:ext cx="92656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6E6E73"/>
                </a:solidFill>
                <a:latin typeface="微软雅黑"/>
                <a:ea typeface="微软雅黑"/>
              </a:rPr>
              <a:t>三个痛点指向同一个事实：记忆依赖人主动去做，而人恰恰做不到。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49808"/>
            <a:ext cx="103628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 spc="260">
                <a:solidFill>
                  <a:srgbClr val="6E6E73"/>
                </a:solidFill>
                <a:latin typeface="微软雅黑"/>
                <a:ea typeface="微软雅黑"/>
              </a:rPr>
              <a:t>给 谁 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33856"/>
            <a:ext cx="1036289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F5F5F7"/>
                </a:solidFill>
                <a:latin typeface="微软雅黑"/>
                <a:ea typeface="微软雅黑"/>
              </a:rPr>
              <a:t>为「要记住很多人」的人而做。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487168"/>
            <a:ext cx="2439847" cy="1920240"/>
          </a:xfrm>
          <a:prstGeom prst="roundRect">
            <a:avLst>
              <a:gd name="adj" fmla="val 11992"/>
            </a:avLst>
          </a:prstGeom>
          <a:solidFill>
            <a:srgbClr val="0C0C0E"/>
          </a:solidFill>
          <a:ln w="12700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52144" y="2724912"/>
            <a:ext cx="19643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>
                <a:solidFill>
                  <a:srgbClr val="F5F5F7"/>
                </a:solidFill>
                <a:latin typeface="微软雅黑"/>
                <a:ea typeface="微软雅黑"/>
              </a:rPr>
              <a:t>商务 / 销售 / BD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" y="3078480"/>
            <a:ext cx="1964359" cy="1164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387" b="0" i="0">
                <a:solidFill>
                  <a:srgbClr val="A1A1A6"/>
                </a:solidFill>
                <a:latin typeface="微软雅黑"/>
                <a:ea typeface="微软雅黑"/>
              </a:rPr>
              <a:t>客户随口说的每个细节，下次见面都记得。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55415" y="2487168"/>
            <a:ext cx="2439847" cy="1920240"/>
          </a:xfrm>
          <a:prstGeom prst="roundRect">
            <a:avLst>
              <a:gd name="adj" fmla="val 11992"/>
            </a:avLst>
          </a:prstGeom>
          <a:solidFill>
            <a:srgbClr val="0C0C0E"/>
          </a:solidFill>
          <a:ln w="12700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793159" y="2724912"/>
            <a:ext cx="19643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>
                <a:solidFill>
                  <a:srgbClr val="F5F5F7"/>
                </a:solidFill>
                <a:latin typeface="微软雅黑"/>
                <a:ea typeface="微软雅黑"/>
              </a:rPr>
              <a:t>医生 / 教师 / 社工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3159" y="3078480"/>
            <a:ext cx="1964359" cy="1164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387" b="0" i="0">
                <a:solidFill>
                  <a:srgbClr val="A1A1A6"/>
                </a:solidFill>
                <a:latin typeface="微软雅黑"/>
                <a:ea typeface="微软雅黑"/>
              </a:rPr>
              <a:t>每天面对很多人，记住每个人的近况。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2487168"/>
            <a:ext cx="2439847" cy="1920240"/>
          </a:xfrm>
          <a:prstGeom prst="roundRect">
            <a:avLst>
              <a:gd name="adj" fmla="val 11992"/>
            </a:avLst>
          </a:prstGeom>
          <a:solidFill>
            <a:srgbClr val="0C0C0E"/>
          </a:solidFill>
          <a:ln w="12700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34175" y="2724912"/>
            <a:ext cx="19643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>
                <a:solidFill>
                  <a:srgbClr val="F5F5F7"/>
                </a:solidFill>
                <a:latin typeface="微软雅黑"/>
                <a:ea typeface="微软雅黑"/>
              </a:rPr>
              <a:t>记忆力下降的长辈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4175" y="3078480"/>
            <a:ext cx="1964359" cy="1164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387" b="0" i="0">
                <a:solidFill>
                  <a:srgbClr val="A1A1A6"/>
                </a:solidFill>
                <a:latin typeface="微软雅黑"/>
                <a:ea typeface="微软雅黑"/>
              </a:rPr>
              <a:t>谁来了、上次说了什么、答应了什么。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37447" y="2487168"/>
            <a:ext cx="2439847" cy="1920240"/>
          </a:xfrm>
          <a:prstGeom prst="roundRect">
            <a:avLst>
              <a:gd name="adj" fmla="val 11992"/>
            </a:avLst>
          </a:prstGeom>
          <a:solidFill>
            <a:srgbClr val="0C0C0E"/>
          </a:solidFill>
          <a:ln w="12700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075191" y="2724912"/>
            <a:ext cx="19643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>
                <a:solidFill>
                  <a:srgbClr val="F5F5F7"/>
                </a:solidFill>
                <a:latin typeface="微软雅黑"/>
                <a:ea typeface="微软雅黑"/>
              </a:rPr>
              <a:t>不想忘记朋友的人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75191" y="3078480"/>
            <a:ext cx="1964359" cy="1164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387" b="0" i="0">
                <a:solidFill>
                  <a:srgbClr val="A1A1A6"/>
                </a:solidFill>
                <a:latin typeface="微软雅黑"/>
                <a:ea typeface="微软雅黑"/>
              </a:rPr>
              <a:t>朋友说过的忌口、生日、烦恼，不再只靠脑子。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291072"/>
            <a:ext cx="92656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6E6E73"/>
                </a:solidFill>
                <a:latin typeface="微软雅黑"/>
                <a:ea typeface="微软雅黑"/>
              </a:rPr>
              <a:t>市场规模数据（TAM / SAM / SOM）请按比赛要求补充。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737360"/>
            <a:ext cx="10362895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0" b="1" i="0">
                <a:solidFill>
                  <a:srgbClr val="2A2A2E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7180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600" b="1" i="0">
                <a:solidFill>
                  <a:srgbClr val="F5F5F7"/>
                </a:solidFill>
                <a:latin typeface="微软雅黑"/>
                <a:ea typeface="微软雅黑"/>
              </a:rPr>
              <a:t>它怎么
工作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892040"/>
            <a:ext cx="103628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>
                <a:solidFill>
                  <a:srgbClr val="A1A1A6"/>
                </a:solidFill>
                <a:latin typeface="微软雅黑"/>
                <a:ea typeface="微软雅黑"/>
              </a:rPr>
              <a:t>从听见，到记住，
再到出现在你眼前。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49808"/>
            <a:ext cx="103628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 spc="260">
                <a:solidFill>
                  <a:srgbClr val="6E6E73"/>
                </a:solidFill>
                <a:latin typeface="微软雅黑"/>
                <a:ea typeface="微软雅黑"/>
              </a:rPr>
              <a:t>产 品 功 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33856"/>
            <a:ext cx="1036289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F5F5F7"/>
                </a:solidFill>
                <a:latin typeface="微软雅黑"/>
                <a:ea typeface="微软雅黑"/>
              </a:rPr>
              <a:t>四件事，它都替你做了。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432304"/>
            <a:ext cx="2439847" cy="2743200"/>
          </a:xfrm>
          <a:prstGeom prst="roundRect">
            <a:avLst>
              <a:gd name="adj" fmla="val 10666"/>
            </a:avLst>
          </a:prstGeom>
          <a:solidFill>
            <a:srgbClr val="0C0C0E"/>
          </a:solidFill>
          <a:ln w="12700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52144" y="2670048"/>
            <a:ext cx="19643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spc="160">
                <a:solidFill>
                  <a:srgbClr val="0A84FF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" y="2944368"/>
            <a:ext cx="19643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 i="0">
                <a:solidFill>
                  <a:srgbClr val="F5F5F7"/>
                </a:solidFill>
                <a:latin typeface="微软雅黑"/>
                <a:ea typeface="微软雅黑"/>
              </a:rPr>
              <a:t>听得懂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" y="3322320"/>
            <a:ext cx="1964359" cy="1688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387" b="0" i="0">
                <a:solidFill>
                  <a:srgbClr val="A1A1A6"/>
                </a:solidFill>
                <a:latin typeface="微软雅黑"/>
                <a:ea typeface="微软雅黑"/>
              </a:rPr>
              <a:t>端侧双引擎识别。边说边出字，整句再精修、加标点，全程不联网。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55415" y="2432304"/>
            <a:ext cx="2439847" cy="2743200"/>
          </a:xfrm>
          <a:prstGeom prst="roundRect">
            <a:avLst>
              <a:gd name="adj" fmla="val 10666"/>
            </a:avLst>
          </a:prstGeom>
          <a:solidFill>
            <a:srgbClr val="0C0C0E"/>
          </a:solidFill>
          <a:ln w="12700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793159" y="2670048"/>
            <a:ext cx="19643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spc="160">
                <a:solidFill>
                  <a:srgbClr val="0A84FF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3159" y="2944368"/>
            <a:ext cx="19643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 i="0">
                <a:solidFill>
                  <a:srgbClr val="F5F5F7"/>
                </a:solidFill>
                <a:latin typeface="微软雅黑"/>
                <a:ea typeface="微软雅黑"/>
              </a:rPr>
              <a:t>认得出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3159" y="3322320"/>
            <a:ext cx="1964359" cy="1688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387" b="0" i="0">
                <a:solidFill>
                  <a:srgbClr val="A1A1A6"/>
                </a:solidFill>
                <a:latin typeface="微软雅黑"/>
                <a:ea typeface="微软雅黑"/>
              </a:rPr>
              <a:t>端侧声纹识别。自动区分你和身边的每个人，没见过的声音自动建档。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6431" y="2432304"/>
            <a:ext cx="2439847" cy="2743200"/>
          </a:xfrm>
          <a:prstGeom prst="roundRect">
            <a:avLst>
              <a:gd name="adj" fmla="val 10666"/>
            </a:avLst>
          </a:prstGeom>
          <a:solidFill>
            <a:srgbClr val="0C0C0E"/>
          </a:solidFill>
          <a:ln w="12700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34175" y="2670048"/>
            <a:ext cx="19643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spc="160">
                <a:solidFill>
                  <a:srgbClr val="0A84FF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4175" y="2944368"/>
            <a:ext cx="19643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 i="0">
                <a:solidFill>
                  <a:srgbClr val="F5F5F7"/>
                </a:solidFill>
                <a:latin typeface="微软雅黑"/>
                <a:ea typeface="微软雅黑"/>
              </a:rPr>
              <a:t>记得住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4175" y="3322320"/>
            <a:ext cx="1964359" cy="1688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387" b="0" i="0">
                <a:solidFill>
                  <a:srgbClr val="A1A1A6"/>
                </a:solidFill>
                <a:latin typeface="微软雅黑"/>
                <a:ea typeface="微软雅黑"/>
              </a:rPr>
              <a:t>大模型从对话与聊天截图提炼待办和事实，自动去重、完成、过期。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37447" y="2432304"/>
            <a:ext cx="2439847" cy="2743200"/>
          </a:xfrm>
          <a:prstGeom prst="roundRect">
            <a:avLst>
              <a:gd name="adj" fmla="val 10666"/>
            </a:avLst>
          </a:prstGeom>
          <a:solidFill>
            <a:srgbClr val="09192F"/>
          </a:solidFill>
          <a:ln w="12700">
            <a:solidFill>
              <a:srgbClr val="1B3E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075191" y="2670048"/>
            <a:ext cx="19643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spc="160">
                <a:solidFill>
                  <a:srgbClr val="64D2FF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75191" y="2944368"/>
            <a:ext cx="19643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 i="0">
                <a:solidFill>
                  <a:srgbClr val="F5F5F7"/>
                </a:solidFill>
                <a:latin typeface="微软雅黑"/>
                <a:ea typeface="微软雅黑"/>
              </a:rPr>
              <a:t>提醒得巧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5191" y="3322320"/>
            <a:ext cx="1964359" cy="1688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387" b="0" i="0">
                <a:solidFill>
                  <a:srgbClr val="A1A1A6"/>
                </a:solidFill>
                <a:latin typeface="微软雅黑"/>
                <a:ea typeface="微软雅黑"/>
              </a:rPr>
              <a:t>熟人隔 5 分钟再开口时，TA 的事项同时出现在手机、灵动岛和眼镜上。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291072"/>
            <a:ext cx="92656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6E6E73"/>
                </a:solidFill>
                <a:latin typeface="微软雅黑"/>
                <a:ea typeface="微软雅黑"/>
              </a:rPr>
              <a:t>全程无需主动操作——你只需要正常说话。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49808"/>
            <a:ext cx="103628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 spc="260">
                <a:solidFill>
                  <a:srgbClr val="6E6E73"/>
                </a:solidFill>
                <a:latin typeface="微软雅黑"/>
                <a:ea typeface="微软雅黑"/>
              </a:rPr>
              <a:t>产 品 演 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33856"/>
            <a:ext cx="103628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F5F5F7"/>
                </a:solidFill>
                <a:latin typeface="微软雅黑"/>
                <a:ea typeface="微软雅黑"/>
              </a:rPr>
              <a:t>一个真实的一周。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331720"/>
            <a:ext cx="10362895" cy="7315"/>
          </a:xfrm>
          <a:prstGeom prst="roundRect">
            <a:avLst>
              <a:gd name="adj" fmla="val 0"/>
            </a:avLst>
          </a:prstGeom>
          <a:solidFill>
            <a:srgbClr val="22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25146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4D2FF"/>
                </a:solidFill>
                <a:latin typeface="微软雅黑"/>
                <a:ea typeface="微软雅黑"/>
              </a:rPr>
              <a:t>周一 10:02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95728" y="2496312"/>
            <a:ext cx="8881567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 i="0">
                <a:solidFill>
                  <a:srgbClr val="F5F5F7"/>
                </a:solidFill>
                <a:latin typeface="微软雅黑"/>
                <a:ea typeface="微软雅黑"/>
              </a:rPr>
              <a:t>李四：“下周三下午三点来公司开会，记得带合同。”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6E6E73"/>
                </a:solidFill>
                <a:latin typeface="微软雅黑"/>
                <a:ea typeface="微软雅黑"/>
              </a:rPr>
              <a:t>→ 1 分钟内提炼为待办：下周三 15:00 · 会议室 A · 带合同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264408"/>
            <a:ext cx="10362895" cy="7315"/>
          </a:xfrm>
          <a:prstGeom prst="roundRect">
            <a:avLst>
              <a:gd name="adj" fmla="val 0"/>
            </a:avLst>
          </a:prstGeom>
          <a:solidFill>
            <a:srgbClr val="22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4400" y="344728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4D2FF"/>
                </a:solidFill>
                <a:latin typeface="微软雅黑"/>
                <a:ea typeface="微软雅黑"/>
              </a:rPr>
              <a:t>周一 10:03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95728" y="3429000"/>
            <a:ext cx="8881567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 i="0">
                <a:solidFill>
                  <a:srgbClr val="F5F5F7"/>
                </a:solidFill>
                <a:latin typeface="微软雅黑"/>
                <a:ea typeface="微软雅黑"/>
              </a:rPr>
              <a:t>李四：“我最近胃不太舒服，别约火锅了。”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6E6E73"/>
                </a:solidFill>
                <a:latin typeface="微软雅黑"/>
                <a:ea typeface="微软雅黑"/>
              </a:rPr>
              <a:t>→ 记为事实：最近胃不舒服，暂时不吃火锅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197096"/>
            <a:ext cx="10362895" cy="7315"/>
          </a:xfrm>
          <a:prstGeom prst="roundRect">
            <a:avLst>
              <a:gd name="adj" fmla="val 0"/>
            </a:avLst>
          </a:prstGeom>
          <a:solidFill>
            <a:srgbClr val="22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14400" y="4379976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4D2FF"/>
                </a:solidFill>
                <a:latin typeface="微软雅黑"/>
                <a:ea typeface="微软雅黑"/>
              </a:rPr>
              <a:t>周三 14:52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95728" y="4361688"/>
            <a:ext cx="8881567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 i="0">
                <a:solidFill>
                  <a:srgbClr val="F5F5F7"/>
                </a:solidFill>
                <a:latin typeface="微软雅黑"/>
                <a:ea typeface="微软雅黑"/>
              </a:rPr>
              <a:t>李四走进会议室，开口说了第一句话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6E6E73"/>
                </a:solidFill>
                <a:latin typeface="微软雅黑"/>
                <a:ea typeface="微软雅黑"/>
              </a:rPr>
              <a:t>→ 距上次开口 &gt; 5 分钟，眼镜浮现：李四 · 待办 2 · 事实 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5129783"/>
            <a:ext cx="10362895" cy="7315"/>
          </a:xfrm>
          <a:prstGeom prst="roundRect">
            <a:avLst>
              <a:gd name="adj" fmla="val 0"/>
            </a:avLst>
          </a:prstGeom>
          <a:solidFill>
            <a:srgbClr val="22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5312664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4D2FF"/>
                </a:solidFill>
                <a:latin typeface="微软雅黑"/>
                <a:ea typeface="微软雅黑"/>
              </a:rPr>
              <a:t>周三 15:40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95728" y="5294375"/>
            <a:ext cx="8881567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 i="0">
                <a:solidFill>
                  <a:srgbClr val="F5F5F7"/>
                </a:solidFill>
                <a:latin typeface="微软雅黑"/>
                <a:ea typeface="微软雅黑"/>
              </a:rPr>
              <a:t>你：“合同我带来了，咱们别点火锅，去旁边那家粤菜。”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6E6E73"/>
                </a:solidFill>
                <a:latin typeface="微软雅黑"/>
                <a:ea typeface="微软雅黑"/>
              </a:rPr>
              <a:t>→ 会后交给 AI，待办「带合同」自动勾掉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6062472"/>
            <a:ext cx="10362895" cy="7315"/>
          </a:xfrm>
          <a:prstGeom prst="roundRect">
            <a:avLst>
              <a:gd name="adj" fmla="val 0"/>
            </a:avLst>
          </a:prstGeom>
          <a:solidFill>
            <a:srgbClr val="22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49808"/>
            <a:ext cx="103628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 spc="260">
                <a:solidFill>
                  <a:srgbClr val="6E6E73"/>
                </a:solidFill>
                <a:latin typeface="微软雅黑"/>
                <a:ea typeface="微软雅黑"/>
              </a:rPr>
              <a:t>EVEN G2 · 佩 戴 者 视 角（示 意）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33856"/>
            <a:ext cx="1036289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</a:pPr>
            <a:r>
              <a:rPr sz="4200" b="1">
                <a:solidFill>
                  <a:srgbClr val="F5F5F7"/>
                </a:solidFill>
                <a:latin typeface="微软雅黑"/>
                <a:ea typeface="微软雅黑"/>
              </a:rPr>
              <a:t>抬眼</a:t>
            </a:r>
            <a:r>
              <a:rPr sz="4200" b="1">
                <a:solidFill>
                  <a:srgbClr val="0A84FF"/>
                </a:solidFill>
                <a:latin typeface="微软雅黑"/>
                <a:ea typeface="微软雅黑"/>
              </a:rPr>
              <a:t>即见</a:t>
            </a:r>
            <a:r>
              <a:rPr sz="4200" b="1">
                <a:solidFill>
                  <a:srgbClr val="F5F5F7"/>
                </a:solidFill>
                <a:latin typeface="微软雅黑"/>
                <a:ea typeface="微软雅黑"/>
              </a:rPr>
              <a:t>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83308"/>
            <a:ext cx="6309360" cy="2743200"/>
          </a:xfrm>
          <a:prstGeom prst="roundRect">
            <a:avLst>
              <a:gd name="adj" fmla="val 5797"/>
            </a:avLst>
          </a:prstGeom>
          <a:solidFill>
            <a:srgbClr val="050505"/>
          </a:solidFill>
          <a:ln w="19050">
            <a:solidFill>
              <a:srgbClr val="1E6B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225296" y="2394204"/>
            <a:ext cx="56875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 i="0">
                <a:solidFill>
                  <a:srgbClr val="8AFFC1"/>
                </a:solidFill>
                <a:latin typeface="Consolas"/>
                <a:ea typeface="微软雅黑"/>
              </a:rPr>
              <a:t>李四 · 待办 2 · 事实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6" y="2741675"/>
            <a:ext cx="56875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E8B5E"/>
                </a:solidFill>
                <a:latin typeface="Consolas"/>
                <a:ea typeface="微软雅黑"/>
              </a:rPr>
              <a:t>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25296" y="2942844"/>
            <a:ext cx="56875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>
                <a:solidFill>
                  <a:srgbClr val="8AFFC1"/>
                </a:solidFill>
                <a:latin typeface="Consolas"/>
                <a:ea typeface="微软雅黑"/>
              </a:rPr>
              <a:t>待办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25296" y="3217164"/>
            <a:ext cx="56875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8AFFC1"/>
                </a:solidFill>
                <a:latin typeface="Consolas"/>
                <a:ea typeface="微软雅黑"/>
              </a:rPr>
              <a:t>☐  下周三 15:00 来公司开会，带合同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25296" y="3528060"/>
            <a:ext cx="56875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8AFFC1"/>
                </a:solidFill>
                <a:latin typeface="Consolas"/>
                <a:ea typeface="微软雅黑"/>
              </a:rPr>
              <a:t>☐  把修订后的报价单发给他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25296" y="3893819"/>
            <a:ext cx="56875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>
                <a:solidFill>
                  <a:srgbClr val="8AFFC1"/>
                </a:solidFill>
                <a:latin typeface="Consolas"/>
                <a:ea typeface="微软雅黑"/>
              </a:rPr>
              <a:t>事实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25296" y="4168140"/>
            <a:ext cx="56875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8AFFC1"/>
                </a:solidFill>
                <a:latin typeface="Consolas"/>
                <a:ea typeface="微软雅黑"/>
              </a:rPr>
              <a:t>•  最近胃不太舒服，暂时不吃火锅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25296" y="4479036"/>
            <a:ext cx="56875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8AFFC1"/>
                </a:solidFill>
                <a:latin typeface="Consolas"/>
                <a:ea typeface="微软雅黑"/>
              </a:rPr>
              <a:t>•  女儿今年上小学，开学在即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5296" y="4515612"/>
            <a:ext cx="5687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EB086"/>
                </a:solidFill>
                <a:latin typeface="Consolas"/>
                <a:ea typeface="微软雅黑"/>
              </a:rPr>
              <a:t>…还有 1 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52360" y="2083308"/>
            <a:ext cx="3824935" cy="859536"/>
          </a:xfrm>
          <a:prstGeom prst="roundRect">
            <a:avLst>
              <a:gd name="adj" fmla="val 7650"/>
            </a:avLst>
          </a:prstGeom>
          <a:solidFill>
            <a:srgbClr val="0C0C0E"/>
          </a:solidFill>
          <a:ln w="12700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90104" y="2321052"/>
            <a:ext cx="334944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5F7"/>
                </a:solidFill>
                <a:latin typeface="微软雅黑"/>
                <a:ea typeface="微软雅黑"/>
              </a:rPr>
              <a:t>黑底发光文字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90104" y="2662428"/>
            <a:ext cx="3349447" cy="115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 i="0">
                <a:solidFill>
                  <a:srgbClr val="A1A1A6"/>
                </a:solidFill>
                <a:latin typeface="微软雅黑"/>
                <a:ea typeface="微软雅黑"/>
              </a:rPr>
              <a:t>手机用系统字体渲染成图片再推送，不依赖眼镜固件是否带中文字库。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0" y="3052572"/>
            <a:ext cx="3824935" cy="859536"/>
          </a:xfrm>
          <a:prstGeom prst="roundRect">
            <a:avLst>
              <a:gd name="adj" fmla="val 7650"/>
            </a:avLst>
          </a:prstGeom>
          <a:solidFill>
            <a:srgbClr val="0C0C0E"/>
          </a:solidFill>
          <a:ln w="12700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690104" y="3290316"/>
            <a:ext cx="334944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5F7"/>
                </a:solidFill>
                <a:latin typeface="微软雅黑"/>
                <a:ea typeface="微软雅黑"/>
              </a:rPr>
              <a:t>576 × 256 画布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90104" y="3631692"/>
            <a:ext cx="3349447" cy="1158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 i="0">
                <a:solidFill>
                  <a:srgbClr val="A1A1A6"/>
                </a:solidFill>
                <a:latin typeface="微软雅黑"/>
                <a:ea typeface="微软雅黑"/>
              </a:rPr>
              <a:t>4 bpp · 16 级灰度 · 2×2 瓦片分块推送。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52360" y="4021836"/>
            <a:ext cx="3824935" cy="859536"/>
          </a:xfrm>
          <a:prstGeom prst="roundRect">
            <a:avLst>
              <a:gd name="adj" fmla="val 7650"/>
            </a:avLst>
          </a:prstGeom>
          <a:solidFill>
            <a:srgbClr val="0C0C0E"/>
          </a:solidFill>
          <a:ln w="12700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690104" y="4259580"/>
            <a:ext cx="334944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5F7"/>
                </a:solidFill>
                <a:latin typeface="微软雅黑"/>
                <a:ea typeface="微软雅黑"/>
              </a:rPr>
              <a:t>60 秒后自动消失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0104" y="4600956"/>
            <a:ext cx="3349447" cy="115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 i="0">
                <a:solidFill>
                  <a:srgbClr val="A1A1A6"/>
                </a:solidFill>
                <a:latin typeface="微软雅黑"/>
                <a:ea typeface="微软雅黑"/>
              </a:rPr>
              <a:t>整屏推送约 5～10 秒，无需任何点击。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6291072"/>
            <a:ext cx="92656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6E6E73"/>
                </a:solidFill>
                <a:latin typeface="微软雅黑"/>
                <a:ea typeface="微软雅黑"/>
              </a:rPr>
              <a:t>镜片为单色波导显示（示意呈现为绿色），实际由 16 级灰度位图驱动。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49808"/>
            <a:ext cx="103628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 spc="260">
                <a:solidFill>
                  <a:srgbClr val="6E6E73"/>
                </a:solidFill>
                <a:latin typeface="微软雅黑"/>
                <a:ea typeface="微软雅黑"/>
              </a:rPr>
              <a:t>为 什 么 是 眼 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33856"/>
            <a:ext cx="1036289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</a:pPr>
            <a:r>
              <a:rPr sz="4200" b="1">
                <a:solidFill>
                  <a:srgbClr val="F5F5F7"/>
                </a:solidFill>
                <a:latin typeface="微软雅黑"/>
                <a:ea typeface="微软雅黑"/>
              </a:rPr>
              <a:t>提醒，应该长在</a:t>
            </a:r>
            <a:r>
              <a:rPr sz="4200" b="1">
                <a:solidFill>
                  <a:srgbClr val="0A84FF"/>
                </a:solidFill>
                <a:latin typeface="微软雅黑"/>
                <a:ea typeface="微软雅黑"/>
              </a:rPr>
              <a:t>视野边缘</a:t>
            </a:r>
            <a:r>
              <a:rPr sz="4200" b="1">
                <a:solidFill>
                  <a:srgbClr val="F5F5F7"/>
                </a:solidFill>
                <a:latin typeface="微软雅黑"/>
                <a:ea typeface="微软雅黑"/>
              </a:rPr>
              <a:t>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487168"/>
            <a:ext cx="3320186" cy="2286000"/>
          </a:xfrm>
          <a:prstGeom prst="roundRect">
            <a:avLst>
              <a:gd name="adj" fmla="val 8812"/>
            </a:avLst>
          </a:prstGeom>
          <a:solidFill>
            <a:srgbClr val="0C0C0E"/>
          </a:solidFill>
          <a:ln w="12700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52144" y="2724912"/>
            <a:ext cx="284469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spc="160">
                <a:solidFill>
                  <a:srgbClr val="0A84FF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" y="2999232"/>
            <a:ext cx="28446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025" b="1" i="0">
                <a:solidFill>
                  <a:srgbClr val="F5F5F7"/>
                </a:solidFill>
                <a:latin typeface="微软雅黑"/>
                <a:ea typeface="微软雅黑"/>
              </a:rPr>
              <a:t>不打断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" y="3401568"/>
            <a:ext cx="2844698" cy="1207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387" b="0" i="0">
                <a:solidFill>
                  <a:srgbClr val="A1A1A6"/>
                </a:solidFill>
                <a:latin typeface="微软雅黑"/>
                <a:ea typeface="微软雅黑"/>
              </a:rPr>
              <a:t>不用掏手机、不用低头。对话继续，提醒在视野边缘出现。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5754" y="2487168"/>
            <a:ext cx="3320186" cy="2286000"/>
          </a:xfrm>
          <a:prstGeom prst="roundRect">
            <a:avLst>
              <a:gd name="adj" fmla="val 8812"/>
            </a:avLst>
          </a:prstGeom>
          <a:solidFill>
            <a:srgbClr val="0C0C0E"/>
          </a:solidFill>
          <a:ln w="12700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673498" y="2724912"/>
            <a:ext cx="284469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spc="160">
                <a:solidFill>
                  <a:srgbClr val="0A84FF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73498" y="2999232"/>
            <a:ext cx="28446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025" b="1" i="0">
                <a:solidFill>
                  <a:srgbClr val="F5F5F7"/>
                </a:solidFill>
                <a:latin typeface="微软雅黑"/>
                <a:ea typeface="微软雅黑"/>
              </a:rPr>
              <a:t>只有你看见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3498" y="3401568"/>
            <a:ext cx="2844698" cy="1207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387" b="0" i="0">
                <a:solidFill>
                  <a:srgbClr val="A1A1A6"/>
                </a:solidFill>
                <a:latin typeface="微软雅黑"/>
                <a:ea typeface="微软雅黑"/>
              </a:rPr>
              <a:t>提醒私密地出现在你的镜片里，对方毫无察觉。这是手机屏幕做不到的。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7108" y="2487168"/>
            <a:ext cx="3320186" cy="2286000"/>
          </a:xfrm>
          <a:prstGeom prst="roundRect">
            <a:avLst>
              <a:gd name="adj" fmla="val 8812"/>
            </a:avLst>
          </a:prstGeom>
          <a:solidFill>
            <a:srgbClr val="0C0C0E"/>
          </a:solidFill>
          <a:ln w="12700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194852" y="2724912"/>
            <a:ext cx="284469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spc="160">
                <a:solidFill>
                  <a:srgbClr val="0A84FF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4852" y="2999232"/>
            <a:ext cx="28446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025" b="1" i="0">
                <a:solidFill>
                  <a:srgbClr val="F5F5F7"/>
                </a:solidFill>
                <a:latin typeface="微软雅黑"/>
                <a:ea typeface="微软雅黑"/>
              </a:rPr>
              <a:t>零操作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4852" y="3401568"/>
            <a:ext cx="2844698" cy="1207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387" b="0" i="0">
                <a:solidFill>
                  <a:srgbClr val="A1A1A6"/>
                </a:solidFill>
                <a:latin typeface="微软雅黑"/>
                <a:ea typeface="微软雅黑"/>
              </a:rPr>
              <a:t>认出熟人开口就推送，60 秒后自动消失。整屏推送约 5～10 秒，无需点击。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291072"/>
            <a:ext cx="92656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6E6E73"/>
                </a:solidFill>
                <a:latin typeface="微软雅黑"/>
                <a:ea typeface="微软雅黑"/>
              </a:rPr>
              <a:t>手机上的提醒照常显示，眼镜是叠加的一层——信息在你最需要的位置出现。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737360"/>
            <a:ext cx="10362895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0" b="1" i="0">
                <a:solidFill>
                  <a:srgbClr val="2A2A2E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7180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600" b="1" i="0">
                <a:solidFill>
                  <a:srgbClr val="F5F5F7"/>
                </a:solidFill>
                <a:latin typeface="微软雅黑"/>
                <a:ea typeface="微软雅黑"/>
              </a:rPr>
              <a:t>技术
亮点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892040"/>
            <a:ext cx="103628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>
                <a:solidFill>
                  <a:srgbClr val="A1A1A6"/>
                </a:solidFill>
                <a:latin typeface="微软雅黑"/>
                <a:ea typeface="微软雅黑"/>
              </a:rPr>
              <a:t>感知在端侧，提炼在云端，
记忆在本机。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49808"/>
            <a:ext cx="103628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 spc="260">
                <a:solidFill>
                  <a:srgbClr val="6E6E73"/>
                </a:solidFill>
                <a:latin typeface="微软雅黑"/>
                <a:ea typeface="微软雅黑"/>
              </a:rPr>
              <a:t>端 侧 模 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33856"/>
            <a:ext cx="1036289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</a:pPr>
            <a:r>
              <a:rPr sz="4200" b="1">
                <a:solidFill>
                  <a:srgbClr val="F5F5F7"/>
                </a:solidFill>
                <a:latin typeface="微软雅黑"/>
                <a:ea typeface="微软雅黑"/>
              </a:rPr>
              <a:t>七个模型，</a:t>
            </a:r>
            <a:r>
              <a:rPr sz="4200" b="1">
                <a:solidFill>
                  <a:srgbClr val="0A84FF"/>
                </a:solidFill>
                <a:latin typeface="微软雅黑"/>
                <a:ea typeface="微软雅黑"/>
              </a:rPr>
              <a:t>一个都不上云</a:t>
            </a:r>
            <a:r>
              <a:rPr sz="4200" b="1">
                <a:solidFill>
                  <a:srgbClr val="F5F5F7"/>
                </a:solidFill>
                <a:latin typeface="微软雅黑"/>
                <a:ea typeface="微软雅黑"/>
              </a:rPr>
              <a:t>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991868"/>
            <a:ext cx="6126480" cy="7315"/>
          </a:xfrm>
          <a:prstGeom prst="roundRect">
            <a:avLst>
              <a:gd name="adj" fmla="val 0"/>
            </a:avLst>
          </a:prstGeom>
          <a:solidFill>
            <a:srgbClr val="1B3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2101596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60">
                <a:solidFill>
                  <a:srgbClr val="6E6E73"/>
                </a:solidFill>
                <a:latin typeface="微软雅黑"/>
                <a:ea typeface="微软雅黑"/>
              </a:rPr>
              <a:t>任务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2101596"/>
            <a:ext cx="4709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60">
                <a:solidFill>
                  <a:srgbClr val="6E6E73"/>
                </a:solidFill>
                <a:latin typeface="微软雅黑"/>
                <a:ea typeface="微软雅黑"/>
              </a:rPr>
              <a:t>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2101596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60">
                <a:solidFill>
                  <a:srgbClr val="6E6E73"/>
                </a:solidFill>
                <a:latin typeface="微软雅黑"/>
                <a:ea typeface="微软雅黑"/>
              </a:rPr>
              <a:t>体积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759964"/>
            <a:ext cx="6126480" cy="5486"/>
          </a:xfrm>
          <a:prstGeom prst="roundRect">
            <a:avLst>
              <a:gd name="adj" fmla="val 0"/>
            </a:avLst>
          </a:prstGeom>
          <a:solidFill>
            <a:srgbClr val="22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14400" y="2394204"/>
            <a:ext cx="1417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5F7"/>
                </a:solidFill>
                <a:latin typeface="微软雅黑"/>
                <a:ea typeface="微软雅黑"/>
              </a:rPr>
              <a:t>语音活动检测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394204"/>
            <a:ext cx="3657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A1A1A6"/>
                </a:solidFill>
                <a:latin typeface="微软雅黑"/>
                <a:ea typeface="微软雅黑"/>
              </a:rPr>
              <a:t>Silero VAD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2394204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64D2FF"/>
                </a:solidFill>
                <a:latin typeface="Consolas"/>
                <a:ea typeface="微软雅黑"/>
              </a:rPr>
              <a:t>0.6 MB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162299"/>
            <a:ext cx="6126480" cy="5486"/>
          </a:xfrm>
          <a:prstGeom prst="roundRect">
            <a:avLst>
              <a:gd name="adj" fmla="val 0"/>
            </a:avLst>
          </a:prstGeom>
          <a:solidFill>
            <a:srgbClr val="22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400" y="2796540"/>
            <a:ext cx="1417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5F7"/>
                </a:solidFill>
                <a:latin typeface="微软雅黑"/>
                <a:ea typeface="微软雅黑"/>
              </a:rPr>
              <a:t>实时字幕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2796540"/>
            <a:ext cx="3657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A1A1A6"/>
                </a:solidFill>
                <a:latin typeface="微软雅黑"/>
                <a:ea typeface="微软雅黑"/>
              </a:rPr>
              <a:t>Zipformer 流式 Transducer（int8）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796540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64D2FF"/>
                </a:solidFill>
                <a:latin typeface="Consolas"/>
                <a:ea typeface="微软雅黑"/>
              </a:rPr>
              <a:t>167 MB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564635"/>
            <a:ext cx="6126480" cy="5486"/>
          </a:xfrm>
          <a:prstGeom prst="roundRect">
            <a:avLst>
              <a:gd name="adj" fmla="val 0"/>
            </a:avLst>
          </a:prstGeom>
          <a:solidFill>
            <a:srgbClr val="22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14400" y="3198875"/>
            <a:ext cx="1417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5F7"/>
                </a:solidFill>
                <a:latin typeface="微软雅黑"/>
                <a:ea typeface="微软雅黑"/>
              </a:rPr>
              <a:t>整句识别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3198875"/>
            <a:ext cx="3657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A1A1A6"/>
                </a:solidFill>
                <a:latin typeface="微软雅黑"/>
                <a:ea typeface="微软雅黑"/>
              </a:rPr>
              <a:t>Paraformer-zh（int8）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3198875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64D2FF"/>
                </a:solidFill>
                <a:latin typeface="Consolas"/>
                <a:ea typeface="微软雅黑"/>
              </a:rPr>
              <a:t>243 MB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3966972"/>
            <a:ext cx="6126480" cy="5486"/>
          </a:xfrm>
          <a:prstGeom prst="roundRect">
            <a:avLst>
              <a:gd name="adj" fmla="val 0"/>
            </a:avLst>
          </a:prstGeom>
          <a:solidFill>
            <a:srgbClr val="22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4400" y="3601212"/>
            <a:ext cx="1417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5F7"/>
                </a:solidFill>
                <a:latin typeface="微软雅黑"/>
                <a:ea typeface="微软雅黑"/>
              </a:rPr>
              <a:t>标点恢复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31720" y="3601212"/>
            <a:ext cx="3657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A1A1A6"/>
                </a:solidFill>
                <a:latin typeface="微软雅黑"/>
                <a:ea typeface="微软雅黑"/>
              </a:rPr>
              <a:t>CT-Transformer（int8）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3601212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64D2FF"/>
                </a:solidFill>
                <a:latin typeface="Consolas"/>
                <a:ea typeface="微软雅黑"/>
              </a:rPr>
              <a:t>75 MB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4369308"/>
            <a:ext cx="6126480" cy="5486"/>
          </a:xfrm>
          <a:prstGeom prst="roundRect">
            <a:avLst>
              <a:gd name="adj" fmla="val 0"/>
            </a:avLst>
          </a:prstGeom>
          <a:solidFill>
            <a:srgbClr val="22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14400" y="4003547"/>
            <a:ext cx="1417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5F7"/>
                </a:solidFill>
                <a:latin typeface="微软雅黑"/>
                <a:ea typeface="微软雅黑"/>
              </a:rPr>
              <a:t>声纹向量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31720" y="4003547"/>
            <a:ext cx="3657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A1A1A6"/>
                </a:solidFill>
                <a:latin typeface="微软雅黑"/>
                <a:ea typeface="微软雅黑"/>
              </a:rPr>
              <a:t>3D-Speaker ERes2NetV2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4003547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64D2FF"/>
                </a:solidFill>
                <a:latin typeface="Consolas"/>
                <a:ea typeface="微软雅黑"/>
              </a:rPr>
              <a:t>71 MB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4771644"/>
            <a:ext cx="6126480" cy="5486"/>
          </a:xfrm>
          <a:prstGeom prst="roundRect">
            <a:avLst>
              <a:gd name="adj" fmla="val 0"/>
            </a:avLst>
          </a:prstGeom>
          <a:solidFill>
            <a:srgbClr val="22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14400" y="4405884"/>
            <a:ext cx="1417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5F7"/>
                </a:solidFill>
                <a:latin typeface="微软雅黑"/>
                <a:ea typeface="微软雅黑"/>
              </a:rPr>
              <a:t>文字检测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20" y="4405884"/>
            <a:ext cx="3657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A1A1A6"/>
                </a:solidFill>
                <a:latin typeface="微软雅黑"/>
                <a:ea typeface="微软雅黑"/>
              </a:rPr>
              <a:t>PP-OCRv6 det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4405884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64D2FF"/>
                </a:solidFill>
                <a:latin typeface="Consolas"/>
                <a:ea typeface="微软雅黑"/>
              </a:rPr>
              <a:t>62 MB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5173980"/>
            <a:ext cx="6126480" cy="5486"/>
          </a:xfrm>
          <a:prstGeom prst="roundRect">
            <a:avLst>
              <a:gd name="adj" fmla="val 0"/>
            </a:avLst>
          </a:prstGeom>
          <a:solidFill>
            <a:srgbClr val="22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14400" y="4808220"/>
            <a:ext cx="1417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5F7"/>
                </a:solidFill>
                <a:latin typeface="微软雅黑"/>
                <a:ea typeface="微软雅黑"/>
              </a:rPr>
              <a:t>文字识别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31720" y="4808220"/>
            <a:ext cx="3657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A1A1A6"/>
                </a:solidFill>
                <a:latin typeface="微软雅黑"/>
                <a:ea typeface="微软雅黑"/>
              </a:rPr>
              <a:t>PP-OCRv6 rec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0" y="4808220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64D2FF"/>
                </a:solidFill>
                <a:latin typeface="Consolas"/>
                <a:ea typeface="微软雅黑"/>
              </a:rPr>
              <a:t>77 MB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60920" y="1991868"/>
            <a:ext cx="3916375" cy="1234440"/>
          </a:xfrm>
          <a:prstGeom prst="roundRect">
            <a:avLst>
              <a:gd name="adj" fmla="val 7471"/>
            </a:avLst>
          </a:prstGeom>
          <a:solidFill>
            <a:srgbClr val="09192F"/>
          </a:solidFill>
          <a:ln w="12700">
            <a:solidFill>
              <a:srgbClr val="1B3E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616952" y="2211323"/>
            <a:ext cx="3404311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50" b="1" i="0">
                <a:solidFill>
                  <a:srgbClr val="F5F5F7"/>
                </a:solidFill>
                <a:latin typeface="微软雅黑"/>
                <a:ea typeface="微软雅黑"/>
              </a:rPr>
              <a:t>7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1A1A6"/>
                </a:solidFill>
                <a:latin typeface="微软雅黑"/>
                <a:ea typeface="微软雅黑"/>
              </a:rPr>
              <a:t>个端侧模型 · 全部 CPU 推理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60920" y="3363468"/>
            <a:ext cx="3916375" cy="932688"/>
          </a:xfrm>
          <a:prstGeom prst="roundRect">
            <a:avLst>
              <a:gd name="adj" fmla="val 7471"/>
            </a:avLst>
          </a:prstGeom>
          <a:solidFill>
            <a:srgbClr val="0C0C0E"/>
          </a:solidFill>
          <a:ln w="12700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616952" y="3509771"/>
            <a:ext cx="340431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5F5F7"/>
                </a:solidFill>
                <a:latin typeface="微软雅黑"/>
                <a:ea typeface="微软雅黑"/>
              </a:rPr>
              <a:t>697 MB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1A1A6"/>
                </a:solidFill>
                <a:latin typeface="微软雅黑"/>
                <a:ea typeface="微软雅黑"/>
              </a:rPr>
              <a:t>模型总量 · 预置系统目录，不打包进 APK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60920" y="4424172"/>
            <a:ext cx="3916375" cy="932688"/>
          </a:xfrm>
          <a:prstGeom prst="roundRect">
            <a:avLst>
              <a:gd name="adj" fmla="val 7471"/>
            </a:avLst>
          </a:prstGeom>
          <a:solidFill>
            <a:srgbClr val="0C0C0E"/>
          </a:solidFill>
          <a:ln w="12700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616952" y="4570476"/>
            <a:ext cx="340431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5F5F7"/>
                </a:solidFill>
                <a:latin typeface="微软雅黑"/>
                <a:ea typeface="微软雅黑"/>
              </a:rPr>
              <a:t>100 %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1A1A6"/>
                </a:solidFill>
                <a:latin typeface="微软雅黑"/>
                <a:ea typeface="微软雅黑"/>
              </a:rPr>
              <a:t>音频与图像不出手机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6291072"/>
            <a:ext cx="92656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6E6E73"/>
                </a:solidFill>
                <a:latin typeface="微软雅黑"/>
                <a:ea typeface="微软雅黑"/>
              </a:rPr>
              <a:t>运行时：sherpa-onnx 1.13.8 承载语音模型；OCR 经 JNI 直调 onnxruntime C API。模型目录 /system/etc/whisper/models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49808"/>
            <a:ext cx="103628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 spc="260">
                <a:solidFill>
                  <a:srgbClr val="6E6E73"/>
                </a:solidFill>
                <a:latin typeface="微软雅黑"/>
                <a:ea typeface="微软雅黑"/>
              </a:rPr>
              <a:t>语 音 识 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33856"/>
            <a:ext cx="1036289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</a:pPr>
            <a:r>
              <a:rPr sz="4200" b="1">
                <a:solidFill>
                  <a:srgbClr val="F5F5F7"/>
                </a:solidFill>
                <a:latin typeface="微软雅黑"/>
                <a:ea typeface="微软雅黑"/>
              </a:rPr>
              <a:t>两套引擎，</a:t>
            </a:r>
            <a:r>
              <a:rPr sz="4200" b="1">
                <a:solidFill>
                  <a:srgbClr val="0A84FF"/>
                </a:solidFill>
                <a:latin typeface="微软雅黑"/>
                <a:ea typeface="微软雅黑"/>
              </a:rPr>
              <a:t>一个目的</a:t>
            </a:r>
            <a:r>
              <a:rPr sz="4200" b="1">
                <a:solidFill>
                  <a:srgbClr val="F5F5F7"/>
                </a:solidFill>
                <a:latin typeface="微软雅黑"/>
                <a:ea typeface="微软雅黑"/>
              </a:rPr>
              <a:t>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09572"/>
            <a:ext cx="103628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A1A1A6"/>
                </a:solidFill>
                <a:latin typeface="微软雅黑"/>
                <a:ea typeface="微软雅黑"/>
              </a:rPr>
              <a:t>边说边出字，整句再精修。全部在手机上完成。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606040"/>
            <a:ext cx="1911644" cy="1691640"/>
          </a:xfrm>
          <a:prstGeom prst="roundRect">
            <a:avLst>
              <a:gd name="adj" fmla="val 15306"/>
            </a:avLst>
          </a:prstGeom>
          <a:solidFill>
            <a:srgbClr val="0C0C0E"/>
          </a:solidFill>
          <a:ln w="12700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115568" y="2770632"/>
            <a:ext cx="15093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37" b="1" i="0" spc="140">
                <a:solidFill>
                  <a:srgbClr val="64D2FF"/>
                </a:solidFill>
                <a:latin typeface="微软雅黑"/>
                <a:ea typeface="微软雅黑"/>
              </a:rPr>
              <a:t>01 · 采集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2999232"/>
            <a:ext cx="15093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5F7"/>
                </a:solidFill>
                <a:latin typeface="微软雅黑"/>
                <a:ea typeface="微软雅黑"/>
              </a:rPr>
              <a:t>麦克风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3364992"/>
            <a:ext cx="150930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1A1A6"/>
                </a:solidFill>
                <a:latin typeface="微软雅黑"/>
                <a:ea typeface="微软雅黑"/>
              </a:rPr>
              <a:t>16 kHz 单声道
每 100 ms 一帧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27212" y="2606040"/>
            <a:ext cx="1911644" cy="1691640"/>
          </a:xfrm>
          <a:prstGeom prst="roundRect">
            <a:avLst>
              <a:gd name="adj" fmla="val 15306"/>
            </a:avLst>
          </a:prstGeom>
          <a:solidFill>
            <a:srgbClr val="0C0C0E"/>
          </a:solidFill>
          <a:ln w="12700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228380" y="2770632"/>
            <a:ext cx="15093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37" b="1" i="0" spc="140">
                <a:solidFill>
                  <a:srgbClr val="64D2FF"/>
                </a:solidFill>
                <a:latin typeface="微软雅黑"/>
                <a:ea typeface="微软雅黑"/>
              </a:rPr>
              <a:t>02 · 断句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28380" y="2999232"/>
            <a:ext cx="15093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5F7"/>
                </a:solidFill>
                <a:latin typeface="微软雅黑"/>
                <a:ea typeface="微软雅黑"/>
              </a:rPr>
              <a:t>Silero VAD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28380" y="3364992"/>
            <a:ext cx="150930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1A1A6"/>
                </a:solidFill>
                <a:latin typeface="微软雅黑"/>
                <a:ea typeface="微软雅黑"/>
              </a:rPr>
              <a:t>静音 0.5 s 断句
0.25 ～ 20 s 一句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40025" y="2606040"/>
            <a:ext cx="1911644" cy="1691640"/>
          </a:xfrm>
          <a:prstGeom prst="roundRect">
            <a:avLst>
              <a:gd name="adj" fmla="val 15306"/>
            </a:avLst>
          </a:prstGeom>
          <a:solidFill>
            <a:srgbClr val="0C0C0E"/>
          </a:solidFill>
          <a:ln w="12700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341193" y="2770632"/>
            <a:ext cx="15093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37" b="1" i="0" spc="140">
                <a:solidFill>
                  <a:srgbClr val="64D2FF"/>
                </a:solidFill>
                <a:latin typeface="微软雅黑"/>
                <a:ea typeface="微软雅黑"/>
              </a:rPr>
              <a:t>03 · 实时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1193" y="2999232"/>
            <a:ext cx="15093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5F7"/>
                </a:solidFill>
                <a:latin typeface="微软雅黑"/>
                <a:ea typeface="微软雅黑"/>
              </a:rPr>
              <a:t>流式 Zipformer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1193" y="3364992"/>
            <a:ext cx="150930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1A1A6"/>
                </a:solidFill>
                <a:latin typeface="微软雅黑"/>
                <a:ea typeface="微软雅黑"/>
              </a:rPr>
              <a:t>边说边出字幕
噪声 2 s 自动清除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52837" y="2606040"/>
            <a:ext cx="1911644" cy="1691640"/>
          </a:xfrm>
          <a:prstGeom prst="roundRect">
            <a:avLst>
              <a:gd name="adj" fmla="val 15306"/>
            </a:avLst>
          </a:prstGeom>
          <a:solidFill>
            <a:srgbClr val="0C0C0E"/>
          </a:solidFill>
          <a:ln w="12700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454005" y="2770632"/>
            <a:ext cx="15093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37" b="1" i="0" spc="140">
                <a:solidFill>
                  <a:srgbClr val="64D2FF"/>
                </a:solidFill>
                <a:latin typeface="微软雅黑"/>
                <a:ea typeface="微软雅黑"/>
              </a:rPr>
              <a:t>04 · 定稿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4005" y="2999232"/>
            <a:ext cx="15093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5F7"/>
                </a:solidFill>
                <a:latin typeface="微软雅黑"/>
                <a:ea typeface="微软雅黑"/>
              </a:rPr>
              <a:t>Paraformer-zh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4005" y="3364992"/>
            <a:ext cx="150930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1A1A6"/>
                </a:solidFill>
                <a:latin typeface="微软雅黑"/>
                <a:ea typeface="微软雅黑"/>
              </a:rPr>
              <a:t>整句最终识别
int8 · CPU 2 线程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65650" y="2606040"/>
            <a:ext cx="1911644" cy="1691640"/>
          </a:xfrm>
          <a:prstGeom prst="roundRect">
            <a:avLst>
              <a:gd name="adj" fmla="val 15306"/>
            </a:avLst>
          </a:prstGeom>
          <a:solidFill>
            <a:srgbClr val="0C0C0E"/>
          </a:solidFill>
          <a:ln w="12700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566818" y="2770632"/>
            <a:ext cx="15093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37" b="1" i="0" spc="140">
                <a:solidFill>
                  <a:srgbClr val="64D2FF"/>
                </a:solidFill>
                <a:latin typeface="微软雅黑"/>
                <a:ea typeface="微软雅黑"/>
              </a:rPr>
              <a:t>05 · 润色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66818" y="2999232"/>
            <a:ext cx="15093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5F7"/>
                </a:solidFill>
                <a:latin typeface="微软雅黑"/>
                <a:ea typeface="微软雅黑"/>
              </a:rPr>
              <a:t>CT-Transformer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66818" y="3364992"/>
            <a:ext cx="150930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1A1A6"/>
                </a:solidFill>
                <a:latin typeface="微软雅黑"/>
                <a:ea typeface="微软雅黑"/>
              </a:rPr>
              <a:t>标点恢复
空句直接丢弃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4617720"/>
            <a:ext cx="3320186" cy="841248"/>
          </a:xfrm>
          <a:prstGeom prst="roundRect">
            <a:avLst>
              <a:gd name="adj" fmla="val 8812"/>
            </a:avLst>
          </a:prstGeom>
          <a:solidFill>
            <a:srgbClr val="0C0C0E"/>
          </a:solidFill>
          <a:ln w="12700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152144" y="4855464"/>
            <a:ext cx="284469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spc="160">
                <a:solidFill>
                  <a:srgbClr val="0A84FF"/>
                </a:solidFill>
                <a:latin typeface="微软雅黑"/>
                <a:ea typeface="微软雅黑"/>
              </a:rPr>
              <a:t>100%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2144" y="5202936"/>
            <a:ext cx="2844698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A1A1A6"/>
                </a:solidFill>
                <a:latin typeface="微软雅黑"/>
                <a:ea typeface="微软雅黑"/>
              </a:rPr>
              <a:t>端侧推理，音频不出手机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35754" y="4617720"/>
            <a:ext cx="3320186" cy="841248"/>
          </a:xfrm>
          <a:prstGeom prst="roundRect">
            <a:avLst>
              <a:gd name="adj" fmla="val 8812"/>
            </a:avLst>
          </a:prstGeom>
          <a:solidFill>
            <a:srgbClr val="0C0C0E"/>
          </a:solidFill>
          <a:ln w="12700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673498" y="4855464"/>
            <a:ext cx="284469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spc="160">
                <a:solidFill>
                  <a:srgbClr val="0A84FF"/>
                </a:solidFill>
                <a:latin typeface="微软雅黑"/>
                <a:ea typeface="微软雅黑"/>
              </a:rPr>
              <a:t>INT8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73498" y="5202936"/>
            <a:ext cx="2844698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A1A1A6"/>
                </a:solidFill>
                <a:latin typeface="微软雅黑"/>
                <a:ea typeface="微软雅黑"/>
              </a:rPr>
              <a:t>量化模型，CPU 即可流畅运行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57108" y="4617720"/>
            <a:ext cx="3320186" cy="841248"/>
          </a:xfrm>
          <a:prstGeom prst="roundRect">
            <a:avLst>
              <a:gd name="adj" fmla="val 8812"/>
            </a:avLst>
          </a:prstGeom>
          <a:solidFill>
            <a:srgbClr val="0C0C0E"/>
          </a:solidFill>
          <a:ln w="12700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194852" y="4855464"/>
            <a:ext cx="284469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spc="160">
                <a:solidFill>
                  <a:srgbClr val="0A84FF"/>
                </a:solidFill>
                <a:latin typeface="微软雅黑"/>
                <a:ea typeface="微软雅黑"/>
              </a:rPr>
              <a:t>30 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94852" y="5202936"/>
            <a:ext cx="2844698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A1A1A6"/>
                </a:solidFill>
                <a:latin typeface="微软雅黑"/>
                <a:ea typeface="微软雅黑"/>
              </a:rPr>
              <a:t>转写自动清理，不长期留存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49808"/>
            <a:ext cx="103628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 spc="260">
                <a:solidFill>
                  <a:srgbClr val="6E6E73"/>
                </a:solidFill>
                <a:latin typeface="微软雅黑"/>
                <a:ea typeface="微软雅黑"/>
              </a:rPr>
              <a:t>说 话 人 识 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33856"/>
            <a:ext cx="1036289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</a:pPr>
            <a:r>
              <a:rPr sz="4200" b="1">
                <a:solidFill>
                  <a:srgbClr val="F5F5F7"/>
                </a:solidFill>
                <a:latin typeface="微软雅黑"/>
                <a:ea typeface="微软雅黑"/>
              </a:rPr>
              <a:t>它认得出</a:t>
            </a:r>
            <a:r>
              <a:rPr sz="4200" b="1">
                <a:solidFill>
                  <a:srgbClr val="0A84FF"/>
                </a:solidFill>
                <a:latin typeface="微软雅黑"/>
                <a:ea typeface="微软雅黑"/>
              </a:rPr>
              <a:t>是谁在说话</a:t>
            </a:r>
            <a:r>
              <a:rPr sz="4200" b="1">
                <a:solidFill>
                  <a:srgbClr val="F5F5F7"/>
                </a:solidFill>
                <a:latin typeface="微软雅黑"/>
                <a:ea typeface="微软雅黑"/>
              </a:rPr>
              <a:t>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09572"/>
            <a:ext cx="103628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A1A1A6"/>
                </a:solidFill>
                <a:latin typeface="微软雅黑"/>
                <a:ea typeface="微软雅黑"/>
              </a:rPr>
              <a:t>端侧声纹识别，一次录入，越用越准。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606040"/>
            <a:ext cx="1911644" cy="1691640"/>
          </a:xfrm>
          <a:prstGeom prst="roundRect">
            <a:avLst>
              <a:gd name="adj" fmla="val 15306"/>
            </a:avLst>
          </a:prstGeom>
          <a:solidFill>
            <a:srgbClr val="0C0C0E"/>
          </a:solidFill>
          <a:ln w="12700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115568" y="2770632"/>
            <a:ext cx="15093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37" b="1" i="0" spc="140">
                <a:solidFill>
                  <a:srgbClr val="64D2FF"/>
                </a:solidFill>
                <a:latin typeface="微软雅黑"/>
                <a:ea typeface="微软雅黑"/>
              </a:rPr>
              <a:t>01 · 录入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2999232"/>
            <a:ext cx="15093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5F7"/>
                </a:solidFill>
                <a:latin typeface="微软雅黑"/>
                <a:ea typeface="微软雅黑"/>
              </a:rPr>
              <a:t>跟读一段短文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3364992"/>
            <a:ext cx="150930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1A1A6"/>
                </a:solidFill>
                <a:latin typeface="微软雅黑"/>
                <a:ea typeface="微软雅黑"/>
              </a:rPr>
              <a:t>实时高亮，容忍错字与同音字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27212" y="2606040"/>
            <a:ext cx="1911644" cy="1691640"/>
          </a:xfrm>
          <a:prstGeom prst="roundRect">
            <a:avLst>
              <a:gd name="adj" fmla="val 15306"/>
            </a:avLst>
          </a:prstGeom>
          <a:solidFill>
            <a:srgbClr val="0C0C0E"/>
          </a:solidFill>
          <a:ln w="12700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228380" y="2770632"/>
            <a:ext cx="15093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37" b="1" i="0" spc="140">
                <a:solidFill>
                  <a:srgbClr val="64D2FF"/>
                </a:solidFill>
                <a:latin typeface="微软雅黑"/>
                <a:ea typeface="微软雅黑"/>
              </a:rPr>
              <a:t>02 · 提取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28380" y="2999232"/>
            <a:ext cx="15093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5F7"/>
                </a:solidFill>
                <a:latin typeface="微软雅黑"/>
                <a:ea typeface="微软雅黑"/>
              </a:rPr>
              <a:t>ERes2NetV2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28380" y="3364992"/>
            <a:ext cx="150930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1A1A6"/>
                </a:solidFill>
                <a:latin typeface="微软雅黑"/>
                <a:ea typeface="微软雅黑"/>
              </a:rPr>
              <a:t>≥ 1.5 s 的句子才提取
向量归一化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40025" y="2606040"/>
            <a:ext cx="1911644" cy="1691640"/>
          </a:xfrm>
          <a:prstGeom prst="roundRect">
            <a:avLst>
              <a:gd name="adj" fmla="val 15306"/>
            </a:avLst>
          </a:prstGeom>
          <a:solidFill>
            <a:srgbClr val="0C0C0E"/>
          </a:solidFill>
          <a:ln w="12700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341193" y="2770632"/>
            <a:ext cx="15093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37" b="1" i="0" spc="140">
                <a:solidFill>
                  <a:srgbClr val="64D2FF"/>
                </a:solidFill>
                <a:latin typeface="微软雅黑"/>
                <a:ea typeface="微软雅黑"/>
              </a:rPr>
              <a:t>03 · 比对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1193" y="2999232"/>
            <a:ext cx="15093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5F7"/>
                </a:solidFill>
                <a:latin typeface="微软雅黑"/>
                <a:ea typeface="微软雅黑"/>
              </a:rPr>
              <a:t>余弦相似度检索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1193" y="3364992"/>
            <a:ext cx="150930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1A1A6"/>
                </a:solidFill>
                <a:latin typeface="微软雅黑"/>
                <a:ea typeface="微软雅黑"/>
              </a:rPr>
              <a:t>阈值默认 0.50，可 0.3–0.8 调节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52837" y="2606040"/>
            <a:ext cx="1911644" cy="1691640"/>
          </a:xfrm>
          <a:prstGeom prst="roundRect">
            <a:avLst>
              <a:gd name="adj" fmla="val 15306"/>
            </a:avLst>
          </a:prstGeom>
          <a:solidFill>
            <a:srgbClr val="0C0C0E"/>
          </a:solidFill>
          <a:ln w="12700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454005" y="2770632"/>
            <a:ext cx="15093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37" b="1" i="0" spc="140">
                <a:solidFill>
                  <a:srgbClr val="64D2FF"/>
                </a:solidFill>
                <a:latin typeface="微软雅黑"/>
                <a:ea typeface="微软雅黑"/>
              </a:rPr>
              <a:t>04 · 建档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4005" y="2999232"/>
            <a:ext cx="15093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5F7"/>
                </a:solidFill>
                <a:latin typeface="微软雅黑"/>
                <a:ea typeface="微软雅黑"/>
              </a:rPr>
              <a:t>陌生人 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4005" y="3364992"/>
            <a:ext cx="150930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1A1A6"/>
                </a:solidFill>
                <a:latin typeface="微软雅黑"/>
                <a:ea typeface="微软雅黑"/>
              </a:rPr>
              <a:t>自动建档并保留 15 s 声音
可命名 / 关联 / 合并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65650" y="2606040"/>
            <a:ext cx="1911644" cy="1691640"/>
          </a:xfrm>
          <a:prstGeom prst="roundRect">
            <a:avLst>
              <a:gd name="adj" fmla="val 15306"/>
            </a:avLst>
          </a:prstGeom>
          <a:solidFill>
            <a:srgbClr val="0C0C0E"/>
          </a:solidFill>
          <a:ln w="12700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566818" y="2770632"/>
            <a:ext cx="15093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37" b="1" i="0" spc="140">
                <a:solidFill>
                  <a:srgbClr val="64D2FF"/>
                </a:solidFill>
                <a:latin typeface="微软雅黑"/>
                <a:ea typeface="微软雅黑"/>
              </a:rPr>
              <a:t>05 · 自适应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66818" y="2999232"/>
            <a:ext cx="15093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5F7"/>
                </a:solidFill>
                <a:latin typeface="微软雅黑"/>
                <a:ea typeface="微软雅黑"/>
              </a:rPr>
              <a:t>滚动更新声纹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66818" y="3364992"/>
            <a:ext cx="150930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1A1A6"/>
                </a:solidFill>
                <a:latin typeface="微软雅黑"/>
                <a:ea typeface="微软雅黑"/>
              </a:rPr>
              <a:t>≥ 3 s 且高置信度
每人最多 6 条额外声纹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291072"/>
            <a:ext cx="92656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6E6E73"/>
                </a:solidFill>
                <a:latin typeface="微软雅黑"/>
                <a:ea typeface="微软雅黑"/>
              </a:rPr>
              <a:t>关联到已有的人后，原声纹作为额外声纹保留——同一个人压低声音、感冒时也能认出来。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49808"/>
            <a:ext cx="103628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 spc="260">
                <a:solidFill>
                  <a:srgbClr val="6E6E73"/>
                </a:solidFill>
                <a:latin typeface="微软雅黑"/>
                <a:ea typeface="微软雅黑"/>
              </a:rPr>
              <a:t>记 忆 提 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33856"/>
            <a:ext cx="1036289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</a:pPr>
            <a:r>
              <a:rPr sz="4200" b="1">
                <a:solidFill>
                  <a:srgbClr val="F5F5F7"/>
                </a:solidFill>
                <a:latin typeface="微软雅黑"/>
                <a:ea typeface="微软雅黑"/>
              </a:rPr>
              <a:t>把对话，变成</a:t>
            </a:r>
            <a:r>
              <a:rPr sz="4200" b="1">
                <a:solidFill>
                  <a:srgbClr val="0A84FF"/>
                </a:solidFill>
                <a:latin typeface="微软雅黑"/>
                <a:ea typeface="微软雅黑"/>
              </a:rPr>
              <a:t>结构化的记忆</a:t>
            </a:r>
            <a:r>
              <a:rPr sz="4200" b="1">
                <a:solidFill>
                  <a:srgbClr val="F5F5F7"/>
                </a:solidFill>
                <a:latin typeface="微软雅黑"/>
                <a:ea typeface="微软雅黑"/>
              </a:rPr>
              <a:t>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37587"/>
            <a:ext cx="5062575" cy="1481328"/>
          </a:xfrm>
          <a:prstGeom prst="roundRect">
            <a:avLst>
              <a:gd name="adj" fmla="val 5779"/>
            </a:avLst>
          </a:prstGeom>
          <a:solidFill>
            <a:srgbClr val="0C0C0E"/>
          </a:solidFill>
          <a:ln w="12700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70432" y="2220468"/>
            <a:ext cx="45505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spc="160">
                <a:solidFill>
                  <a:srgbClr val="0A84FF"/>
                </a:solidFill>
                <a:latin typeface="微软雅黑"/>
                <a:ea typeface="微软雅黑"/>
              </a:rPr>
              <a:t>输出一 · 待办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2494788"/>
            <a:ext cx="45505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F5F5F7"/>
                </a:solidFill>
                <a:latin typeface="微软雅黑"/>
                <a:ea typeface="微软雅黑"/>
              </a:rPr>
              <a:t>要做的事、双方的约定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2897123"/>
            <a:ext cx="45505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A1A1A6"/>
                </a:solidFill>
                <a:latin typeface="Consolas"/>
                <a:ea typeface="微软雅黑"/>
              </a:rPr>
              <a:t>time 时间 · location 地点 · people 人物 · event 事情，≤ 40 字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E6E73"/>
                </a:solidFill>
                <a:latin typeface="微软雅黑"/>
                <a:ea typeface="微软雅黑"/>
              </a:rPr>
              <a:t>类型：待办 / 约定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4719" y="2037587"/>
            <a:ext cx="5062575" cy="1481328"/>
          </a:xfrm>
          <a:prstGeom prst="roundRect">
            <a:avLst>
              <a:gd name="adj" fmla="val 5779"/>
            </a:avLst>
          </a:prstGeom>
          <a:solidFill>
            <a:srgbClr val="0C0C0E"/>
          </a:solidFill>
          <a:ln w="12700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70751" y="2220468"/>
            <a:ext cx="45505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spc="160">
                <a:solidFill>
                  <a:srgbClr val="0A84FF"/>
                </a:solidFill>
                <a:latin typeface="微软雅黑"/>
                <a:ea typeface="微软雅黑"/>
              </a:rPr>
              <a:t>输出二 · 事实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0751" y="2494788"/>
            <a:ext cx="45505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F5F5F7"/>
                </a:solidFill>
                <a:latin typeface="微软雅黑"/>
                <a:ea typeface="微软雅黑"/>
              </a:rPr>
              <a:t>关于这位熟人的事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0751" y="2897123"/>
            <a:ext cx="45505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A1A1A6"/>
                </a:solidFill>
                <a:latin typeface="Consolas"/>
                <a:ea typeface="微软雅黑"/>
              </a:rPr>
              <a:t>content 一句能单独看懂的话，≤ 40 字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E6E73"/>
                </a:solidFill>
                <a:latin typeface="微软雅黑"/>
                <a:ea typeface="微软雅黑"/>
              </a:rPr>
              <a:t>类型：近况 / 偏好 / 信息；不再成立 → 自动过期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701796"/>
            <a:ext cx="3320186" cy="914400"/>
          </a:xfrm>
          <a:prstGeom prst="roundRect">
            <a:avLst>
              <a:gd name="adj" fmla="val 8812"/>
            </a:avLst>
          </a:prstGeom>
          <a:solidFill>
            <a:srgbClr val="0C0C0E"/>
          </a:solidFill>
          <a:ln w="12700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152144" y="3939540"/>
            <a:ext cx="284469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spc="160">
                <a:solidFill>
                  <a:srgbClr val="0A84FF"/>
                </a:solidFill>
                <a:latin typeface="微软雅黑"/>
                <a:ea typeface="微软雅黑"/>
              </a:rPr>
              <a:t>闭环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" y="4287012"/>
            <a:ext cx="284469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A1A1A6"/>
                </a:solidFill>
                <a:latin typeface="微软雅黑"/>
                <a:ea typeface="微软雅黑"/>
              </a:rPr>
              <a:t>已完成的待办、失效的事实，由模型返回 id 自动关闭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5754" y="3701796"/>
            <a:ext cx="3320186" cy="914400"/>
          </a:xfrm>
          <a:prstGeom prst="roundRect">
            <a:avLst>
              <a:gd name="adj" fmla="val 8812"/>
            </a:avLst>
          </a:prstGeom>
          <a:solidFill>
            <a:srgbClr val="0C0C0E"/>
          </a:solidFill>
          <a:ln w="12700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73498" y="3939540"/>
            <a:ext cx="284469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spc="160">
                <a:solidFill>
                  <a:srgbClr val="0A84FF"/>
                </a:solidFill>
                <a:latin typeface="微软雅黑"/>
                <a:ea typeface="微软雅黑"/>
              </a:rPr>
              <a:t>去重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3498" y="4287012"/>
            <a:ext cx="284469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A1A1A6"/>
                </a:solidFill>
                <a:latin typeface="微软雅黑"/>
                <a:ea typeface="微软雅黑"/>
              </a:rPr>
              <a:t>已有条目作为上下文送入，避免重复记录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7108" y="3701796"/>
            <a:ext cx="3320186" cy="914400"/>
          </a:xfrm>
          <a:prstGeom prst="roundRect">
            <a:avLst>
              <a:gd name="adj" fmla="val 8812"/>
            </a:avLst>
          </a:prstGeom>
          <a:solidFill>
            <a:srgbClr val="0C0C0E"/>
          </a:solidFill>
          <a:ln w="12700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194852" y="3939540"/>
            <a:ext cx="284469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spc="160">
                <a:solidFill>
                  <a:srgbClr val="0A84FF"/>
                </a:solidFill>
                <a:latin typeface="微软雅黑"/>
                <a:ea typeface="微软雅黑"/>
              </a:rPr>
              <a:t>克制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4852" y="4287012"/>
            <a:ext cx="284469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A1A1A6"/>
                </a:solidFill>
                <a:latin typeface="微软雅黑"/>
                <a:ea typeface="微软雅黑"/>
              </a:rPr>
              <a:t>只记有后续价值的内容，寒暄不记、不硬凑待办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291072"/>
            <a:ext cx="92656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6E6E73"/>
                </a:solidFill>
                <a:latin typeface="微软雅黑"/>
                <a:ea typeface="微软雅黑"/>
              </a:rPr>
              <a:t>每 1 分钟自动把未识别聊天块按说话人分组投递；队列落库，断网不丢。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49808"/>
            <a:ext cx="103628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 spc="260">
                <a:solidFill>
                  <a:srgbClr val="6E6E73"/>
                </a:solidFill>
                <a:latin typeface="微软雅黑"/>
                <a:ea typeface="微软雅黑"/>
              </a:rPr>
              <a:t>聊 天 截 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33856"/>
            <a:ext cx="1036289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</a:pPr>
            <a:r>
              <a:rPr sz="4200" b="1">
                <a:solidFill>
                  <a:srgbClr val="F5F5F7"/>
                </a:solidFill>
                <a:latin typeface="微软雅黑"/>
                <a:ea typeface="微软雅黑"/>
              </a:rPr>
              <a:t>聊天截图，</a:t>
            </a:r>
            <a:r>
              <a:rPr sz="4200" b="1">
                <a:solidFill>
                  <a:srgbClr val="0A84FF"/>
                </a:solidFill>
                <a:latin typeface="微软雅黑"/>
                <a:ea typeface="微软雅黑"/>
              </a:rPr>
              <a:t>也是记忆</a:t>
            </a:r>
            <a:r>
              <a:rPr sz="4200" b="1">
                <a:solidFill>
                  <a:srgbClr val="F5F5F7"/>
                </a:solidFill>
                <a:latin typeface="微软雅黑"/>
                <a:ea typeface="微软雅黑"/>
              </a:rPr>
              <a:t>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09572"/>
            <a:ext cx="103628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A1A1A6"/>
                </a:solidFill>
                <a:latin typeface="微软雅黑"/>
                <a:ea typeface="微软雅黑"/>
              </a:rPr>
              <a:t>截一张微信 / QQ / 飞书 / 钉钉的聊天界面，剩下的交给它。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606040"/>
            <a:ext cx="1911644" cy="1691640"/>
          </a:xfrm>
          <a:prstGeom prst="roundRect">
            <a:avLst>
              <a:gd name="adj" fmla="val 15306"/>
            </a:avLst>
          </a:prstGeom>
          <a:solidFill>
            <a:srgbClr val="0C0C0E"/>
          </a:solidFill>
          <a:ln w="12700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115568" y="2770632"/>
            <a:ext cx="15093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37" b="1" i="0" spc="140">
                <a:solidFill>
                  <a:srgbClr val="64D2FF"/>
                </a:solidFill>
                <a:latin typeface="微软雅黑"/>
                <a:ea typeface="微软雅黑"/>
              </a:rPr>
              <a:t>01 · 监听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2999232"/>
            <a:ext cx="15093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5F7"/>
                </a:solidFill>
                <a:latin typeface="微软雅黑"/>
                <a:ea typeface="微软雅黑"/>
              </a:rPr>
              <a:t>MediaStore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3364992"/>
            <a:ext cx="150930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1A1A6"/>
                </a:solidFill>
                <a:latin typeface="微软雅黑"/>
                <a:ea typeface="微软雅黑"/>
              </a:rPr>
              <a:t>按 _id 只处理新截图
文件名识别来源应用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27212" y="2606040"/>
            <a:ext cx="1911644" cy="1691640"/>
          </a:xfrm>
          <a:prstGeom prst="roundRect">
            <a:avLst>
              <a:gd name="adj" fmla="val 15306"/>
            </a:avLst>
          </a:prstGeom>
          <a:solidFill>
            <a:srgbClr val="0C0C0E"/>
          </a:solidFill>
          <a:ln w="12700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228380" y="2770632"/>
            <a:ext cx="15093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37" b="1" i="0" spc="140">
                <a:solidFill>
                  <a:srgbClr val="64D2FF"/>
                </a:solidFill>
                <a:latin typeface="微软雅黑"/>
                <a:ea typeface="微软雅黑"/>
              </a:rPr>
              <a:t>02 · OCR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28380" y="2999232"/>
            <a:ext cx="15093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5F7"/>
                </a:solidFill>
                <a:latin typeface="微软雅黑"/>
                <a:ea typeface="微软雅黑"/>
              </a:rPr>
              <a:t>PP-OCRv6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28380" y="3364992"/>
            <a:ext cx="150930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1A1A6"/>
                </a:solidFill>
                <a:latin typeface="微软雅黑"/>
                <a:ea typeface="微软雅黑"/>
              </a:rPr>
              <a:t>端侧检测 + 识别
输出 [左]/[右]/[中] 版式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40025" y="2606040"/>
            <a:ext cx="1911644" cy="1691640"/>
          </a:xfrm>
          <a:prstGeom prst="roundRect">
            <a:avLst>
              <a:gd name="adj" fmla="val 15306"/>
            </a:avLst>
          </a:prstGeom>
          <a:solidFill>
            <a:srgbClr val="0C0C0E"/>
          </a:solidFill>
          <a:ln w="12700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341193" y="2770632"/>
            <a:ext cx="15093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37" b="1" i="0" spc="140">
                <a:solidFill>
                  <a:srgbClr val="64D2FF"/>
                </a:solidFill>
                <a:latin typeface="微软雅黑"/>
                <a:ea typeface="微软雅黑"/>
              </a:rPr>
              <a:t>03 · 还原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1193" y="2999232"/>
            <a:ext cx="15093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5F7"/>
                </a:solidFill>
                <a:latin typeface="微软雅黑"/>
                <a:ea typeface="微软雅黑"/>
              </a:rPr>
              <a:t>大模型整理对话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1193" y="3364992"/>
            <a:ext cx="150930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1A1A6"/>
                </a:solidFill>
                <a:latin typeface="微软雅黑"/>
                <a:ea typeface="微软雅黑"/>
              </a:rPr>
              <a:t>右 = 机主，左 = 对方
去掉时间戳与系统提示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52837" y="2606040"/>
            <a:ext cx="1911644" cy="1691640"/>
          </a:xfrm>
          <a:prstGeom prst="roundRect">
            <a:avLst>
              <a:gd name="adj" fmla="val 15306"/>
            </a:avLst>
          </a:prstGeom>
          <a:solidFill>
            <a:srgbClr val="0C0C0E"/>
          </a:solidFill>
          <a:ln w="12700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454005" y="2770632"/>
            <a:ext cx="15093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37" b="1" i="0" spc="140">
                <a:solidFill>
                  <a:srgbClr val="64D2FF"/>
                </a:solidFill>
                <a:latin typeface="微软雅黑"/>
                <a:ea typeface="微软雅黑"/>
              </a:rPr>
              <a:t>04 · 对应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4005" y="2999232"/>
            <a:ext cx="15093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5F7"/>
                </a:solidFill>
                <a:latin typeface="微软雅黑"/>
                <a:ea typeface="微软雅黑"/>
              </a:rPr>
              <a:t>昵称 → 用户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4005" y="3364992"/>
            <a:ext cx="150930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1A1A6"/>
                </a:solidFill>
                <a:latin typeface="微软雅黑"/>
                <a:ea typeface="微软雅黑"/>
              </a:rPr>
              <a:t>指定过 / 同名自动
相似则预选推荐，其余询问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65650" y="2606040"/>
            <a:ext cx="1911644" cy="1691640"/>
          </a:xfrm>
          <a:prstGeom prst="roundRect">
            <a:avLst>
              <a:gd name="adj" fmla="val 15306"/>
            </a:avLst>
          </a:prstGeom>
          <a:solidFill>
            <a:srgbClr val="0C0C0E"/>
          </a:solidFill>
          <a:ln w="12700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566818" y="2770632"/>
            <a:ext cx="15093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37" b="1" i="0" spc="140">
                <a:solidFill>
                  <a:srgbClr val="64D2FF"/>
                </a:solidFill>
                <a:latin typeface="微软雅黑"/>
                <a:ea typeface="微软雅黑"/>
              </a:rPr>
              <a:t>05 · 提炼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66818" y="2999232"/>
            <a:ext cx="15093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5F7"/>
                </a:solidFill>
                <a:latin typeface="微软雅黑"/>
                <a:ea typeface="微软雅黑"/>
              </a:rPr>
              <a:t>按人分别提取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66818" y="3364992"/>
            <a:ext cx="150930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1A1A6"/>
                </a:solidFill>
                <a:latin typeface="微软雅黑"/>
                <a:ea typeface="微软雅黑"/>
              </a:rPr>
              <a:t>待办与事实分别落库
进度在灵动岛显示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291072"/>
            <a:ext cx="92656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6E6E73"/>
                </a:solidFill>
                <a:latin typeface="微软雅黑"/>
                <a:ea typeface="微软雅黑"/>
              </a:rPr>
              <a:t>为什么要先做版式：OCR 丢掉了气泡的左右排版，而「谁说的」恰恰藏在排版里——靠右是自己，靠左是对方。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49808"/>
            <a:ext cx="103628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 spc="260">
                <a:solidFill>
                  <a:srgbClr val="6E6E73"/>
                </a:solidFill>
                <a:latin typeface="微软雅黑"/>
                <a:ea typeface="微软雅黑"/>
              </a:rPr>
              <a:t>EVEN G2 · BLE 协 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33856"/>
            <a:ext cx="1036289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</a:pPr>
            <a:r>
              <a:rPr sz="4200" b="1">
                <a:solidFill>
                  <a:srgbClr val="F5F5F7"/>
                </a:solidFill>
                <a:latin typeface="微软雅黑"/>
                <a:ea typeface="微软雅黑"/>
              </a:rPr>
              <a:t>一张图，怎么</a:t>
            </a:r>
            <a:r>
              <a:rPr sz="4200" b="1">
                <a:solidFill>
                  <a:srgbClr val="0A84FF"/>
                </a:solidFill>
                <a:latin typeface="微软雅黑"/>
                <a:ea typeface="微软雅黑"/>
              </a:rPr>
              <a:t>推到镜片上</a:t>
            </a:r>
            <a:r>
              <a:rPr sz="4200" b="1">
                <a:solidFill>
                  <a:srgbClr val="F5F5F7"/>
                </a:solidFill>
                <a:latin typeface="微软雅黑"/>
                <a:ea typeface="微软雅黑"/>
              </a:rPr>
              <a:t>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487168"/>
            <a:ext cx="1911644" cy="1691640"/>
          </a:xfrm>
          <a:prstGeom prst="roundRect">
            <a:avLst>
              <a:gd name="adj" fmla="val 15306"/>
            </a:avLst>
          </a:prstGeom>
          <a:solidFill>
            <a:srgbClr val="0C0C0E"/>
          </a:solidFill>
          <a:ln w="12700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15568" y="2651760"/>
            <a:ext cx="15093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37" b="1" i="0" spc="140">
                <a:solidFill>
                  <a:srgbClr val="64D2FF"/>
                </a:solidFill>
                <a:latin typeface="微软雅黑"/>
                <a:ea typeface="微软雅黑"/>
              </a:rPr>
              <a:t>01 · 渲染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2880360"/>
            <a:ext cx="15093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5F7"/>
                </a:solidFill>
                <a:latin typeface="微软雅黑"/>
                <a:ea typeface="微软雅黑"/>
              </a:rPr>
              <a:t>FactsRenderer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3246120"/>
            <a:ext cx="150930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1A1A6"/>
                </a:solidFill>
                <a:latin typeface="微软雅黑"/>
                <a:ea typeface="微软雅黑"/>
              </a:rPr>
              <a:t>576 × 256 位图
系统字体画中文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27212" y="2487168"/>
            <a:ext cx="1911644" cy="1691640"/>
          </a:xfrm>
          <a:prstGeom prst="roundRect">
            <a:avLst>
              <a:gd name="adj" fmla="val 15306"/>
            </a:avLst>
          </a:prstGeom>
          <a:solidFill>
            <a:srgbClr val="0C0C0E"/>
          </a:solidFill>
          <a:ln w="12700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228380" y="2651760"/>
            <a:ext cx="15093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37" b="1" i="0" spc="140">
                <a:solidFill>
                  <a:srgbClr val="64D2FF"/>
                </a:solidFill>
                <a:latin typeface="微软雅黑"/>
                <a:ea typeface="微软雅黑"/>
              </a:rPr>
              <a:t>02 · 切块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28380" y="2880360"/>
            <a:ext cx="15093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5F7"/>
                </a:solidFill>
                <a:latin typeface="微软雅黑"/>
                <a:ea typeface="微软雅黑"/>
              </a:rPr>
              <a:t>Bmp4 瓦片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28380" y="3246120"/>
            <a:ext cx="150930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1A1A6"/>
                </a:solidFill>
                <a:latin typeface="微软雅黑"/>
                <a:ea typeface="微软雅黑"/>
              </a:rPr>
              <a:t>288 × 128 × 4 块
4 bpp · 16 级灰度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40025" y="2487168"/>
            <a:ext cx="1911644" cy="1691640"/>
          </a:xfrm>
          <a:prstGeom prst="roundRect">
            <a:avLst>
              <a:gd name="adj" fmla="val 15306"/>
            </a:avLst>
          </a:prstGeom>
          <a:solidFill>
            <a:srgbClr val="0C0C0E"/>
          </a:solidFill>
          <a:ln w="12700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341193" y="2651760"/>
            <a:ext cx="15093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37" b="1" i="0" spc="140">
                <a:solidFill>
                  <a:srgbClr val="64D2FF"/>
                </a:solidFill>
                <a:latin typeface="微软雅黑"/>
                <a:ea typeface="微软雅黑"/>
              </a:rPr>
              <a:t>03 · 打包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1193" y="2880360"/>
            <a:ext cx="15093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5F7"/>
                </a:solidFill>
                <a:latin typeface="微软雅黑"/>
                <a:ea typeface="微软雅黑"/>
              </a:rPr>
              <a:t>EvenHub proto3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1193" y="3246120"/>
            <a:ext cx="150930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1A1A6"/>
                </a:solidFill>
                <a:latin typeface="微软雅黑"/>
                <a:ea typeface="微软雅黑"/>
              </a:rPr>
              <a:t>1 文本 + 4 图片容器
分片 ≤ 3800 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52837" y="2487168"/>
            <a:ext cx="1911644" cy="1691640"/>
          </a:xfrm>
          <a:prstGeom prst="roundRect">
            <a:avLst>
              <a:gd name="adj" fmla="val 15306"/>
            </a:avLst>
          </a:prstGeom>
          <a:solidFill>
            <a:srgbClr val="0C0C0E"/>
          </a:solidFill>
          <a:ln w="12700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454005" y="2651760"/>
            <a:ext cx="15093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37" b="1" i="0" spc="140">
                <a:solidFill>
                  <a:srgbClr val="64D2FF"/>
                </a:solidFill>
                <a:latin typeface="微软雅黑"/>
                <a:ea typeface="微软雅黑"/>
              </a:rPr>
              <a:t>04 · 分帧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4005" y="2880360"/>
            <a:ext cx="15093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5F7"/>
                </a:solidFill>
                <a:latin typeface="微软雅黑"/>
                <a:ea typeface="微软雅黑"/>
              </a:rPr>
              <a:t>BLE 232 B / 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4005" y="3246120"/>
            <a:ext cx="150930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1A1A6"/>
                </a:solidFill>
                <a:latin typeface="微软雅黑"/>
                <a:ea typeface="微软雅黑"/>
              </a:rPr>
              <a:t>CRC16 追加末片
双镜腿独立连接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65650" y="2487168"/>
            <a:ext cx="1911644" cy="1691640"/>
          </a:xfrm>
          <a:prstGeom prst="roundRect">
            <a:avLst>
              <a:gd name="adj" fmla="val 15306"/>
            </a:avLst>
          </a:prstGeom>
          <a:solidFill>
            <a:srgbClr val="0C0C0E"/>
          </a:solidFill>
          <a:ln w="12700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566818" y="2651760"/>
            <a:ext cx="15093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37" b="1" i="0" spc="140">
                <a:solidFill>
                  <a:srgbClr val="64D2FF"/>
                </a:solidFill>
                <a:latin typeface="微软雅黑"/>
                <a:ea typeface="微软雅黑"/>
              </a:rPr>
              <a:t>05 · 显示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66818" y="2880360"/>
            <a:ext cx="15093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5F7"/>
                </a:solidFill>
                <a:latin typeface="微软雅黑"/>
                <a:ea typeface="微软雅黑"/>
              </a:rPr>
              <a:t>整屏 5～10 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66818" y="3246120"/>
            <a:ext cx="150930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1A1A6"/>
                </a:solidFill>
                <a:latin typeface="微软雅黑"/>
                <a:ea typeface="微软雅黑"/>
              </a:rPr>
              <a:t>60 秒自动关闭
心跳 2 秒一次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4434840"/>
            <a:ext cx="3320186" cy="914400"/>
          </a:xfrm>
          <a:prstGeom prst="roundRect">
            <a:avLst>
              <a:gd name="adj" fmla="val 8812"/>
            </a:avLst>
          </a:prstGeom>
          <a:solidFill>
            <a:srgbClr val="0C0C0E"/>
          </a:solidFill>
          <a:ln w="12700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152144" y="4672583"/>
            <a:ext cx="284469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spc="160">
                <a:solidFill>
                  <a:srgbClr val="0A84FF"/>
                </a:solidFill>
                <a:latin typeface="微软雅黑"/>
                <a:ea typeface="微软雅黑"/>
              </a:rPr>
              <a:t>坑 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" y="5020055"/>
            <a:ext cx="284469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 i="0">
                <a:solidFill>
                  <a:srgbClr val="A1A1A6"/>
                </a:solidFill>
                <a:latin typeface="微软雅黑"/>
                <a:ea typeface="微软雅黑"/>
              </a:rPr>
              <a:t>CREATE 后第一次图片流会被固件丢掉 → 先推全黑瓦片预热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35754" y="4434840"/>
            <a:ext cx="3320186" cy="914400"/>
          </a:xfrm>
          <a:prstGeom prst="roundRect">
            <a:avLst>
              <a:gd name="adj" fmla="val 8812"/>
            </a:avLst>
          </a:prstGeom>
          <a:solidFill>
            <a:srgbClr val="0C0C0E"/>
          </a:solidFill>
          <a:ln w="12700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73498" y="4672583"/>
            <a:ext cx="284469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spc="160">
                <a:solidFill>
                  <a:srgbClr val="0A84FF"/>
                </a:solidFill>
                <a:latin typeface="微软雅黑"/>
                <a:ea typeface="微软雅黑"/>
              </a:rPr>
              <a:t>坑 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73498" y="5020055"/>
            <a:ext cx="284469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 i="0">
                <a:solidFill>
                  <a:srgbClr val="A1A1A6"/>
                </a:solidFill>
                <a:latin typeface="微软雅黑"/>
                <a:ea typeface="微软雅黑"/>
              </a:rPr>
              <a:t>纯图片页会 ack 但不绘制 → 顶部必须保留 32 px 文本容器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57108" y="4434840"/>
            <a:ext cx="3320186" cy="914400"/>
          </a:xfrm>
          <a:prstGeom prst="roundRect">
            <a:avLst>
              <a:gd name="adj" fmla="val 8812"/>
            </a:avLst>
          </a:prstGeom>
          <a:solidFill>
            <a:srgbClr val="0C0C0E"/>
          </a:solidFill>
          <a:ln w="12700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194852" y="4672583"/>
            <a:ext cx="284469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spc="160">
                <a:solidFill>
                  <a:srgbClr val="0A84FF"/>
                </a:solidFill>
                <a:latin typeface="微软雅黑"/>
                <a:ea typeface="微软雅黑"/>
              </a:rPr>
              <a:t>优化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94852" y="5020055"/>
            <a:ext cx="284469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 i="0">
                <a:solidFill>
                  <a:srgbClr val="A1A1A6"/>
                </a:solidFill>
                <a:latin typeface="微软雅黑"/>
                <a:ea typeface="微软雅黑"/>
              </a:rPr>
              <a:t>瓦片内容指纹去重，没变化的块不重发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49808"/>
            <a:ext cx="103628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 spc="260">
                <a:solidFill>
                  <a:srgbClr val="6E6E73"/>
                </a:solidFill>
                <a:latin typeface="微软雅黑"/>
                <a:ea typeface="微软雅黑"/>
              </a:rPr>
              <a:t>隐 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33856"/>
            <a:ext cx="1036289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</a:pPr>
            <a:r>
              <a:rPr sz="4200" b="1">
                <a:solidFill>
                  <a:srgbClr val="F5F5F7"/>
                </a:solidFill>
                <a:latin typeface="微软雅黑"/>
                <a:ea typeface="微软雅黑"/>
              </a:rPr>
              <a:t>你的声音，</a:t>
            </a:r>
            <a:r>
              <a:rPr sz="4200" b="1">
                <a:solidFill>
                  <a:srgbClr val="0A84FF"/>
                </a:solidFill>
                <a:latin typeface="微软雅黑"/>
                <a:ea typeface="微软雅黑"/>
              </a:rPr>
              <a:t>不出手机</a:t>
            </a:r>
            <a:r>
              <a:rPr sz="4200" b="1">
                <a:solidFill>
                  <a:srgbClr val="F5F5F7"/>
                </a:solidFill>
                <a:latin typeface="微软雅黑"/>
                <a:ea typeface="微软雅黑"/>
              </a:rPr>
              <a:t>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83308"/>
            <a:ext cx="5044287" cy="1097280"/>
          </a:xfrm>
          <a:prstGeom prst="roundRect">
            <a:avLst>
              <a:gd name="adj" fmla="val 5800"/>
            </a:avLst>
          </a:prstGeom>
          <a:solidFill>
            <a:srgbClr val="0C0C0E"/>
          </a:solidFill>
          <a:ln w="12700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1152144" y="2339340"/>
            <a:ext cx="310896" cy="310896"/>
          </a:xfrm>
          <a:prstGeom prst="ellipse">
            <a:avLst/>
          </a:prstGeom>
          <a:solidFill>
            <a:srgbClr val="0A223E"/>
          </a:solidFill>
          <a:ln w="9525">
            <a:solidFill>
              <a:srgbClr val="1B54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64D2FF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2284476"/>
            <a:ext cx="414817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F5F5F7"/>
                </a:solidFill>
                <a:latin typeface="微软雅黑"/>
                <a:ea typeface="微软雅黑"/>
              </a:rPr>
              <a:t>端侧处理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2768" y="2650236"/>
            <a:ext cx="41481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A1A1A6"/>
                </a:solidFill>
                <a:latin typeface="微软雅黑"/>
                <a:ea typeface="微软雅黑"/>
              </a:rPr>
              <a:t>录音、识别、声纹、OCR 全在手机上完成，音频与图片从不上传。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3007" y="2083308"/>
            <a:ext cx="5044287" cy="1097280"/>
          </a:xfrm>
          <a:prstGeom prst="roundRect">
            <a:avLst>
              <a:gd name="adj" fmla="val 5800"/>
            </a:avLst>
          </a:prstGeom>
          <a:solidFill>
            <a:srgbClr val="0C0C0E"/>
          </a:solidFill>
          <a:ln w="12700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6470751" y="2339340"/>
            <a:ext cx="310896" cy="310896"/>
          </a:xfrm>
          <a:prstGeom prst="ellipse">
            <a:avLst/>
          </a:prstGeom>
          <a:solidFill>
            <a:srgbClr val="0A223E"/>
          </a:solidFill>
          <a:ln w="9525">
            <a:solidFill>
              <a:srgbClr val="1B54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64D2FF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91375" y="2284476"/>
            <a:ext cx="414817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F5F5F7"/>
                </a:solidFill>
                <a:latin typeface="微软雅黑"/>
                <a:ea typeface="微软雅黑"/>
              </a:rPr>
              <a:t>最小上传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91375" y="2650236"/>
            <a:ext cx="41481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A1A1A6"/>
                </a:solidFill>
                <a:latin typeface="微软雅黑"/>
                <a:ea typeface="微软雅黑"/>
              </a:rPr>
              <a:t>只有文字（转写、OCR 文本）发给大模型。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326892"/>
            <a:ext cx="5044287" cy="1097280"/>
          </a:xfrm>
          <a:prstGeom prst="roundRect">
            <a:avLst>
              <a:gd name="adj" fmla="val 5800"/>
            </a:avLst>
          </a:prstGeom>
          <a:solidFill>
            <a:srgbClr val="0C0C0E"/>
          </a:solidFill>
          <a:ln w="12700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152144" y="3582924"/>
            <a:ext cx="310896" cy="310896"/>
          </a:xfrm>
          <a:prstGeom prst="ellipse">
            <a:avLst/>
          </a:prstGeom>
          <a:solidFill>
            <a:srgbClr val="0A223E"/>
          </a:solidFill>
          <a:ln w="9525">
            <a:solidFill>
              <a:srgbClr val="1B54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64D2FF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3528060"/>
            <a:ext cx="414817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F5F5F7"/>
                </a:solidFill>
                <a:latin typeface="微软雅黑"/>
                <a:ea typeface="微软雅黑"/>
              </a:rPr>
              <a:t>自动清理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3893820"/>
            <a:ext cx="41481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A1A1A6"/>
                </a:solidFill>
                <a:latin typeface="微软雅黑"/>
                <a:ea typeface="微软雅黑"/>
              </a:rPr>
              <a:t>转写 30 天删除，截图任务 3 天；声纹可随时删除。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3326892"/>
            <a:ext cx="5044287" cy="1097280"/>
          </a:xfrm>
          <a:prstGeom prst="roundRect">
            <a:avLst>
              <a:gd name="adj" fmla="val 5800"/>
            </a:avLst>
          </a:prstGeom>
          <a:solidFill>
            <a:srgbClr val="0C0C0E"/>
          </a:solidFill>
          <a:ln w="12700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6470751" y="3582924"/>
            <a:ext cx="310896" cy="310896"/>
          </a:xfrm>
          <a:prstGeom prst="ellipse">
            <a:avLst/>
          </a:prstGeom>
          <a:solidFill>
            <a:srgbClr val="0A223E"/>
          </a:solidFill>
          <a:ln w="9525">
            <a:solidFill>
              <a:srgbClr val="1B54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64D2FF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91375" y="3528060"/>
            <a:ext cx="414817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F5F5F7"/>
                </a:solidFill>
                <a:latin typeface="微软雅黑"/>
                <a:ea typeface="微软雅黑"/>
              </a:rPr>
              <a:t>眼镜只写不读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91375" y="3893820"/>
            <a:ext cx="41481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A1A1A6"/>
                </a:solidFill>
                <a:latin typeface="微软雅黑"/>
                <a:ea typeface="微软雅黑"/>
              </a:rPr>
              <a:t>只发显示内容与心跳，不读眼镜麦克风。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570476"/>
            <a:ext cx="5044287" cy="1097280"/>
          </a:xfrm>
          <a:prstGeom prst="roundRect">
            <a:avLst>
              <a:gd name="adj" fmla="val 5800"/>
            </a:avLst>
          </a:prstGeom>
          <a:solidFill>
            <a:srgbClr val="0C0C0E"/>
          </a:solidFill>
          <a:ln w="12700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1152144" y="4826508"/>
            <a:ext cx="310896" cy="310896"/>
          </a:xfrm>
          <a:prstGeom prst="ellipse">
            <a:avLst/>
          </a:prstGeom>
          <a:solidFill>
            <a:srgbClr val="0A223E"/>
          </a:solidFill>
          <a:ln w="9525">
            <a:solidFill>
              <a:srgbClr val="1B54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64D2FF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4771644"/>
            <a:ext cx="414817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F5F5F7"/>
                </a:solidFill>
                <a:latin typeface="微软雅黑"/>
                <a:ea typeface="微软雅黑"/>
              </a:rPr>
              <a:t>不要位置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5137404"/>
            <a:ext cx="41481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A1A1A6"/>
                </a:solidFill>
                <a:latin typeface="微软雅黑"/>
                <a:ea typeface="微软雅黑"/>
              </a:rPr>
              <a:t>蓝牙扫描声明 neverForLocation。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3007" y="4570476"/>
            <a:ext cx="5044287" cy="1097280"/>
          </a:xfrm>
          <a:prstGeom prst="roundRect">
            <a:avLst>
              <a:gd name="adj" fmla="val 5800"/>
            </a:avLst>
          </a:prstGeom>
          <a:solidFill>
            <a:srgbClr val="0C0C0E"/>
          </a:solidFill>
          <a:ln w="12700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6470751" y="4826508"/>
            <a:ext cx="310896" cy="310896"/>
          </a:xfrm>
          <a:prstGeom prst="ellipse">
            <a:avLst/>
          </a:prstGeom>
          <a:solidFill>
            <a:srgbClr val="0A223E"/>
          </a:solidFill>
          <a:ln w="9525">
            <a:solidFill>
              <a:srgbClr val="1B54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64D2FF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1375" y="4771644"/>
            <a:ext cx="414817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F5F5F7"/>
                </a:solidFill>
                <a:latin typeface="微软雅黑"/>
                <a:ea typeface="微软雅黑"/>
              </a:rPr>
              <a:t>随时可控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1375" y="5137404"/>
            <a:ext cx="41481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A1A1A6"/>
                </a:solidFill>
                <a:latin typeface="微软雅黑"/>
                <a:ea typeface="微软雅黑"/>
              </a:rPr>
              <a:t>录音可暂停，字幕 / 截图 / 眼镜推送各自独立开关。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737360"/>
            <a:ext cx="10362895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0" b="1" i="0">
                <a:solidFill>
                  <a:srgbClr val="2A2A2E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7180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600" b="1" i="0">
                <a:solidFill>
                  <a:srgbClr val="F5F5F7"/>
                </a:solidFill>
                <a:latin typeface="微软雅黑"/>
                <a:ea typeface="微软雅黑"/>
              </a:rPr>
              <a:t>进展与
数据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892040"/>
            <a:ext cx="103628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>
                <a:solidFill>
                  <a:srgbClr val="A1A1A6"/>
                </a:solidFill>
                <a:latin typeface="微软雅黑"/>
                <a:ea typeface="微软雅黑"/>
              </a:rPr>
              <a:t>已经做到的，
和用数字说话。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49808"/>
            <a:ext cx="103628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 spc="260">
                <a:solidFill>
                  <a:srgbClr val="6E6E73"/>
                </a:solidFill>
                <a:latin typeface="微软雅黑"/>
                <a:ea typeface="微软雅黑"/>
              </a:rPr>
              <a:t>关 键 数 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33856"/>
            <a:ext cx="1036289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F5F5F7"/>
                </a:solidFill>
                <a:latin typeface="微软雅黑"/>
                <a:ea typeface="微软雅黑"/>
              </a:rPr>
              <a:t>用数字说话。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129028"/>
            <a:ext cx="3301898" cy="1426464"/>
          </a:xfrm>
          <a:prstGeom prst="roundRect">
            <a:avLst>
              <a:gd name="adj" fmla="val 9969"/>
            </a:avLst>
          </a:prstGeom>
          <a:solidFill>
            <a:srgbClr val="0C0C0E"/>
          </a:solidFill>
          <a:ln w="12700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88720" y="2403347"/>
            <a:ext cx="275325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5550" b="1">
                <a:solidFill>
                  <a:srgbClr val="F5F5F7"/>
                </a:solidFill>
                <a:latin typeface="Consolas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061716"/>
            <a:ext cx="275325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 i="0">
                <a:solidFill>
                  <a:srgbClr val="F5F5F7"/>
                </a:solidFill>
                <a:latin typeface="微软雅黑"/>
                <a:ea typeface="微软雅黑"/>
              </a:rPr>
              <a:t>端侧模型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A1A1A6"/>
                </a:solidFill>
                <a:latin typeface="微软雅黑"/>
                <a:ea typeface="微软雅黑"/>
              </a:rPr>
              <a:t>全部 CPU 推理，零云端成本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44898" y="2129028"/>
            <a:ext cx="3301898" cy="1426464"/>
          </a:xfrm>
          <a:prstGeom prst="roundRect">
            <a:avLst>
              <a:gd name="adj" fmla="val 9969"/>
            </a:avLst>
          </a:prstGeom>
          <a:solidFill>
            <a:srgbClr val="0C0C0E"/>
          </a:solidFill>
          <a:ln w="12700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719218" y="2403347"/>
            <a:ext cx="275325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5550" b="1">
                <a:solidFill>
                  <a:srgbClr val="F5F5F7"/>
                </a:solidFill>
                <a:latin typeface="Consolas"/>
              </a:rPr>
              <a:t>697</a:t>
            </a:r>
            <a:r>
              <a:rPr sz="2250" b="1">
                <a:solidFill>
                  <a:srgbClr val="F5F5F7"/>
                </a:solidFill>
                <a:latin typeface="Consolas"/>
              </a:rPr>
              <a:t>MB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19218" y="3061716"/>
            <a:ext cx="275325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 i="0">
                <a:solidFill>
                  <a:srgbClr val="F5F5F7"/>
                </a:solidFill>
                <a:latin typeface="微软雅黑"/>
                <a:ea typeface="微软雅黑"/>
              </a:rPr>
              <a:t>模型总量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A1A1A6"/>
                </a:solidFill>
                <a:latin typeface="微软雅黑"/>
                <a:ea typeface="微软雅黑"/>
              </a:rPr>
              <a:t>预置系统目录，不打包进 APK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75396" y="2129028"/>
            <a:ext cx="3301898" cy="1426464"/>
          </a:xfrm>
          <a:prstGeom prst="roundRect">
            <a:avLst>
              <a:gd name="adj" fmla="val 9969"/>
            </a:avLst>
          </a:prstGeom>
          <a:solidFill>
            <a:srgbClr val="0C0C0E"/>
          </a:solidFill>
          <a:ln w="12700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49716" y="2403347"/>
            <a:ext cx="275325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5550" b="1">
                <a:solidFill>
                  <a:srgbClr val="F5F5F7"/>
                </a:solidFill>
                <a:latin typeface="Consolas"/>
              </a:rPr>
              <a:t>100</a:t>
            </a:r>
            <a:r>
              <a:rPr sz="2250" b="1">
                <a:solidFill>
                  <a:srgbClr val="F5F5F7"/>
                </a:solidFill>
                <a:latin typeface="Consolas"/>
              </a:rPr>
              <a:t>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49716" y="3061716"/>
            <a:ext cx="275325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 i="0">
                <a:solidFill>
                  <a:srgbClr val="F5F5F7"/>
                </a:solidFill>
                <a:latin typeface="微软雅黑"/>
                <a:ea typeface="微软雅黑"/>
              </a:rPr>
              <a:t>语音与图像端侧处理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A1A1A6"/>
                </a:solidFill>
                <a:latin typeface="微软雅黑"/>
                <a:ea typeface="微软雅黑"/>
              </a:rPr>
              <a:t>音频从不出手机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701795"/>
            <a:ext cx="3301898" cy="1426464"/>
          </a:xfrm>
          <a:prstGeom prst="roundRect">
            <a:avLst>
              <a:gd name="adj" fmla="val 9969"/>
            </a:avLst>
          </a:prstGeom>
          <a:solidFill>
            <a:srgbClr val="0C0C0E"/>
          </a:solidFill>
          <a:ln w="12700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188720" y="3976115"/>
            <a:ext cx="275325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5550" b="1">
                <a:solidFill>
                  <a:srgbClr val="F5F5F7"/>
                </a:solidFill>
                <a:latin typeface="Consolas"/>
              </a:rPr>
              <a:t>11,963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634484"/>
            <a:ext cx="275325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 i="0">
                <a:solidFill>
                  <a:srgbClr val="F5F5F7"/>
                </a:solidFill>
                <a:latin typeface="微软雅黑"/>
                <a:ea typeface="微软雅黑"/>
              </a:rPr>
              <a:t>行源码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A1A1A6"/>
                </a:solidFill>
                <a:latin typeface="微软雅黑"/>
                <a:ea typeface="微软雅黑"/>
              </a:rPr>
              <a:t>Java 9,741 + Kotlin 2,222 · 76 个文件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44898" y="3701795"/>
            <a:ext cx="3301898" cy="1426464"/>
          </a:xfrm>
          <a:prstGeom prst="roundRect">
            <a:avLst>
              <a:gd name="adj" fmla="val 9969"/>
            </a:avLst>
          </a:prstGeom>
          <a:solidFill>
            <a:srgbClr val="0C0C0E"/>
          </a:solidFill>
          <a:ln w="12700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19218" y="3976115"/>
            <a:ext cx="275325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5550" b="1">
                <a:solidFill>
                  <a:srgbClr val="F5F5F7"/>
                </a:solidFill>
                <a:latin typeface="Consolas"/>
              </a:rPr>
              <a:t>5</a:t>
            </a:r>
            <a:r>
              <a:rPr sz="2250" b="1">
                <a:solidFill>
                  <a:srgbClr val="F5F5F7"/>
                </a:solidFill>
                <a:latin typeface="Consolas"/>
              </a:rPr>
              <a:t>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19218" y="4634484"/>
            <a:ext cx="275325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 i="0">
                <a:solidFill>
                  <a:srgbClr val="F5F5F7"/>
                </a:solidFill>
                <a:latin typeface="微软雅黑"/>
                <a:ea typeface="微软雅黑"/>
              </a:rPr>
              <a:t>会话窗口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A1A1A6"/>
                </a:solidFill>
                <a:latin typeface="微软雅黑"/>
                <a:ea typeface="微软雅黑"/>
              </a:rPr>
              <a:t>熟人隔 5 分钟再开口即触发提醒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75396" y="3701795"/>
            <a:ext cx="3301898" cy="1426464"/>
          </a:xfrm>
          <a:prstGeom prst="roundRect">
            <a:avLst>
              <a:gd name="adj" fmla="val 9969"/>
            </a:avLst>
          </a:prstGeom>
          <a:solidFill>
            <a:srgbClr val="0C0C0E"/>
          </a:solidFill>
          <a:ln w="12700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249716" y="3976115"/>
            <a:ext cx="275325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5550" b="1">
                <a:solidFill>
                  <a:srgbClr val="F5F5F7"/>
                </a:solidFill>
                <a:latin typeface="Consolas"/>
              </a:rPr>
              <a:t>60</a:t>
            </a:r>
            <a:r>
              <a:rPr sz="2250" b="1">
                <a:solidFill>
                  <a:srgbClr val="F5F5F7"/>
                </a:solidFill>
                <a:latin typeface="Consolas"/>
              </a:rPr>
              <a:t>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9716" y="4634484"/>
            <a:ext cx="275325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 i="0">
                <a:solidFill>
                  <a:srgbClr val="F5F5F7"/>
                </a:solidFill>
                <a:latin typeface="微软雅黑"/>
                <a:ea typeface="微软雅黑"/>
              </a:rPr>
              <a:t>眼镜页面自动消失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A1A1A6"/>
                </a:solidFill>
                <a:latin typeface="微软雅黑"/>
                <a:ea typeface="微软雅黑"/>
              </a:rPr>
              <a:t>整屏推送约 5～10 秒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49808"/>
            <a:ext cx="103628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 spc="260">
                <a:solidFill>
                  <a:srgbClr val="6E6E73"/>
                </a:solidFill>
                <a:latin typeface="微软雅黑"/>
                <a:ea typeface="微软雅黑"/>
              </a:rPr>
              <a:t>当 前 进 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33856"/>
            <a:ext cx="1036289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F5F5F7"/>
                </a:solidFill>
                <a:latin typeface="微软雅黑"/>
                <a:ea typeface="微软雅黑"/>
              </a:rPr>
              <a:t>已经做到的。</a:t>
            </a:r>
          </a:p>
        </p:txBody>
      </p:sp>
      <p:sp>
        <p:nvSpPr>
          <p:cNvPr id="4" name="Oval 3"/>
          <p:cNvSpPr/>
          <p:nvPr/>
        </p:nvSpPr>
        <p:spPr>
          <a:xfrm>
            <a:off x="960120" y="2183892"/>
            <a:ext cx="274320" cy="274320"/>
          </a:xfrm>
          <a:prstGeom prst="ellipse">
            <a:avLst/>
          </a:prstGeom>
          <a:solidFill>
            <a:srgbClr val="0A2A16"/>
          </a:solidFill>
          <a:ln w="9525">
            <a:solidFill>
              <a:srgbClr val="1E6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0D158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53312" y="2147316"/>
            <a:ext cx="454136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5F5F7"/>
                </a:solidFill>
                <a:latin typeface="微软雅黑"/>
                <a:ea typeface="微软雅黑"/>
              </a:rPr>
              <a:t>端侧 VAD + 双引擎中文识别 + 标点</a:t>
            </a:r>
          </a:p>
        </p:txBody>
      </p:sp>
      <p:sp>
        <p:nvSpPr>
          <p:cNvPr id="6" name="Oval 5"/>
          <p:cNvSpPr/>
          <p:nvPr/>
        </p:nvSpPr>
        <p:spPr>
          <a:xfrm>
            <a:off x="6324447" y="2183892"/>
            <a:ext cx="274320" cy="274320"/>
          </a:xfrm>
          <a:prstGeom prst="ellipse">
            <a:avLst/>
          </a:prstGeom>
          <a:solidFill>
            <a:srgbClr val="0A2A16"/>
          </a:solidFill>
          <a:ln w="9525">
            <a:solidFill>
              <a:srgbClr val="1E6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0D158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17639" y="2147316"/>
            <a:ext cx="454136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5F5F7"/>
                </a:solidFill>
                <a:latin typeface="微软雅黑"/>
                <a:ea typeface="微软雅黑"/>
              </a:rPr>
              <a:t>端侧声纹：录入、识别、陌生人建档、合并、自适应</a:t>
            </a:r>
          </a:p>
        </p:txBody>
      </p:sp>
      <p:sp>
        <p:nvSpPr>
          <p:cNvPr id="8" name="Oval 7"/>
          <p:cNvSpPr/>
          <p:nvPr/>
        </p:nvSpPr>
        <p:spPr>
          <a:xfrm>
            <a:off x="960120" y="2842259"/>
            <a:ext cx="274320" cy="274320"/>
          </a:xfrm>
          <a:prstGeom prst="ellipse">
            <a:avLst/>
          </a:prstGeom>
          <a:solidFill>
            <a:srgbClr val="0A2A16"/>
          </a:solidFill>
          <a:ln w="9525">
            <a:solidFill>
              <a:srgbClr val="1E6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0D158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2805683"/>
            <a:ext cx="454136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5F5F7"/>
                </a:solidFill>
                <a:latin typeface="微软雅黑"/>
                <a:ea typeface="微软雅黑"/>
              </a:rPr>
              <a:t>会话感知提醒 + 1 分钟自动提炼</a:t>
            </a:r>
          </a:p>
        </p:txBody>
      </p:sp>
      <p:sp>
        <p:nvSpPr>
          <p:cNvPr id="10" name="Oval 9"/>
          <p:cNvSpPr/>
          <p:nvPr/>
        </p:nvSpPr>
        <p:spPr>
          <a:xfrm>
            <a:off x="6324447" y="2842259"/>
            <a:ext cx="274320" cy="274320"/>
          </a:xfrm>
          <a:prstGeom prst="ellipse">
            <a:avLst/>
          </a:prstGeom>
          <a:solidFill>
            <a:srgbClr val="0A2A16"/>
          </a:solidFill>
          <a:ln w="9525">
            <a:solidFill>
              <a:srgbClr val="1E6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0D158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17639" y="2805683"/>
            <a:ext cx="454136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5F5F7"/>
                </a:solidFill>
                <a:latin typeface="微软雅黑"/>
                <a:ea typeface="微软雅黑"/>
              </a:rPr>
              <a:t>大模型提炼待办 / 事实，自动完成与过期</a:t>
            </a:r>
          </a:p>
        </p:txBody>
      </p:sp>
      <p:sp>
        <p:nvSpPr>
          <p:cNvPr id="12" name="Oval 11"/>
          <p:cNvSpPr/>
          <p:nvPr/>
        </p:nvSpPr>
        <p:spPr>
          <a:xfrm>
            <a:off x="960120" y="3500628"/>
            <a:ext cx="274320" cy="274320"/>
          </a:xfrm>
          <a:prstGeom prst="ellipse">
            <a:avLst/>
          </a:prstGeom>
          <a:solidFill>
            <a:srgbClr val="0A2A16"/>
          </a:solidFill>
          <a:ln w="9525">
            <a:solidFill>
              <a:srgbClr val="1E6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0D158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3312" y="3464052"/>
            <a:ext cx="454136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5F5F7"/>
                </a:solidFill>
                <a:latin typeface="微软雅黑"/>
                <a:ea typeface="微软雅黑"/>
              </a:rPr>
              <a:t>聊天截图：端侧 OCR + 版式 + 昵称对应</a:t>
            </a:r>
          </a:p>
        </p:txBody>
      </p:sp>
      <p:sp>
        <p:nvSpPr>
          <p:cNvPr id="14" name="Oval 13"/>
          <p:cNvSpPr/>
          <p:nvPr/>
        </p:nvSpPr>
        <p:spPr>
          <a:xfrm>
            <a:off x="6324447" y="3500628"/>
            <a:ext cx="274320" cy="274320"/>
          </a:xfrm>
          <a:prstGeom prst="ellipse">
            <a:avLst/>
          </a:prstGeom>
          <a:solidFill>
            <a:srgbClr val="0A2A16"/>
          </a:solidFill>
          <a:ln w="9525">
            <a:solidFill>
              <a:srgbClr val="1E6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0D158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17639" y="3464052"/>
            <a:ext cx="454136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5F5F7"/>
                </a:solidFill>
                <a:latin typeface="微软雅黑"/>
                <a:ea typeface="微软雅黑"/>
              </a:rPr>
              <a:t>灵动岛 7 类实况通知</a:t>
            </a:r>
          </a:p>
        </p:txBody>
      </p:sp>
      <p:sp>
        <p:nvSpPr>
          <p:cNvPr id="16" name="Oval 15"/>
          <p:cNvSpPr/>
          <p:nvPr/>
        </p:nvSpPr>
        <p:spPr>
          <a:xfrm>
            <a:off x="960120" y="4158995"/>
            <a:ext cx="274320" cy="274320"/>
          </a:xfrm>
          <a:prstGeom prst="ellipse">
            <a:avLst/>
          </a:prstGeom>
          <a:solidFill>
            <a:srgbClr val="0A2A16"/>
          </a:solidFill>
          <a:ln w="9525">
            <a:solidFill>
              <a:srgbClr val="1E6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0D158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4122419"/>
            <a:ext cx="454136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5F5F7"/>
                </a:solidFill>
                <a:latin typeface="微软雅黑"/>
                <a:ea typeface="微软雅黑"/>
              </a:rPr>
              <a:t>Even G2 双镜腿连接、鉴权、心跳、推图、自动重连</a:t>
            </a:r>
          </a:p>
        </p:txBody>
      </p:sp>
      <p:sp>
        <p:nvSpPr>
          <p:cNvPr id="18" name="Oval 17"/>
          <p:cNvSpPr/>
          <p:nvPr/>
        </p:nvSpPr>
        <p:spPr>
          <a:xfrm>
            <a:off x="6324447" y="4158995"/>
            <a:ext cx="274320" cy="274320"/>
          </a:xfrm>
          <a:prstGeom prst="ellipse">
            <a:avLst/>
          </a:prstGeom>
          <a:solidFill>
            <a:srgbClr val="0A2A16"/>
          </a:solidFill>
          <a:ln w="9525">
            <a:solidFill>
              <a:srgbClr val="1E6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0D158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17639" y="4122419"/>
            <a:ext cx="454136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5F5F7"/>
                </a:solidFill>
                <a:latin typeface="微软雅黑"/>
                <a:ea typeface="微软雅黑"/>
              </a:rPr>
              <a:t>系统级集成：platform 签名 + 灵动岛 + 悬浮窗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291072"/>
            <a:ext cx="92656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6E6E73"/>
                </a:solidFill>
                <a:latin typeface="微软雅黑"/>
                <a:ea typeface="微软雅黑"/>
              </a:rPr>
              <a:t>系统应用（android.uid.system）· arm64-v8a · minSdk 28 · Room schema v7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49808"/>
            <a:ext cx="103628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 spc="260">
                <a:solidFill>
                  <a:srgbClr val="6E6E73"/>
                </a:solidFill>
                <a:latin typeface="微软雅黑"/>
                <a:ea typeface="微软雅黑"/>
              </a:rPr>
              <a:t>团 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33856"/>
            <a:ext cx="1036289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F5F5F7"/>
                </a:solidFill>
                <a:latin typeface="微软雅黑"/>
                <a:ea typeface="微软雅黑"/>
              </a:rPr>
              <a:t>做这件事的人。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66188"/>
            <a:ext cx="2439847" cy="2103120"/>
          </a:xfrm>
          <a:prstGeom prst="roundRect">
            <a:avLst>
              <a:gd name="adj" fmla="val 11992"/>
            </a:avLst>
          </a:prstGeom>
          <a:solidFill>
            <a:srgbClr val="0C0C0E"/>
          </a:solidFill>
          <a:ln w="12700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1188720" y="2540508"/>
            <a:ext cx="658368" cy="658368"/>
          </a:xfrm>
          <a:prstGeom prst="ellipse">
            <a:avLst/>
          </a:prstGeom>
          <a:solidFill>
            <a:srgbClr val="141418"/>
          </a:solidFill>
          <a:ln w="9525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188720" y="3336036"/>
            <a:ext cx="189120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spc="160">
                <a:solidFill>
                  <a:srgbClr val="0A84FF"/>
                </a:solidFill>
                <a:latin typeface="微软雅黑"/>
                <a:ea typeface="微软雅黑"/>
              </a:rPr>
              <a:t>创建者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592068"/>
            <a:ext cx="189120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F5F5F7"/>
                </a:solidFill>
                <a:latin typeface="微软雅黑"/>
                <a:ea typeface="微软雅黑"/>
              </a:rPr>
              <a:t>liuziqian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939540"/>
            <a:ext cx="189120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A1A1A6"/>
                </a:solidFill>
                <a:latin typeface="微软雅黑"/>
                <a:ea typeface="微软雅黑"/>
              </a:rPr>
              <a:t>项目创建 · 端侧与系统集成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6E6E73"/>
                </a:solidFill>
                <a:latin typeface="微软雅黑"/>
                <a:ea typeface="微软雅黑"/>
              </a:rPr>
              <a:t>stepx.com（依据仓库提交记录）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55415" y="2266188"/>
            <a:ext cx="2439847" cy="2103120"/>
          </a:xfrm>
          <a:prstGeom prst="roundRect">
            <a:avLst>
              <a:gd name="adj" fmla="val 11992"/>
            </a:avLst>
          </a:prstGeom>
          <a:solidFill>
            <a:srgbClr val="0C0C0E"/>
          </a:solidFill>
          <a:ln w="12700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3829735" y="2540508"/>
            <a:ext cx="658368" cy="658368"/>
          </a:xfrm>
          <a:prstGeom prst="ellipse">
            <a:avLst/>
          </a:prstGeom>
          <a:solidFill>
            <a:srgbClr val="141418"/>
          </a:solidFill>
          <a:ln w="9525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829735" y="3336036"/>
            <a:ext cx="189120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spc="160">
                <a:solidFill>
                  <a:srgbClr val="0A84FF"/>
                </a:solidFill>
                <a:latin typeface="微软雅黑"/>
                <a:ea typeface="微软雅黑"/>
              </a:rPr>
              <a:t>待填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29735" y="3592068"/>
            <a:ext cx="189120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F5F5F7"/>
                </a:solidFill>
                <a:latin typeface="微软雅黑"/>
                <a:ea typeface="微软雅黑"/>
              </a:rPr>
              <a:t>姓名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29735" y="3939540"/>
            <a:ext cx="189120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A1A1A6"/>
                </a:solidFill>
                <a:latin typeface="微软雅黑"/>
                <a:ea typeface="微软雅黑"/>
              </a:rPr>
              <a:t>角色 / 分工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6E6E73"/>
                </a:solidFill>
                <a:latin typeface="微软雅黑"/>
                <a:ea typeface="微软雅黑"/>
              </a:rPr>
              <a:t>算法 · 端侧模型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6431" y="2266188"/>
            <a:ext cx="2439847" cy="2103120"/>
          </a:xfrm>
          <a:prstGeom prst="roundRect">
            <a:avLst>
              <a:gd name="adj" fmla="val 11992"/>
            </a:avLst>
          </a:prstGeom>
          <a:solidFill>
            <a:srgbClr val="0C0C0E"/>
          </a:solidFill>
          <a:ln w="12700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6470751" y="2540508"/>
            <a:ext cx="658368" cy="658368"/>
          </a:xfrm>
          <a:prstGeom prst="ellipse">
            <a:avLst/>
          </a:prstGeom>
          <a:solidFill>
            <a:srgbClr val="141418"/>
          </a:solidFill>
          <a:ln w="9525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470751" y="3336036"/>
            <a:ext cx="189120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spc="160">
                <a:solidFill>
                  <a:srgbClr val="0A84FF"/>
                </a:solidFill>
                <a:latin typeface="微软雅黑"/>
                <a:ea typeface="微软雅黑"/>
              </a:rPr>
              <a:t>待填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0751" y="3592068"/>
            <a:ext cx="189120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F5F5F7"/>
                </a:solidFill>
                <a:latin typeface="微软雅黑"/>
                <a:ea typeface="微软雅黑"/>
              </a:rPr>
              <a:t>姓名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0751" y="3939540"/>
            <a:ext cx="189120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A1A1A6"/>
                </a:solidFill>
                <a:latin typeface="微软雅黑"/>
                <a:ea typeface="微软雅黑"/>
              </a:rPr>
              <a:t>角色 / 分工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6E6E73"/>
                </a:solidFill>
                <a:latin typeface="微软雅黑"/>
                <a:ea typeface="微软雅黑"/>
              </a:rPr>
              <a:t>Android · 交互设计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37447" y="2266188"/>
            <a:ext cx="2439847" cy="2103120"/>
          </a:xfrm>
          <a:prstGeom prst="roundRect">
            <a:avLst>
              <a:gd name="adj" fmla="val 11992"/>
            </a:avLst>
          </a:prstGeom>
          <a:solidFill>
            <a:srgbClr val="0C0C0E"/>
          </a:solidFill>
          <a:ln w="12700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111767" y="2540508"/>
            <a:ext cx="658368" cy="658368"/>
          </a:xfrm>
          <a:prstGeom prst="ellipse">
            <a:avLst/>
          </a:prstGeom>
          <a:solidFill>
            <a:srgbClr val="141418"/>
          </a:solidFill>
          <a:ln w="9525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11767" y="3336036"/>
            <a:ext cx="189120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spc="160">
                <a:solidFill>
                  <a:srgbClr val="0A84FF"/>
                </a:solidFill>
                <a:latin typeface="微软雅黑"/>
                <a:ea typeface="微软雅黑"/>
              </a:rPr>
              <a:t>待填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11767" y="3592068"/>
            <a:ext cx="189120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F5F5F7"/>
                </a:solidFill>
                <a:latin typeface="微软雅黑"/>
                <a:ea typeface="微软雅黑"/>
              </a:rPr>
              <a:t>姓名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11767" y="3939540"/>
            <a:ext cx="189120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A1A1A6"/>
                </a:solidFill>
                <a:latin typeface="微软雅黑"/>
                <a:ea typeface="微软雅黑"/>
              </a:rPr>
              <a:t>角色 / 分工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6E6E73"/>
                </a:solidFill>
                <a:latin typeface="微软雅黑"/>
                <a:ea typeface="微软雅黑"/>
              </a:rPr>
              <a:t>硬件 · BLE 协议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6291072"/>
            <a:ext cx="92656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6E6E73"/>
                </a:solidFill>
                <a:latin typeface="微软雅黑"/>
                <a:ea typeface="微软雅黑"/>
              </a:rPr>
              <a:t>核心能力覆盖：端侧 AI 推理 · Android 系统级开发 · BLE 协议逆向 · 大模型应用 · 交互设计。成员信息待补充。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49808"/>
            <a:ext cx="103628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 spc="260">
                <a:solidFill>
                  <a:srgbClr val="6E6E73"/>
                </a:solidFill>
                <a:latin typeface="微软雅黑"/>
                <a:ea typeface="微软雅黑"/>
              </a:rPr>
              <a:t>商 业 模 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33856"/>
            <a:ext cx="1036289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</a:pPr>
            <a:r>
              <a:rPr sz="4200" b="1">
                <a:solidFill>
                  <a:srgbClr val="F5F5F7"/>
                </a:solidFill>
                <a:latin typeface="微软雅黑"/>
                <a:ea typeface="微软雅黑"/>
              </a:rPr>
              <a:t>三种</a:t>
            </a:r>
            <a:r>
              <a:rPr sz="4200" b="1">
                <a:solidFill>
                  <a:srgbClr val="0A84FF"/>
                </a:solidFill>
                <a:latin typeface="微软雅黑"/>
                <a:ea typeface="微软雅黑"/>
              </a:rPr>
              <a:t>变现路径</a:t>
            </a:r>
            <a:r>
              <a:rPr sz="4200" b="1">
                <a:solidFill>
                  <a:srgbClr val="F5F5F7"/>
                </a:solidFill>
                <a:latin typeface="微软雅黑"/>
                <a:ea typeface="微软雅黑"/>
              </a:rPr>
              <a:t>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487168"/>
            <a:ext cx="3320186" cy="2286000"/>
          </a:xfrm>
          <a:prstGeom prst="roundRect">
            <a:avLst>
              <a:gd name="adj" fmla="val 8812"/>
            </a:avLst>
          </a:prstGeom>
          <a:solidFill>
            <a:srgbClr val="0C0C0E"/>
          </a:solidFill>
          <a:ln w="12700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52144" y="2724912"/>
            <a:ext cx="284469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spc="160">
                <a:solidFill>
                  <a:srgbClr val="0A84FF"/>
                </a:solidFill>
                <a:latin typeface="微软雅黑"/>
                <a:ea typeface="微软雅黑"/>
              </a:rPr>
              <a:t>路径 01 · 硬件绑定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" y="2999232"/>
            <a:ext cx="28446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025" b="1" i="0">
                <a:solidFill>
                  <a:srgbClr val="F5F5F7"/>
                </a:solidFill>
                <a:latin typeface="微软雅黑"/>
                <a:ea typeface="微软雅黑"/>
              </a:rPr>
              <a:t>预装合作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" y="3401568"/>
            <a:ext cx="2844698" cy="1207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387" b="0" i="0">
                <a:solidFill>
                  <a:srgbClr val="A1A1A6"/>
                </a:solidFill>
                <a:latin typeface="微软雅黑"/>
                <a:ea typeface="微软雅黑"/>
              </a:rPr>
              <a:t>与带屏智能眼镜 / 手机厂商合作预装，作为眼镜的「记忆」能力出厂即有。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5754" y="2487168"/>
            <a:ext cx="3320186" cy="2286000"/>
          </a:xfrm>
          <a:prstGeom prst="roundRect">
            <a:avLst>
              <a:gd name="adj" fmla="val 8812"/>
            </a:avLst>
          </a:prstGeom>
          <a:solidFill>
            <a:srgbClr val="0C0C0E"/>
          </a:solidFill>
          <a:ln w="12700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673498" y="2724912"/>
            <a:ext cx="284469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spc="160">
                <a:solidFill>
                  <a:srgbClr val="0A84FF"/>
                </a:solidFill>
                <a:latin typeface="微软雅黑"/>
                <a:ea typeface="微软雅黑"/>
              </a:rPr>
              <a:t>路径 02 · 订阅制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73498" y="2999232"/>
            <a:ext cx="28446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025" b="1" i="0">
                <a:solidFill>
                  <a:srgbClr val="F5F5F7"/>
                </a:solidFill>
                <a:latin typeface="微软雅黑"/>
                <a:ea typeface="微软雅黑"/>
              </a:rPr>
              <a:t>端侧免费 + 提炼订阅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3498" y="3401568"/>
            <a:ext cx="2844698" cy="1207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387" b="0" i="0">
                <a:solidFill>
                  <a:srgbClr val="A1A1A6"/>
                </a:solidFill>
                <a:latin typeface="微软雅黑"/>
                <a:ea typeface="微软雅黑"/>
              </a:rPr>
              <a:t>端侧识别免费，大模型提炼与长期记忆按月订阅；企业版支持更长留存。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7108" y="2487168"/>
            <a:ext cx="3320186" cy="2286000"/>
          </a:xfrm>
          <a:prstGeom prst="roundRect">
            <a:avLst>
              <a:gd name="adj" fmla="val 8812"/>
            </a:avLst>
          </a:prstGeom>
          <a:solidFill>
            <a:srgbClr val="0C0C0E"/>
          </a:solidFill>
          <a:ln w="12700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194852" y="2724912"/>
            <a:ext cx="284469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spc="160">
                <a:solidFill>
                  <a:srgbClr val="0A84FF"/>
                </a:solidFill>
                <a:latin typeface="微软雅黑"/>
                <a:ea typeface="微软雅黑"/>
              </a:rPr>
              <a:t>路径 03 · B 端集成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4852" y="2999232"/>
            <a:ext cx="28446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025" b="1" i="0">
                <a:solidFill>
                  <a:srgbClr val="F5F5F7"/>
                </a:solidFill>
                <a:latin typeface="微软雅黑"/>
                <a:ea typeface="微软雅黑"/>
              </a:rPr>
              <a:t>CRM / 随访打通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4852" y="3401568"/>
            <a:ext cx="2844698" cy="1207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387" b="0" i="0">
                <a:solidFill>
                  <a:srgbClr val="A1A1A6"/>
                </a:solidFill>
                <a:latin typeface="微软雅黑"/>
                <a:ea typeface="微软雅黑"/>
              </a:rPr>
              <a:t>面向销售团队与医疗机构，把对话里的承诺自动变成任务。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029200"/>
            <a:ext cx="10362895" cy="786384"/>
          </a:xfrm>
          <a:prstGeom prst="roundRect">
            <a:avLst>
              <a:gd name="adj" fmla="val 2823"/>
            </a:avLst>
          </a:prstGeom>
          <a:solidFill>
            <a:srgbClr val="0C0C0E"/>
          </a:solidFill>
          <a:ln w="12700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207008" y="517550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spc="160">
                <a:solidFill>
                  <a:srgbClr val="0A84FF"/>
                </a:solidFill>
                <a:latin typeface="微软雅黑"/>
                <a:ea typeface="微软雅黑"/>
              </a:rPr>
              <a:t>成本结构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5148072"/>
            <a:ext cx="84426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1A1A6"/>
                </a:solidFill>
                <a:latin typeface="微软雅黑"/>
                <a:ea typeface="微软雅黑"/>
              </a:rPr>
              <a:t>端侧模型零推理成本；云端仅文字请求、按 token 计费，单次提炼成本极低。主要成本在大模型调用与硬件合作。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6291072"/>
            <a:ext cx="92656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6E6E73"/>
                </a:solidFill>
                <a:latin typeface="微软雅黑"/>
                <a:ea typeface="微软雅黑"/>
              </a:rPr>
              <a:t>以上为方向性设想，可按比赛要求取舍。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49808"/>
            <a:ext cx="103628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 spc="260">
                <a:solidFill>
                  <a:srgbClr val="6E6E73"/>
                </a:solidFill>
                <a:latin typeface="微软雅黑"/>
                <a:ea typeface="微软雅黑"/>
              </a:rPr>
              <a:t>路 线 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33856"/>
            <a:ext cx="1036289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F5F5F7"/>
                </a:solidFill>
                <a:latin typeface="微软雅黑"/>
                <a:ea typeface="微软雅黑"/>
              </a:rPr>
              <a:t>接下来，要做的事。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129028"/>
            <a:ext cx="5062575" cy="1828800"/>
          </a:xfrm>
          <a:prstGeom prst="roundRect">
            <a:avLst>
              <a:gd name="adj" fmla="val 5779"/>
            </a:avLst>
          </a:prstGeom>
          <a:solidFill>
            <a:srgbClr val="0C0C0E"/>
          </a:solidFill>
          <a:ln w="12700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88720" y="2330196"/>
            <a:ext cx="45139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spc="160">
                <a:solidFill>
                  <a:srgbClr val="64D2FF"/>
                </a:solidFill>
                <a:latin typeface="微软雅黑"/>
                <a:ea typeface="微软雅黑"/>
              </a:rPr>
              <a:t>短期 · 0–6 个月</a:t>
            </a:r>
          </a:p>
        </p:txBody>
      </p:sp>
      <p:sp>
        <p:nvSpPr>
          <p:cNvPr id="6" name="Oval 5"/>
          <p:cNvSpPr/>
          <p:nvPr/>
        </p:nvSpPr>
        <p:spPr>
          <a:xfrm>
            <a:off x="1188720" y="2705099"/>
            <a:ext cx="237744" cy="237744"/>
          </a:xfrm>
          <a:prstGeom prst="ellipse">
            <a:avLst/>
          </a:prstGeom>
          <a:noFill/>
          <a:ln w="9525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6E73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7904" y="2677668"/>
            <a:ext cx="41847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5F5F7"/>
                </a:solidFill>
                <a:latin typeface="微软雅黑"/>
                <a:ea typeface="微软雅黑"/>
              </a:rPr>
              <a:t>眼镜交互：点按翻页 / 关闭 / 标记完成</a:t>
            </a:r>
          </a:p>
        </p:txBody>
      </p:sp>
      <p:sp>
        <p:nvSpPr>
          <p:cNvPr id="8" name="Oval 7"/>
          <p:cNvSpPr/>
          <p:nvPr/>
        </p:nvSpPr>
        <p:spPr>
          <a:xfrm>
            <a:off x="1188720" y="3125723"/>
            <a:ext cx="237744" cy="237744"/>
          </a:xfrm>
          <a:prstGeom prst="ellipse">
            <a:avLst/>
          </a:prstGeom>
          <a:noFill/>
          <a:ln w="9525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6E73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17904" y="3098292"/>
            <a:ext cx="41847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5F5F7"/>
                </a:solidFill>
                <a:latin typeface="微软雅黑"/>
                <a:ea typeface="微软雅黑"/>
              </a:rPr>
              <a:t>眼镜麦克风接入，摘下手机也能听</a:t>
            </a:r>
          </a:p>
        </p:txBody>
      </p:sp>
      <p:sp>
        <p:nvSpPr>
          <p:cNvPr id="10" name="Oval 9"/>
          <p:cNvSpPr/>
          <p:nvPr/>
        </p:nvSpPr>
        <p:spPr>
          <a:xfrm>
            <a:off x="1188720" y="3546347"/>
            <a:ext cx="237744" cy="237744"/>
          </a:xfrm>
          <a:prstGeom prst="ellipse">
            <a:avLst/>
          </a:prstGeom>
          <a:noFill/>
          <a:ln w="9525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6E73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7904" y="3518916"/>
            <a:ext cx="41847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5F5F7"/>
                </a:solidFill>
                <a:latin typeface="微软雅黑"/>
                <a:ea typeface="微软雅黑"/>
              </a:rPr>
              <a:t>对方知情提示与隐私合规机制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4719" y="2129028"/>
            <a:ext cx="5062575" cy="2249424"/>
          </a:xfrm>
          <a:prstGeom prst="roundRect">
            <a:avLst>
              <a:gd name="adj" fmla="val 5779"/>
            </a:avLst>
          </a:prstGeom>
          <a:solidFill>
            <a:srgbClr val="0C0C0E"/>
          </a:solidFill>
          <a:ln w="12700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89039" y="2330196"/>
            <a:ext cx="45139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spc="160">
                <a:solidFill>
                  <a:srgbClr val="64D2FF"/>
                </a:solidFill>
                <a:latin typeface="微软雅黑"/>
                <a:ea typeface="微软雅黑"/>
              </a:rPr>
              <a:t>中期 · 6–18 个月</a:t>
            </a:r>
          </a:p>
        </p:txBody>
      </p:sp>
      <p:sp>
        <p:nvSpPr>
          <p:cNvPr id="14" name="Oval 13"/>
          <p:cNvSpPr/>
          <p:nvPr/>
        </p:nvSpPr>
        <p:spPr>
          <a:xfrm>
            <a:off x="6489039" y="2705099"/>
            <a:ext cx="237744" cy="237744"/>
          </a:xfrm>
          <a:prstGeom prst="ellipse">
            <a:avLst/>
          </a:prstGeom>
          <a:noFill/>
          <a:ln w="9525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6E73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8223" y="2677668"/>
            <a:ext cx="41847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5F5F7"/>
                </a:solidFill>
                <a:latin typeface="微软雅黑"/>
                <a:ea typeface="微软雅黑"/>
              </a:rPr>
              <a:t>端侧小模型提炼，离线也能记</a:t>
            </a:r>
          </a:p>
        </p:txBody>
      </p:sp>
      <p:sp>
        <p:nvSpPr>
          <p:cNvPr id="16" name="Oval 15"/>
          <p:cNvSpPr/>
          <p:nvPr/>
        </p:nvSpPr>
        <p:spPr>
          <a:xfrm>
            <a:off x="6489039" y="3125723"/>
            <a:ext cx="237744" cy="237744"/>
          </a:xfrm>
          <a:prstGeom prst="ellipse">
            <a:avLst/>
          </a:prstGeom>
          <a:noFill/>
          <a:ln w="9525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6E73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8223" y="3098292"/>
            <a:ext cx="41847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5F5F7"/>
                </a:solidFill>
                <a:latin typeface="微软雅黑"/>
                <a:ea typeface="微软雅黑"/>
              </a:rPr>
              <a:t>多语种识别与提炼</a:t>
            </a:r>
          </a:p>
        </p:txBody>
      </p:sp>
      <p:sp>
        <p:nvSpPr>
          <p:cNvPr id="18" name="Oval 17"/>
          <p:cNvSpPr/>
          <p:nvPr/>
        </p:nvSpPr>
        <p:spPr>
          <a:xfrm>
            <a:off x="6489039" y="3546347"/>
            <a:ext cx="237744" cy="237744"/>
          </a:xfrm>
          <a:prstGeom prst="ellipse">
            <a:avLst/>
          </a:prstGeom>
          <a:noFill/>
          <a:ln w="9525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6E73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8223" y="3518916"/>
            <a:ext cx="41847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5F5F7"/>
                </a:solidFill>
                <a:latin typeface="微软雅黑"/>
                <a:ea typeface="微软雅黑"/>
              </a:rPr>
              <a:t>日历 / CRM 同步与分享</a:t>
            </a:r>
          </a:p>
        </p:txBody>
      </p:sp>
      <p:sp>
        <p:nvSpPr>
          <p:cNvPr id="20" name="Oval 19"/>
          <p:cNvSpPr/>
          <p:nvPr/>
        </p:nvSpPr>
        <p:spPr>
          <a:xfrm>
            <a:off x="6489039" y="3966972"/>
            <a:ext cx="237744" cy="237744"/>
          </a:xfrm>
          <a:prstGeom prst="ellipse">
            <a:avLst/>
          </a:prstGeom>
          <a:noFill/>
          <a:ln w="9525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6E73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8223" y="3939540"/>
            <a:ext cx="41847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5F5F7"/>
                </a:solidFill>
                <a:latin typeface="微软雅黑"/>
                <a:ea typeface="微软雅黑"/>
              </a:rPr>
              <a:t>多设备同步与备份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4864608"/>
            <a:ext cx="3320186" cy="960120"/>
          </a:xfrm>
          <a:prstGeom prst="roundRect">
            <a:avLst>
              <a:gd name="adj" fmla="val 8812"/>
            </a:avLst>
          </a:prstGeom>
          <a:solidFill>
            <a:srgbClr val="0C0C0E"/>
          </a:solidFill>
          <a:ln w="12700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152144" y="5102352"/>
            <a:ext cx="284469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spc="160">
                <a:solidFill>
                  <a:srgbClr val="FF9F0A"/>
                </a:solidFill>
                <a:latin typeface="微软雅黑"/>
                <a:ea typeface="微软雅黑"/>
              </a:rPr>
              <a:t>风险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2144" y="5449824"/>
            <a:ext cx="284469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 i="0">
                <a:solidFill>
                  <a:srgbClr val="A1A1A6"/>
                </a:solidFill>
                <a:latin typeface="微软雅黑"/>
                <a:ea typeface="微软雅黑"/>
              </a:rPr>
              <a:t>G2 协议为社区逆向，固件升级可能失效 → 跟进社区、争取官方 SDK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35754" y="4864608"/>
            <a:ext cx="3320186" cy="960120"/>
          </a:xfrm>
          <a:prstGeom prst="roundRect">
            <a:avLst>
              <a:gd name="adj" fmla="val 8812"/>
            </a:avLst>
          </a:prstGeom>
          <a:solidFill>
            <a:srgbClr val="0C0C0E"/>
          </a:solidFill>
          <a:ln w="12700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4673498" y="5102352"/>
            <a:ext cx="284469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spc="160">
                <a:solidFill>
                  <a:srgbClr val="FF9F0A"/>
                </a:solidFill>
                <a:latin typeface="微软雅黑"/>
                <a:ea typeface="微软雅黑"/>
              </a:rPr>
              <a:t>风险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73498" y="5449824"/>
            <a:ext cx="284469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 i="0">
                <a:solidFill>
                  <a:srgbClr val="A1A1A6"/>
                </a:solidFill>
                <a:latin typeface="微软雅黑"/>
                <a:ea typeface="微软雅黑"/>
              </a:rPr>
              <a:t>嘈杂环境影响识别与声纹 → VAD 门槛 + 多条额外声纹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57108" y="4864608"/>
            <a:ext cx="3320186" cy="960120"/>
          </a:xfrm>
          <a:prstGeom prst="roundRect">
            <a:avLst>
              <a:gd name="adj" fmla="val 8812"/>
            </a:avLst>
          </a:prstGeom>
          <a:solidFill>
            <a:srgbClr val="0C0C0E"/>
          </a:solidFill>
          <a:ln w="12700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194852" y="5102352"/>
            <a:ext cx="284469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spc="160">
                <a:solidFill>
                  <a:srgbClr val="FF9F0A"/>
                </a:solidFill>
                <a:latin typeface="微软雅黑"/>
                <a:ea typeface="微软雅黑"/>
              </a:rPr>
              <a:t>风险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94852" y="5449824"/>
            <a:ext cx="284469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 i="0">
                <a:solidFill>
                  <a:srgbClr val="A1A1A6"/>
                </a:solidFill>
                <a:latin typeface="微软雅黑"/>
                <a:ea typeface="微软雅黑"/>
              </a:rPr>
              <a:t>提炼依赖网络 → 本地队列 + 指数退避，路线图补端侧小模型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737360"/>
            <a:ext cx="103628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 spc="600">
                <a:solidFill>
                  <a:srgbClr val="6E6E73"/>
                </a:solidFill>
                <a:latin typeface="微软雅黑"/>
                <a:ea typeface="微软雅黑"/>
              </a:rPr>
              <a:t>W H I S P E 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606040"/>
            <a:ext cx="10362895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F5F5F7"/>
                </a:solidFill>
                <a:latin typeface="微软雅黑"/>
                <a:ea typeface="微软雅黑"/>
              </a:rPr>
              <a:t>让每一次相遇，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0A84FF"/>
                </a:solidFill>
                <a:latin typeface="微软雅黑"/>
                <a:ea typeface="微软雅黑"/>
              </a:rPr>
              <a:t>都有记忆。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75607" y="4892040"/>
            <a:ext cx="3840480" cy="65836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000000"/>
                </a:solidFill>
                <a:latin typeface="微软雅黑"/>
                <a:ea typeface="微软雅黑"/>
              </a:rPr>
              <a:t>谢谢 · 欢迎提问与上手体验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